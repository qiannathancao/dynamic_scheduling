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7743825" y="285750"/>
            <a:ext cx="971550" cy="260747"/>
          </a:xfrm>
          <a:prstGeom prst="rect">
            <a:avLst/>
          </a:prstGeom>
          <a:solidFill>
            <a:srgbClr val="000000">
              <a:alpha val="0"/>
            </a:srgbClr>
          </a:solidFill>
          <a:ln w="9144">
            <a:solidFill>
              <a:srgbClr val="94A3B8">
                <a:alpha val="70000"/>
              </a:srgbClr>
            </a:solidFill>
            <a:prstDash val="solid"/>
          </a:ln>
        </p:spPr>
      </p:sp>
      <p:sp>
        <p:nvSpPr>
          <p:cNvPr id="4" name="Text 1"/>
          <p:cNvSpPr/>
          <p:nvPr/>
        </p:nvSpPr>
        <p:spPr>
          <a:xfrm>
            <a:off x="7743825" y="285750"/>
            <a:ext cx="971550" cy="260747"/>
          </a:xfrm>
          <a:prstGeom prst="rect">
            <a:avLst/>
          </a:prstGeom>
          <a:noFill/>
          <a:ln/>
        </p:spPr>
        <p:txBody>
          <a:bodyPr wrap="square" lIns="136017" tIns="68072" rIns="136017" bIns="68072" rtlCol="0" anchor="t">
            <a:spAutoFit/>
          </a:bodyPr>
          <a:lstStyle/>
          <a:p>
            <a:pPr algn="l" indent="0" marL="0">
              <a:lnSpc>
                <a:spcPts val="900"/>
              </a:lnSpc>
              <a:buNone/>
            </a:pPr>
            <a:r>
              <a:rPr lang="en-US" sz="727" dirty="0">
                <a:solidFill>
                  <a:srgbClr val="94A3B8">
                    <a:alpha val="70000"/>
                  </a:srgbClr>
                </a:solidFill>
                <a:latin typeface="Roboto Mono" pitchFamily="34" charset="0"/>
                <a:ea typeface="Roboto Mono" pitchFamily="34" charset="-122"/>
                <a:cs typeface="Roboto Mono" pitchFamily="34" charset="-120"/>
              </a:rPr>
              <a:t>COMPANY LOGO</a:t>
            </a:r>
            <a:endParaRPr lang="en-US" sz="727" dirty="0"/>
          </a:p>
        </p:txBody>
      </p:sp>
      <p:sp>
        <p:nvSpPr>
          <p:cNvPr id="5" name="Text 2"/>
          <p:cNvSpPr/>
          <p:nvPr/>
        </p:nvSpPr>
        <p:spPr>
          <a:xfrm>
            <a:off x="1759148" y="1508782"/>
            <a:ext cx="5625703" cy="1097235"/>
          </a:xfrm>
          <a:prstGeom prst="rect">
            <a:avLst/>
          </a:prstGeom>
          <a:noFill/>
          <a:ln/>
        </p:spPr>
        <p:txBody>
          <a:bodyPr wrap="square" lIns="0" tIns="0" rIns="0" bIns="0" rtlCol="0" anchor="t">
            <a:spAutoFit/>
          </a:bodyPr>
          <a:lstStyle/>
          <a:p>
            <a:pPr algn="ctr" indent="0" marL="0">
              <a:lnSpc>
                <a:spcPts val="4300"/>
              </a:lnSpc>
              <a:buNone/>
            </a:pPr>
            <a:r>
              <a:rPr lang="en-US" sz="3294" b="1" spc="-1" kern="0" dirty="0">
                <a:solidFill>
                  <a:srgbClr val="F8FAFC"/>
                </a:solidFill>
                <a:latin typeface="Roboto Mono" pitchFamily="34" charset="0"/>
                <a:ea typeface="Roboto Mono" pitchFamily="34" charset="-122"/>
                <a:cs typeface="Roboto Mono" pitchFamily="34" charset="-120"/>
              </a:rPr>
              <a:t>AI-Powered</a:t>
            </a:r>
            <a:pPr algn="ctr" indent="0" marL="0">
              <a:lnSpc>
                <a:spcPts val="4300"/>
              </a:lnSpc>
              <a:buNone/>
            </a:pPr>
            <a:r>
              <a:rPr lang="en-US" sz="3294" b="1" spc="-1" kern="0" dirty="0">
                <a:solidFill>
                  <a:srgbClr val="F8FAFC"/>
                </a:solidFill>
                <a:latin typeface="Roboto Mono" pitchFamily="34" charset="0"/>
                <a:ea typeface="Roboto Mono" pitchFamily="34" charset="-122"/>
                <a:cs typeface="Roboto Mono" pitchFamily="34" charset="-120"/>
              </a:rPr>
              <a:t>
</a:t>
            </a:r>
            <a:pPr algn="ctr" indent="0" marL="0">
              <a:lnSpc>
                <a:spcPts val="4300"/>
              </a:lnSpc>
              <a:buNone/>
            </a:pPr>
            <a:r>
              <a:rPr lang="en-US" sz="3294" b="1" spc="-1" kern="0" dirty="0">
                <a:solidFill>
                  <a:srgbClr val="F8FAFC"/>
                </a:solidFill>
                <a:latin typeface="Roboto Mono" pitchFamily="34" charset="0"/>
                <a:ea typeface="Roboto Mono" pitchFamily="34" charset="-122"/>
                <a:cs typeface="Roboto Mono" pitchFamily="34" charset="-120"/>
              </a:rPr>
              <a:t>Production Scheduling</a:t>
            </a:r>
            <a:endParaRPr lang="en-US" sz="3294" dirty="0"/>
          </a:p>
        </p:txBody>
      </p:sp>
      <p:sp>
        <p:nvSpPr>
          <p:cNvPr id="6" name="Text 3"/>
          <p:cNvSpPr/>
          <p:nvPr/>
        </p:nvSpPr>
        <p:spPr>
          <a:xfrm>
            <a:off x="1759148" y="3034643"/>
            <a:ext cx="5625703" cy="600075"/>
          </a:xfrm>
          <a:prstGeom prst="rect">
            <a:avLst/>
          </a:prstGeom>
          <a:noFill/>
          <a:ln/>
        </p:spPr>
        <p:txBody>
          <a:bodyPr wrap="square" lIns="0" tIns="0" rIns="0" bIns="0" rtlCol="0" anchor="t">
            <a:spAutoFit/>
          </a:bodyPr>
          <a:lstStyle/>
          <a:p>
            <a:pPr algn="ctr" indent="0" marL="0">
              <a:lnSpc>
                <a:spcPts val="2400"/>
              </a:lnSpc>
              <a:buNone/>
            </a:pPr>
            <a:r>
              <a:rPr lang="en-US" sz="1486" dirty="0">
                <a:solidFill>
                  <a:srgbClr val="94A3B8"/>
                </a:solidFill>
                <a:latin typeface="Roboto" pitchFamily="34" charset="0"/>
                <a:ea typeface="Roboto" pitchFamily="34" charset="-122"/>
                <a:cs typeface="Roboto" pitchFamily="34" charset="-120"/>
              </a:rPr>
              <a:t>From Manual Spreadsheets to Mathematically Optimal Plans</a:t>
            </a:r>
            <a:pPr algn="ctr" indent="0" marL="0">
              <a:lnSpc>
                <a:spcPts val="2400"/>
              </a:lnSpc>
              <a:buNone/>
            </a:pPr>
            <a:r>
              <a:rPr lang="en-US" sz="1486" dirty="0">
                <a:solidFill>
                  <a:srgbClr val="94A3B8"/>
                </a:solidFill>
                <a:latin typeface="Roboto" pitchFamily="34" charset="0"/>
                <a:ea typeface="Roboto" pitchFamily="34" charset="-122"/>
                <a:cs typeface="Roboto" pitchFamily="34" charset="-120"/>
              </a:rPr>
              <a:t>
</a:t>
            </a:r>
            <a:pPr algn="ctr" indent="0" marL="0">
              <a:lnSpc>
                <a:spcPts val="2400"/>
              </a:lnSpc>
              <a:buNone/>
            </a:pPr>
            <a:r>
              <a:rPr lang="en-US" sz="1486" dirty="0">
                <a:solidFill>
                  <a:srgbClr val="94A3B8"/>
                </a:solidFill>
                <a:latin typeface="Roboto" pitchFamily="34" charset="0"/>
                <a:ea typeface="Roboto" pitchFamily="34" charset="-122"/>
                <a:cs typeface="Roboto" pitchFamily="34" charset="-120"/>
              </a:rPr>
              <a:t>A Proof of Concept</a:t>
            </a:r>
            <a:endParaRPr lang="en-US" sz="1486" dirty="0"/>
          </a:p>
        </p:txBody>
      </p:sp>
      <p:sp>
        <p:nvSpPr>
          <p:cNvPr id="7" name="Shape 4"/>
          <p:cNvSpPr/>
          <p:nvPr/>
        </p:nvSpPr>
        <p:spPr>
          <a:xfrm>
            <a:off x="428625" y="4595217"/>
            <a:ext cx="8286750" cy="262533"/>
          </a:xfrm>
          <a:prstGeom prst="rect">
            <a:avLst/>
          </a:prstGeom>
          <a:solidFill>
            <a:srgbClr val="000000">
              <a:alpha val="0"/>
            </a:srgbClr>
          </a:solidFill>
          <a:ln/>
        </p:spPr>
      </p:sp>
      <p:sp>
        <p:nvSpPr>
          <p:cNvPr id="8" name="Shape 5"/>
          <p:cNvSpPr/>
          <p:nvPr/>
        </p:nvSpPr>
        <p:spPr>
          <a:xfrm>
            <a:off x="428625" y="4595217"/>
            <a:ext cx="8286750" cy="7144"/>
          </a:xfrm>
          <a:prstGeom prst="rect">
            <a:avLst/>
          </a:prstGeom>
          <a:solidFill>
            <a:srgbClr val="EAEDF1"/>
          </a:solidFill>
          <a:ln/>
        </p:spPr>
      </p:sp>
      <p:sp>
        <p:nvSpPr>
          <p:cNvPr id="9" name="Text 6"/>
          <p:cNvSpPr/>
          <p:nvPr/>
        </p:nvSpPr>
        <p:spPr>
          <a:xfrm>
            <a:off x="428625" y="4745236"/>
            <a:ext cx="707231" cy="112514"/>
          </a:xfrm>
          <a:prstGeom prst="rect">
            <a:avLst/>
          </a:prstGeom>
          <a:noFill/>
          <a:ln/>
        </p:spPr>
        <p:txBody>
          <a:bodyPr wrap="none" lIns="0" tIns="0" rIns="0" bIns="0" rtlCol="0" anchor="t">
            <a:spAutoFit/>
          </a:bodyPr>
          <a:lstStyle/>
          <a:p>
            <a:pPr algn="l" indent="0" marL="0">
              <a:lnSpc>
                <a:spcPts val="800"/>
              </a:lnSpc>
              <a:buNone/>
            </a:pPr>
            <a:r>
              <a:rPr lang="en-US" sz="621" spc="1" kern="0" dirty="0">
                <a:solidFill>
                  <a:srgbClr val="94A3B8"/>
                </a:solidFill>
                <a:latin typeface="Roboto Mono" pitchFamily="34" charset="0"/>
                <a:ea typeface="Roboto Mono" pitchFamily="34" charset="-122"/>
                <a:cs typeface="Roboto Mono" pitchFamily="34" charset="-120"/>
              </a:rPr>
              <a:t>CONFIDENTIAL</a:t>
            </a:r>
            <a:endParaRPr lang="en-US" sz="621" dirty="0"/>
          </a:p>
        </p:txBody>
      </p:sp>
      <p:sp>
        <p:nvSpPr>
          <p:cNvPr id="10" name="Text 7"/>
          <p:cNvSpPr/>
          <p:nvPr/>
        </p:nvSpPr>
        <p:spPr>
          <a:xfrm>
            <a:off x="4424660" y="4745236"/>
            <a:ext cx="766167" cy="112514"/>
          </a:xfrm>
          <a:prstGeom prst="rect">
            <a:avLst/>
          </a:prstGeom>
          <a:noFill/>
          <a:ln/>
        </p:spPr>
        <p:txBody>
          <a:bodyPr wrap="none" lIns="0" tIns="0" rIns="0" bIns="0" rtlCol="0" anchor="t">
            <a:spAutoFit/>
          </a:bodyPr>
          <a:lstStyle/>
          <a:p>
            <a:pPr algn="l" indent="0" marL="0">
              <a:lnSpc>
                <a:spcPts val="800"/>
              </a:lnSpc>
              <a:buNone/>
            </a:pPr>
            <a:r>
              <a:rPr lang="en-US" sz="621" spc="1" kern="0" dirty="0">
                <a:solidFill>
                  <a:srgbClr val="94A3B8"/>
                </a:solidFill>
                <a:latin typeface="Roboto Mono" pitchFamily="34" charset="0"/>
                <a:ea typeface="Roboto Mono" pitchFamily="34" charset="-122"/>
                <a:cs typeface="Roboto Mono" pitchFamily="34" charset="-120"/>
              </a:rPr>
              <a:t>INTERNAL DEMO</a:t>
            </a:r>
            <a:endParaRPr lang="en-US" sz="621" dirty="0"/>
          </a:p>
        </p:txBody>
      </p:sp>
      <p:sp>
        <p:nvSpPr>
          <p:cNvPr id="11" name="Text 8"/>
          <p:cNvSpPr/>
          <p:nvPr/>
        </p:nvSpPr>
        <p:spPr>
          <a:xfrm>
            <a:off x="8479631" y="4745236"/>
            <a:ext cx="235744" cy="112514"/>
          </a:xfrm>
          <a:prstGeom prst="rect">
            <a:avLst/>
          </a:prstGeom>
          <a:noFill/>
          <a:ln/>
        </p:spPr>
        <p:txBody>
          <a:bodyPr wrap="none" lIns="0" tIns="0" rIns="0" bIns="0" rtlCol="0" anchor="t">
            <a:spAutoFit/>
          </a:bodyPr>
          <a:lstStyle/>
          <a:p>
            <a:pPr algn="l" indent="0" marL="0">
              <a:lnSpc>
                <a:spcPts val="800"/>
              </a:lnSpc>
              <a:buNone/>
            </a:pPr>
            <a:r>
              <a:rPr lang="en-US" sz="621" spc="1" kern="0" dirty="0">
                <a:solidFill>
                  <a:srgbClr val="94A3B8"/>
                </a:solidFill>
                <a:latin typeface="Roboto Mono" pitchFamily="34" charset="0"/>
                <a:ea typeface="Roboto Mono" pitchFamily="34" charset="-122"/>
                <a:cs typeface="Roboto Mono" pitchFamily="34" charset="-120"/>
              </a:rPr>
              <a:t>2026</a:t>
            </a:r>
            <a:endParaRPr lang="en-US" sz="62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28625" y="428625"/>
            <a:ext cx="8286750" cy="489347"/>
          </a:xfrm>
          <a:prstGeom prst="rect">
            <a:avLst/>
          </a:prstGeom>
          <a:solidFill>
            <a:srgbClr val="000000">
              <a:alpha val="0"/>
            </a:srgbClr>
          </a:solidFill>
          <a:ln/>
        </p:spPr>
      </p:sp>
      <p:sp>
        <p:nvSpPr>
          <p:cNvPr id="4" name="Shape 1"/>
          <p:cNvSpPr/>
          <p:nvPr/>
        </p:nvSpPr>
        <p:spPr>
          <a:xfrm>
            <a:off x="428625" y="910828"/>
            <a:ext cx="8286750" cy="7144"/>
          </a:xfrm>
          <a:prstGeom prst="rect">
            <a:avLst/>
          </a:prstGeom>
          <a:solidFill>
            <a:srgbClr val="334155"/>
          </a:solidFill>
          <a:ln/>
        </p:spPr>
      </p:sp>
      <p:sp>
        <p:nvSpPr>
          <p:cNvPr id="5" name="Text 2"/>
          <p:cNvSpPr/>
          <p:nvPr/>
        </p:nvSpPr>
        <p:spPr>
          <a:xfrm>
            <a:off x="428625" y="428625"/>
            <a:ext cx="8286750" cy="339328"/>
          </a:xfrm>
          <a:prstGeom prst="rect">
            <a:avLst/>
          </a:prstGeom>
          <a:noFill/>
          <a:ln/>
        </p:spPr>
        <p:txBody>
          <a:bodyPr wrap="none" lIns="0" tIns="0" rIns="0" bIns="0" rtlCol="0" anchor="t">
            <a:spAutoFit/>
          </a:bodyPr>
          <a:lstStyle/>
          <a:p>
            <a:pPr algn="l" indent="0" marL="0">
              <a:lnSpc>
                <a:spcPts val="2400"/>
              </a:lnSpc>
              <a:buNone/>
            </a:pPr>
            <a:r>
              <a:rPr lang="en-US" sz="1808" b="1" dirty="0">
                <a:solidFill>
                  <a:srgbClr val="F8FAFC"/>
                </a:solidFill>
                <a:latin typeface="Roboto Mono" pitchFamily="34" charset="0"/>
                <a:ea typeface="Roboto Mono" pitchFamily="34" charset="-122"/>
                <a:cs typeface="Roboto Mono" pitchFamily="34" charset="-120"/>
              </a:rPr>
              <a:t>The Problem We Are Solving</a:t>
            </a:r>
            <a:endParaRPr lang="en-US" sz="1808" dirty="0"/>
          </a:p>
        </p:txBody>
      </p:sp>
      <p:sp>
        <p:nvSpPr>
          <p:cNvPr id="6" name="Text 3"/>
          <p:cNvSpPr/>
          <p:nvPr/>
        </p:nvSpPr>
        <p:spPr>
          <a:xfrm>
            <a:off x="428625" y="1950997"/>
            <a:ext cx="3929063" cy="1920162"/>
          </a:xfrm>
          <a:prstGeom prst="rect">
            <a:avLst/>
          </a:prstGeom>
          <a:noFill/>
          <a:ln/>
        </p:spPr>
        <p:txBody>
          <a:bodyPr wrap="square" lIns="204089" tIns="0" rIns="0" bIns="0" rtlCol="0" anchor="t">
            <a:spAutoFit/>
          </a:bodyPr>
          <a:lstStyle/>
          <a:p>
            <a:pPr algn="l" indent="0" marL="0">
              <a:lnSpc>
                <a:spcPts val="2200"/>
              </a:lnSpc>
              <a:buNone/>
            </a:pPr>
            <a:r>
              <a:rPr lang="en-US" sz="1269" dirty="0">
                <a:solidFill>
                  <a:srgbClr val="94A3B8"/>
                </a:solidFill>
                <a:latin typeface="Roboto" pitchFamily="34" charset="0"/>
                <a:ea typeface="Roboto" pitchFamily="34" charset="-122"/>
                <a:cs typeface="Roboto" pitchFamily="34" charset="-120"/>
              </a:rPr>
              <a:t>Every week, production planners spend hours </a:t>
            </a:r>
            <a:pPr algn="l" indent="0" marL="0">
              <a:lnSpc>
                <a:spcPts val="2200"/>
              </a:lnSpc>
              <a:buNone/>
            </a:pPr>
            <a:r>
              <a:rPr lang="en-US" sz="1269" dirty="0">
                <a:solidFill>
                  <a:srgbClr val="94A3B8"/>
                </a:solidFill>
                <a:latin typeface="Roboto" pitchFamily="34" charset="0"/>
                <a:ea typeface="Roboto" pitchFamily="34" charset="-122"/>
                <a:cs typeface="Roboto" pitchFamily="34" charset="-120"/>
              </a:rPr>
              <a:t>manually distributing orders across models, </a:t>
            </a:r>
            <a:pPr algn="l" indent="0" marL="0">
              <a:lnSpc>
                <a:spcPts val="2200"/>
              </a:lnSpc>
              <a:buNone/>
            </a:pPr>
            <a:r>
              <a:rPr lang="en-US" sz="1269" dirty="0">
                <a:solidFill>
                  <a:srgbClr val="94A3B8"/>
                </a:solidFill>
                <a:latin typeface="Roboto" pitchFamily="34" charset="0"/>
                <a:ea typeface="Roboto" pitchFamily="34" charset="-122"/>
                <a:cs typeface="Roboto" pitchFamily="34" charset="-120"/>
              </a:rPr>
              <a:t>lines, and days — relying on experience and </a:t>
            </a:r>
            <a:pPr algn="l" indent="0" marL="0">
              <a:lnSpc>
                <a:spcPts val="2200"/>
              </a:lnSpc>
              <a:buNone/>
            </a:pPr>
            <a:r>
              <a:rPr lang="en-US" sz="1269" dirty="0">
                <a:solidFill>
                  <a:srgbClr val="94A3B8"/>
                </a:solidFill>
                <a:latin typeface="Roboto" pitchFamily="34" charset="0"/>
                <a:ea typeface="Roboto" pitchFamily="34" charset="-122"/>
                <a:cs typeface="Roboto" pitchFamily="34" charset="-120"/>
              </a:rPr>
              <a:t>intuition rather than data. </a:t>
            </a:r>
            <a:pPr algn="l" indent="0" marL="0">
              <a:lnSpc>
                <a:spcPts val="2200"/>
              </a:lnSpc>
              <a:buNone/>
            </a:pPr>
            <a:r>
              <a:rPr lang="en-US" sz="1269" dirty="0">
                <a:solidFill>
                  <a:srgbClr val="94A3B8"/>
                </a:solidFill>
                <a:latin typeface="Roboto" pitchFamily="34" charset="0"/>
                <a:ea typeface="Roboto" pitchFamily="34" charset="-122"/>
                <a:cs typeface="Roboto" pitchFamily="34" charset="-120"/>
              </a:rPr>
              <a:t>
</a:t>
            </a:r>
            <a:pPr algn="l" indent="0" marL="0">
              <a:lnSpc>
                <a:spcPts val="2200"/>
              </a:lnSpc>
              <a:buNone/>
            </a:pPr>
            <a:r>
              <a:rPr lang="en-US" sz="1269" dirty="0">
                <a:solidFill>
                  <a:srgbClr val="94A3B8"/>
                </a:solidFill>
                <a:latin typeface="Roboto" pitchFamily="34" charset="0"/>
                <a:ea typeface="Roboto" pitchFamily="34" charset="-122"/>
                <a:cs typeface="Roboto" pitchFamily="34" charset="-120"/>
              </a:rPr>
              <a:t>
</a:t>
            </a:r>
            <a:pPr algn="l" indent="0" marL="0">
              <a:lnSpc>
                <a:spcPts val="2200"/>
              </a:lnSpc>
              <a:buNone/>
            </a:pPr>
            <a:r>
              <a:rPr lang="en-US" sz="1269" dirty="0">
                <a:solidFill>
                  <a:srgbClr val="94A3B8"/>
                </a:solidFill>
                <a:latin typeface="Roboto" pitchFamily="34" charset="0"/>
                <a:ea typeface="Roboto" pitchFamily="34" charset="-122"/>
                <a:cs typeface="Roboto" pitchFamily="34" charset="-120"/>
              </a:rPr>
              <a:t> The result is a schedule that is </a:t>
            </a:r>
            <a:pPr algn="l" indent="0" marL="0">
              <a:lnSpc>
                <a:spcPts val="2200"/>
              </a:lnSpc>
              <a:buNone/>
            </a:pPr>
            <a:r>
              <a:rPr lang="en-US" sz="1193" b="1" dirty="0">
                <a:solidFill>
                  <a:srgbClr val="F8FAFC"/>
                </a:solidFill>
                <a:latin typeface="Roboto" pitchFamily="34" charset="0"/>
                <a:ea typeface="Roboto" pitchFamily="34" charset="-122"/>
                <a:cs typeface="Roboto" pitchFamily="34" charset="-120"/>
              </a:rPr>
              <a:t>good enough, but never optimal.</a:t>
            </a:r>
            <a:pPr algn="l" indent="0" marL="0">
              <a:lnSpc>
                <a:spcPts val="2200"/>
              </a:lnSpc>
              <a:buNone/>
            </a:pPr>
            <a:endParaRPr lang="en-US" sz="1269" dirty="0"/>
          </a:p>
        </p:txBody>
      </p:sp>
      <p:sp>
        <p:nvSpPr>
          <p:cNvPr id="7" name="Shape 4"/>
          <p:cNvSpPr/>
          <p:nvPr/>
        </p:nvSpPr>
        <p:spPr>
          <a:xfrm>
            <a:off x="4786313" y="1383599"/>
            <a:ext cx="3929063" cy="904019"/>
          </a:xfrm>
          <a:prstGeom prst="rect">
            <a:avLst/>
          </a:prstGeom>
          <a:solidFill>
            <a:srgbClr val="1E293B">
              <a:alpha val="80000"/>
            </a:srgbClr>
          </a:solidFill>
          <a:ln w="9144">
            <a:solidFill>
              <a:srgbClr val="334155"/>
            </a:solidFill>
            <a:prstDash val="solid"/>
          </a:ln>
        </p:spPr>
      </p:sp>
      <p:sp>
        <p:nvSpPr>
          <p:cNvPr id="8" name="Shape 5"/>
          <p:cNvSpPr/>
          <p:nvPr/>
        </p:nvSpPr>
        <p:spPr>
          <a:xfrm>
            <a:off x="4957763" y="1562193"/>
            <a:ext cx="342900" cy="342900"/>
          </a:xfrm>
          <a:prstGeom prst="rect">
            <a:avLst/>
          </a:prstGeom>
          <a:solidFill>
            <a:srgbClr val="EF4444">
              <a:alpha val="10000"/>
            </a:srgbClr>
          </a:solidFill>
          <a:ln/>
        </p:spPr>
      </p:sp>
      <p:pic>
        <p:nvPicPr>
          <p:cNvPr id="9" name="Image 1" descr="preencoded.png">    </p:cNvPr>
          <p:cNvPicPr>
            <a:picLocks noChangeAspect="1"/>
          </p:cNvPicPr>
          <p:nvPr/>
        </p:nvPicPr>
        <p:blipFill>
          <a:blip r:embed="rId2"/>
          <a:stretch>
            <a:fillRect/>
          </a:stretch>
        </p:blipFill>
        <p:spPr>
          <a:xfrm>
            <a:off x="5057775" y="1662206"/>
            <a:ext cx="142875" cy="142875"/>
          </a:xfrm>
          <a:prstGeom prst="rect">
            <a:avLst/>
          </a:prstGeom>
        </p:spPr>
      </p:pic>
      <p:sp>
        <p:nvSpPr>
          <p:cNvPr id="10" name="Text 6"/>
          <p:cNvSpPr/>
          <p:nvPr/>
        </p:nvSpPr>
        <p:spPr>
          <a:xfrm>
            <a:off x="5443538" y="1562193"/>
            <a:ext cx="3100388"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Hours of Manual Effort</a:t>
            </a:r>
            <a:endParaRPr lang="en-US" sz="885" dirty="0"/>
          </a:p>
        </p:txBody>
      </p:sp>
      <p:sp>
        <p:nvSpPr>
          <p:cNvPr id="11" name="Text 7"/>
          <p:cNvSpPr/>
          <p:nvPr/>
        </p:nvSpPr>
        <p:spPr>
          <a:xfrm>
            <a:off x="5443538" y="1789007"/>
            <a:ext cx="3100388"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94A3B8"/>
                </a:solidFill>
                <a:latin typeface="Roboto" pitchFamily="34" charset="0"/>
                <a:ea typeface="Roboto" pitchFamily="34" charset="-122"/>
                <a:cs typeface="Roboto" pitchFamily="34" charset="-120"/>
              </a:rPr>
              <a:t>A single weekly schedule takes 2–4 hours to build and validate by hand.</a:t>
            </a:r>
            <a:endParaRPr lang="en-US" sz="834" dirty="0"/>
          </a:p>
        </p:txBody>
      </p:sp>
      <p:sp>
        <p:nvSpPr>
          <p:cNvPr id="12" name="Shape 8"/>
          <p:cNvSpPr/>
          <p:nvPr/>
        </p:nvSpPr>
        <p:spPr>
          <a:xfrm>
            <a:off x="4786313" y="2451925"/>
            <a:ext cx="3929063" cy="904019"/>
          </a:xfrm>
          <a:prstGeom prst="rect">
            <a:avLst/>
          </a:prstGeom>
          <a:solidFill>
            <a:srgbClr val="1E293B">
              <a:alpha val="80000"/>
            </a:srgbClr>
          </a:solidFill>
          <a:ln w="9144">
            <a:solidFill>
              <a:srgbClr val="334155"/>
            </a:solidFill>
            <a:prstDash val="solid"/>
          </a:ln>
        </p:spPr>
      </p:sp>
      <p:sp>
        <p:nvSpPr>
          <p:cNvPr id="13" name="Shape 9"/>
          <p:cNvSpPr/>
          <p:nvPr/>
        </p:nvSpPr>
        <p:spPr>
          <a:xfrm>
            <a:off x="4957763" y="2630519"/>
            <a:ext cx="342900" cy="342900"/>
          </a:xfrm>
          <a:prstGeom prst="rect">
            <a:avLst/>
          </a:prstGeom>
          <a:solidFill>
            <a:srgbClr val="EF4444">
              <a:alpha val="10000"/>
            </a:srgbClr>
          </a:solidFill>
          <a:ln/>
        </p:spPr>
      </p:sp>
      <p:pic>
        <p:nvPicPr>
          <p:cNvPr id="14" name="Image 2" descr="preencoded.png">    </p:cNvPr>
          <p:cNvPicPr>
            <a:picLocks noChangeAspect="1"/>
          </p:cNvPicPr>
          <p:nvPr/>
        </p:nvPicPr>
        <p:blipFill>
          <a:blip r:embed="rId3"/>
          <a:stretch>
            <a:fillRect/>
          </a:stretch>
        </p:blipFill>
        <p:spPr>
          <a:xfrm>
            <a:off x="5057775" y="2730531"/>
            <a:ext cx="142875" cy="142875"/>
          </a:xfrm>
          <a:prstGeom prst="rect">
            <a:avLst/>
          </a:prstGeom>
        </p:spPr>
      </p:pic>
      <p:sp>
        <p:nvSpPr>
          <p:cNvPr id="15" name="Text 10"/>
          <p:cNvSpPr/>
          <p:nvPr/>
        </p:nvSpPr>
        <p:spPr>
          <a:xfrm>
            <a:off x="5443538" y="2630519"/>
            <a:ext cx="3100388"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No Resilience to Change</a:t>
            </a:r>
            <a:endParaRPr lang="en-US" sz="885" dirty="0"/>
          </a:p>
        </p:txBody>
      </p:sp>
      <p:sp>
        <p:nvSpPr>
          <p:cNvPr id="16" name="Text 11"/>
          <p:cNvSpPr/>
          <p:nvPr/>
        </p:nvSpPr>
        <p:spPr>
          <a:xfrm>
            <a:off x="5443538" y="2857333"/>
            <a:ext cx="3100388"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94A3B8"/>
                </a:solidFill>
                <a:latin typeface="Roboto" pitchFamily="34" charset="0"/>
                <a:ea typeface="Roboto" pitchFamily="34" charset="-122"/>
                <a:cs typeface="Roboto" pitchFamily="34" charset="-120"/>
              </a:rPr>
              <a:t>Any mid-week disruption (new order, line downtime) requires rebuilding the entire plan from scratch.</a:t>
            </a:r>
            <a:endParaRPr lang="en-US" sz="834" dirty="0"/>
          </a:p>
        </p:txBody>
      </p:sp>
      <p:sp>
        <p:nvSpPr>
          <p:cNvPr id="17" name="Shape 12"/>
          <p:cNvSpPr/>
          <p:nvPr/>
        </p:nvSpPr>
        <p:spPr>
          <a:xfrm>
            <a:off x="4786313" y="3520250"/>
            <a:ext cx="3929063" cy="904019"/>
          </a:xfrm>
          <a:prstGeom prst="rect">
            <a:avLst/>
          </a:prstGeom>
          <a:solidFill>
            <a:srgbClr val="1E293B">
              <a:alpha val="80000"/>
            </a:srgbClr>
          </a:solidFill>
          <a:ln w="9144">
            <a:solidFill>
              <a:srgbClr val="334155"/>
            </a:solidFill>
            <a:prstDash val="solid"/>
          </a:ln>
        </p:spPr>
      </p:sp>
      <p:sp>
        <p:nvSpPr>
          <p:cNvPr id="18" name="Shape 13"/>
          <p:cNvSpPr/>
          <p:nvPr/>
        </p:nvSpPr>
        <p:spPr>
          <a:xfrm>
            <a:off x="4957763" y="3698844"/>
            <a:ext cx="342900" cy="342900"/>
          </a:xfrm>
          <a:prstGeom prst="rect">
            <a:avLst/>
          </a:prstGeom>
          <a:solidFill>
            <a:srgbClr val="EF4444">
              <a:alpha val="10000"/>
            </a:srgbClr>
          </a:solidFill>
          <a:ln/>
        </p:spPr>
      </p:sp>
      <p:sp>
        <p:nvSpPr>
          <p:cNvPr id="19" name="Text 14"/>
          <p:cNvSpPr/>
          <p:nvPr/>
        </p:nvSpPr>
        <p:spPr>
          <a:xfrm>
            <a:off x="5443538" y="3698844"/>
            <a:ext cx="3100388"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Inconsistent Output</a:t>
            </a:r>
            <a:endParaRPr lang="en-US" sz="885" dirty="0"/>
          </a:p>
        </p:txBody>
      </p:sp>
      <p:sp>
        <p:nvSpPr>
          <p:cNvPr id="20" name="Text 15"/>
          <p:cNvSpPr/>
          <p:nvPr/>
        </p:nvSpPr>
        <p:spPr>
          <a:xfrm>
            <a:off x="5443538" y="3925658"/>
            <a:ext cx="3100388"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94A3B8"/>
                </a:solidFill>
                <a:latin typeface="Roboto" pitchFamily="34" charset="0"/>
                <a:ea typeface="Roboto" pitchFamily="34" charset="-122"/>
                <a:cs typeface="Roboto" pitchFamily="34" charset="-120"/>
              </a:rPr>
              <a:t>Different planners produce different schedules from the same data; quality depends on who is working that day.</a:t>
            </a:r>
            <a:endParaRPr lang="en-US" sz="834" dirty="0"/>
          </a:p>
        </p:txBody>
      </p:sp>
      <p:sp>
        <p:nvSpPr>
          <p:cNvPr id="21" name="Text 16"/>
          <p:cNvSpPr/>
          <p:nvPr/>
        </p:nvSpPr>
        <p:spPr>
          <a:xfrm>
            <a:off x="428625" y="4816673"/>
            <a:ext cx="8286750" cy="112514"/>
          </a:xfrm>
          <a:prstGeom prst="rect">
            <a:avLst/>
          </a:prstGeom>
          <a:noFill/>
          <a:ln/>
        </p:spPr>
        <p:txBody>
          <a:bodyPr wrap="none" lIns="0" tIns="0" rIns="0" bIns="0" rtlCol="0" anchor="t">
            <a:spAutoFit/>
          </a:bodyPr>
          <a:lstStyle/>
          <a:p>
            <a:pPr algn="r" indent="0" marL="0">
              <a:lnSpc>
                <a:spcPts val="800"/>
              </a:lnSpc>
              <a:buNone/>
            </a:pPr>
            <a:r>
              <a:rPr lang="en-US" sz="621" dirty="0">
                <a:solidFill>
                  <a:srgbClr val="475569"/>
                </a:solidFill>
                <a:latin typeface="Roboto Mono" pitchFamily="34" charset="0"/>
                <a:ea typeface="Roboto Mono" pitchFamily="34" charset="-122"/>
                <a:cs typeface="Roboto Mono" pitchFamily="34" charset="-120"/>
              </a:rPr>
              <a:t>CONFIDENTIAL | INTERNAL DEMO | 2026</a:t>
            </a:r>
            <a:endParaRPr lang="en-US" sz="62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857250" y="808695"/>
            <a:ext cx="7429500" cy="1440163"/>
          </a:xfrm>
          <a:prstGeom prst="rect">
            <a:avLst/>
          </a:prstGeom>
          <a:noFill/>
          <a:ln/>
        </p:spPr>
        <p:txBody>
          <a:bodyPr wrap="square" lIns="0" tIns="0" rIns="0" bIns="0" rtlCol="0" anchor="t">
            <a:spAutoFit/>
          </a:bodyPr>
          <a:lstStyle/>
          <a:p>
            <a:pPr algn="ctr" indent="0" marL="0">
              <a:lnSpc>
                <a:spcPts val="3800"/>
              </a:lnSpc>
              <a:buNone/>
            </a:pPr>
            <a:r>
              <a:rPr lang="en-US" sz="2862" b="1" spc="-1" kern="0" dirty="0">
                <a:solidFill>
                  <a:srgbClr val="F8FAFC"/>
                </a:solidFill>
                <a:latin typeface="Roboto Mono" pitchFamily="34" charset="0"/>
                <a:ea typeface="Roboto Mono" pitchFamily="34" charset="-122"/>
                <a:cs typeface="Roboto Mono" pitchFamily="34" charset="-120"/>
              </a:rPr>
              <a:t>What If the </a:t>
            </a:r>
            <a:pPr algn="ctr" indent="0" marL="0">
              <a:lnSpc>
                <a:spcPts val="3800"/>
              </a:lnSpc>
              <a:buNone/>
            </a:pPr>
            <a:r>
              <a:rPr lang="en-US" sz="2862" b="1" spc="-1" kern="0" dirty="0">
                <a:solidFill>
                  <a:srgbClr val="3B82F6"/>
                </a:solidFill>
                <a:latin typeface="Roboto Mono" pitchFamily="34" charset="0"/>
                <a:ea typeface="Roboto Mono" pitchFamily="34" charset="-122"/>
                <a:cs typeface="Roboto Mono" pitchFamily="34" charset="-120"/>
              </a:rPr>
              <a:t>Optimal Schedule</a:t>
            </a:r>
            <a:pPr algn="ctr" indent="0" marL="0">
              <a:lnSpc>
                <a:spcPts val="3800"/>
              </a:lnSpc>
              <a:buNone/>
            </a:pPr>
            <a:r>
              <a:rPr lang="en-US" sz="2862" b="1" spc="-1" kern="0" dirty="0">
                <a:solidFill>
                  <a:srgbClr val="F8FAFC"/>
                </a:solidFill>
                <a:latin typeface="Roboto Mono" pitchFamily="34" charset="0"/>
                <a:ea typeface="Roboto Mono" pitchFamily="34" charset="-122"/>
                <a:cs typeface="Roboto Mono" pitchFamily="34" charset="-120"/>
              </a:rPr>
              <a:t> Could Be Generated in Under </a:t>
            </a:r>
            <a:pPr algn="ctr" indent="0" marL="0">
              <a:lnSpc>
                <a:spcPts val="3800"/>
              </a:lnSpc>
              <a:buNone/>
            </a:pPr>
            <a:r>
              <a:rPr lang="en-US" sz="2862" b="1" spc="-1" kern="0" dirty="0">
                <a:solidFill>
                  <a:srgbClr val="3B82F6"/>
                </a:solidFill>
                <a:latin typeface="Roboto Mono" pitchFamily="34" charset="0"/>
                <a:ea typeface="Roboto Mono" pitchFamily="34" charset="-122"/>
                <a:cs typeface="Roboto Mono" pitchFamily="34" charset="-120"/>
              </a:rPr>
              <a:t>5 </a:t>
            </a:r>
            <a:pPr algn="ctr" indent="0" marL="0">
              <a:lnSpc>
                <a:spcPts val="3800"/>
              </a:lnSpc>
              <a:buNone/>
            </a:pPr>
            <a:r>
              <a:rPr lang="en-US" sz="2862" b="1" spc="-1" kern="0" dirty="0">
                <a:solidFill>
                  <a:srgbClr val="3B82F6"/>
                </a:solidFill>
                <a:latin typeface="Roboto Mono" pitchFamily="34" charset="0"/>
                <a:ea typeface="Roboto Mono" pitchFamily="34" charset="-122"/>
                <a:cs typeface="Roboto Mono" pitchFamily="34" charset="-120"/>
              </a:rPr>
              <a:t>Seconds</a:t>
            </a:r>
            <a:pPr algn="ctr" indent="0" marL="0">
              <a:lnSpc>
                <a:spcPts val="3800"/>
              </a:lnSpc>
              <a:buNone/>
            </a:pPr>
            <a:r>
              <a:rPr lang="en-US" sz="2862" b="1" spc="-1" kern="0" dirty="0">
                <a:solidFill>
                  <a:srgbClr val="F8FAFC"/>
                </a:solidFill>
                <a:latin typeface="Roboto Mono" pitchFamily="34" charset="0"/>
                <a:ea typeface="Roboto Mono" pitchFamily="34" charset="-122"/>
                <a:cs typeface="Roboto Mono" pitchFamily="34" charset="-120"/>
              </a:rPr>
              <a:t>?</a:t>
            </a:r>
            <a:endParaRPr lang="en-US" sz="2862" dirty="0"/>
          </a:p>
        </p:txBody>
      </p:sp>
      <p:sp>
        <p:nvSpPr>
          <p:cNvPr id="4" name="Text 1"/>
          <p:cNvSpPr/>
          <p:nvPr/>
        </p:nvSpPr>
        <p:spPr>
          <a:xfrm>
            <a:off x="1357313" y="2534608"/>
            <a:ext cx="6429375" cy="1371544"/>
          </a:xfrm>
          <a:prstGeom prst="rect">
            <a:avLst/>
          </a:prstGeom>
          <a:noFill/>
          <a:ln/>
        </p:spPr>
        <p:txBody>
          <a:bodyPr wrap="square" lIns="0" tIns="0" rIns="0" bIns="0" rtlCol="0" anchor="t">
            <a:spAutoFit/>
          </a:bodyPr>
          <a:lstStyle/>
          <a:p>
            <a:pPr algn="ctr" indent="0" marL="0">
              <a:lnSpc>
                <a:spcPts val="2200"/>
              </a:lnSpc>
              <a:buNone/>
            </a:pPr>
            <a:r>
              <a:rPr lang="en-US" sz="1269" dirty="0">
                <a:solidFill>
                  <a:srgbClr val="94A3B8"/>
                </a:solidFill>
                <a:latin typeface="Roboto" pitchFamily="34" charset="0"/>
                <a:ea typeface="Roboto" pitchFamily="34" charset="-122"/>
                <a:cs typeface="Roboto" pitchFamily="34" charset="-120"/>
              </a:rPr>
              <a:t>The Production Scheduler is an AI-powered optimization engine that automatically </a:t>
            </a:r>
            <a:pPr algn="ctr" indent="0" marL="0">
              <a:lnSpc>
                <a:spcPts val="2200"/>
              </a:lnSpc>
              <a:buNone/>
            </a:pPr>
            <a:r>
              <a:rPr lang="en-US" sz="1269" dirty="0">
                <a:solidFill>
                  <a:srgbClr val="94A3B8"/>
                </a:solidFill>
                <a:latin typeface="Roboto" pitchFamily="34" charset="0"/>
                <a:ea typeface="Roboto" pitchFamily="34" charset="-122"/>
                <a:cs typeface="Roboto" pitchFamily="34" charset="-120"/>
              </a:rPr>
              <a:t>distributes work across Monday through Friday in the most balanced, efficient way </a:t>
            </a:r>
            <a:pPr algn="ctr" indent="0" marL="0">
              <a:lnSpc>
                <a:spcPts val="2200"/>
              </a:lnSpc>
              <a:buNone/>
            </a:pPr>
            <a:r>
              <a:rPr lang="en-US" sz="1269" dirty="0">
                <a:solidFill>
                  <a:srgbClr val="94A3B8"/>
                </a:solidFill>
                <a:latin typeface="Roboto" pitchFamily="34" charset="0"/>
                <a:ea typeface="Roboto" pitchFamily="34" charset="-122"/>
                <a:cs typeface="Roboto" pitchFamily="34" charset="-120"/>
              </a:rPr>
              <a:t>mathematically possible. </a:t>
            </a:r>
            <a:pPr algn="ctr" indent="0" marL="0">
              <a:lnSpc>
                <a:spcPts val="2200"/>
              </a:lnSpc>
              <a:buNone/>
            </a:pPr>
            <a:r>
              <a:rPr lang="en-US" sz="1269" dirty="0">
                <a:solidFill>
                  <a:srgbClr val="94A3B8"/>
                </a:solidFill>
                <a:latin typeface="Roboto" pitchFamily="34" charset="0"/>
                <a:ea typeface="Roboto" pitchFamily="34" charset="-122"/>
                <a:cs typeface="Roboto" pitchFamily="34" charset="-120"/>
              </a:rPr>
              <a:t>
</a:t>
            </a:r>
            <a:pPr algn="ctr" indent="0" marL="0">
              <a:lnSpc>
                <a:spcPts val="2200"/>
              </a:lnSpc>
              <a:buNone/>
            </a:pPr>
            <a:r>
              <a:rPr lang="en-US" sz="1269" dirty="0">
                <a:solidFill>
                  <a:srgbClr val="94A3B8"/>
                </a:solidFill>
                <a:latin typeface="Roboto" pitchFamily="34" charset="0"/>
                <a:ea typeface="Roboto" pitchFamily="34" charset="-122"/>
                <a:cs typeface="Roboto" pitchFamily="34" charset="-120"/>
              </a:rPr>
              <a:t>
</a:t>
            </a:r>
            <a:pPr algn="ctr" indent="0" marL="0">
              <a:lnSpc>
                <a:spcPts val="2200"/>
              </a:lnSpc>
              <a:buNone/>
            </a:pPr>
            <a:r>
              <a:rPr lang="en-US" sz="1269" dirty="0">
                <a:solidFill>
                  <a:srgbClr val="94A3B8"/>
                </a:solidFill>
                <a:latin typeface="Roboto" pitchFamily="34" charset="0"/>
                <a:ea typeface="Roboto" pitchFamily="34" charset="-122"/>
                <a:cs typeface="Roboto" pitchFamily="34" charset="-120"/>
              </a:rPr>
              <a:t> </a:t>
            </a:r>
            <a:pPr algn="ctr" indent="0" marL="0">
              <a:lnSpc>
                <a:spcPts val="2200"/>
              </a:lnSpc>
              <a:buNone/>
            </a:pPr>
            <a:r>
              <a:rPr lang="en-US" sz="1193" b="1" dirty="0">
                <a:solidFill>
                  <a:srgbClr val="F8FAFC"/>
                </a:solidFill>
                <a:latin typeface="Roboto" pitchFamily="34" charset="0"/>
                <a:ea typeface="Roboto" pitchFamily="34" charset="-122"/>
                <a:cs typeface="Roboto" pitchFamily="34" charset="-120"/>
              </a:rPr>
              <a:t>No spreadsheets. No guesswork. No rebuilding when plans change.</a:t>
            </a:r>
            <a:pPr algn="ctr" indent="0" marL="0">
              <a:lnSpc>
                <a:spcPts val="2200"/>
              </a:lnSpc>
              <a:buNone/>
            </a:pPr>
            <a:endParaRPr lang="en-US" sz="1269" dirty="0"/>
          </a:p>
        </p:txBody>
      </p:sp>
      <p:sp>
        <p:nvSpPr>
          <p:cNvPr id="5" name="Shape 2"/>
          <p:cNvSpPr/>
          <p:nvPr/>
        </p:nvSpPr>
        <p:spPr>
          <a:xfrm>
            <a:off x="0" y="4572000"/>
            <a:ext cx="9144000" cy="571500"/>
          </a:xfrm>
          <a:prstGeom prst="rect">
            <a:avLst/>
          </a:prstGeom>
          <a:solidFill>
            <a:srgbClr val="0F172A"/>
          </a:solidFill>
          <a:ln/>
        </p:spPr>
      </p:sp>
      <p:sp>
        <p:nvSpPr>
          <p:cNvPr id="6" name="Shape 3"/>
          <p:cNvSpPr/>
          <p:nvPr/>
        </p:nvSpPr>
        <p:spPr>
          <a:xfrm>
            <a:off x="0" y="4572000"/>
            <a:ext cx="9144000" cy="7144"/>
          </a:xfrm>
          <a:prstGeom prst="rect">
            <a:avLst/>
          </a:prstGeom>
          <a:solidFill>
            <a:srgbClr val="334155"/>
          </a:solidFill>
          <a:ln/>
        </p:spPr>
      </p:sp>
      <p:sp>
        <p:nvSpPr>
          <p:cNvPr id="7" name="Shape 4"/>
          <p:cNvSpPr/>
          <p:nvPr/>
        </p:nvSpPr>
        <p:spPr>
          <a:xfrm>
            <a:off x="3309342" y="4727377"/>
            <a:ext cx="2525316" cy="260747"/>
          </a:xfrm>
          <a:prstGeom prst="rect">
            <a:avLst/>
          </a:prstGeom>
          <a:solidFill>
            <a:srgbClr val="3B82F6">
              <a:alpha val="10000"/>
            </a:srgbClr>
          </a:solidFill>
          <a:ln w="9144">
            <a:solidFill>
              <a:srgbClr val="3B82F6">
                <a:alpha val="30000"/>
              </a:srgbClr>
            </a:solidFill>
            <a:prstDash val="solid"/>
          </a:ln>
        </p:spPr>
      </p:sp>
      <p:pic>
        <p:nvPicPr>
          <p:cNvPr id="8" name="Image 1" descr="preencoded.png">    </p:cNvPr>
          <p:cNvPicPr>
            <a:picLocks noChangeAspect="1"/>
          </p:cNvPicPr>
          <p:nvPr/>
        </p:nvPicPr>
        <p:blipFill>
          <a:blip r:embed="rId2"/>
          <a:stretch>
            <a:fillRect/>
          </a:stretch>
        </p:blipFill>
        <p:spPr>
          <a:xfrm>
            <a:off x="3430786" y="4807744"/>
            <a:ext cx="107156" cy="100013"/>
          </a:xfrm>
          <a:prstGeom prst="rect">
            <a:avLst/>
          </a:prstGeom>
        </p:spPr>
      </p:pic>
      <p:sp>
        <p:nvSpPr>
          <p:cNvPr id="9" name="Text 5"/>
          <p:cNvSpPr/>
          <p:nvPr/>
        </p:nvSpPr>
        <p:spPr>
          <a:xfrm>
            <a:off x="3609380" y="4791670"/>
            <a:ext cx="2103834" cy="132159"/>
          </a:xfrm>
          <a:prstGeom prst="rect">
            <a:avLst/>
          </a:prstGeom>
          <a:noFill/>
          <a:ln/>
        </p:spPr>
        <p:txBody>
          <a:bodyPr wrap="none" lIns="0" tIns="0" rIns="0" bIns="0" rtlCol="0" anchor="t">
            <a:spAutoFit/>
          </a:bodyPr>
          <a:lstStyle/>
          <a:p>
            <a:pPr algn="ctr" indent="0" marL="0">
              <a:lnSpc>
                <a:spcPts val="900"/>
              </a:lnSpc>
              <a:buNone/>
            </a:pPr>
            <a:r>
              <a:rPr lang="en-US" sz="683" b="1" spc="1" kern="0" dirty="0">
                <a:solidFill>
                  <a:srgbClr val="3B82F6"/>
                </a:solidFill>
                <a:latin typeface="Roboto Mono" pitchFamily="34" charset="0"/>
                <a:ea typeface="Roboto Mono" pitchFamily="34" charset="-122"/>
                <a:cs typeface="Roboto Mono" pitchFamily="34" charset="-120"/>
              </a:rPr>
              <a:t>BUILT ON GOOGLE OR-TOOLS CP-SAT</a:t>
            </a:r>
            <a:endParaRPr lang="en-US" sz="683" dirty="0"/>
          </a:p>
        </p:txBody>
      </p:sp>
      <p:sp>
        <p:nvSpPr>
          <p:cNvPr id="10" name="Text 6"/>
          <p:cNvSpPr/>
          <p:nvPr/>
        </p:nvSpPr>
        <p:spPr>
          <a:xfrm>
            <a:off x="6902648" y="4816673"/>
            <a:ext cx="1812727" cy="112514"/>
          </a:xfrm>
          <a:prstGeom prst="rect">
            <a:avLst/>
          </a:prstGeom>
          <a:noFill/>
          <a:ln/>
        </p:spPr>
        <p:txBody>
          <a:bodyPr wrap="none" lIns="0" tIns="0" rIns="0" bIns="0" rtlCol="0" anchor="t">
            <a:spAutoFit/>
          </a:bodyPr>
          <a:lstStyle/>
          <a:p>
            <a:pPr algn="ctr" indent="0" marL="0">
              <a:lnSpc>
                <a:spcPts val="800"/>
              </a:lnSpc>
              <a:buNone/>
            </a:pPr>
            <a:r>
              <a:rPr lang="en-US" sz="621" dirty="0">
                <a:solidFill>
                  <a:srgbClr val="475569"/>
                </a:solidFill>
                <a:latin typeface="Roboto Mono" pitchFamily="34" charset="0"/>
                <a:ea typeface="Roboto Mono" pitchFamily="34" charset="-122"/>
                <a:cs typeface="Roboto Mono" pitchFamily="34" charset="-120"/>
              </a:rPr>
              <a:t>CONFIDENTIAL | INTERNAL DEMO | 2026</a:t>
            </a:r>
            <a:endParaRPr lang="en-US" sz="62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28625" y="428625"/>
            <a:ext cx="8286750" cy="489347"/>
          </a:xfrm>
          <a:prstGeom prst="rect">
            <a:avLst/>
          </a:prstGeom>
          <a:solidFill>
            <a:srgbClr val="000000">
              <a:alpha val="0"/>
            </a:srgbClr>
          </a:solidFill>
          <a:ln/>
        </p:spPr>
      </p:sp>
      <p:sp>
        <p:nvSpPr>
          <p:cNvPr id="4" name="Shape 1"/>
          <p:cNvSpPr/>
          <p:nvPr/>
        </p:nvSpPr>
        <p:spPr>
          <a:xfrm>
            <a:off x="428625" y="910828"/>
            <a:ext cx="8286750" cy="7144"/>
          </a:xfrm>
          <a:prstGeom prst="rect">
            <a:avLst/>
          </a:prstGeom>
          <a:solidFill>
            <a:srgbClr val="334155"/>
          </a:solidFill>
          <a:ln/>
        </p:spPr>
      </p:sp>
      <p:sp>
        <p:nvSpPr>
          <p:cNvPr id="5" name="Text 2"/>
          <p:cNvSpPr/>
          <p:nvPr/>
        </p:nvSpPr>
        <p:spPr>
          <a:xfrm>
            <a:off x="428625" y="428625"/>
            <a:ext cx="8286750" cy="339328"/>
          </a:xfrm>
          <a:prstGeom prst="rect">
            <a:avLst/>
          </a:prstGeom>
          <a:noFill/>
          <a:ln/>
        </p:spPr>
        <p:txBody>
          <a:bodyPr wrap="none" lIns="0" tIns="0" rIns="0" bIns="0" rtlCol="0" anchor="t">
            <a:spAutoFit/>
          </a:bodyPr>
          <a:lstStyle/>
          <a:p>
            <a:pPr algn="l" indent="0" marL="0">
              <a:lnSpc>
                <a:spcPts val="2400"/>
              </a:lnSpc>
              <a:buNone/>
            </a:pPr>
            <a:r>
              <a:rPr lang="en-US" sz="1808" b="1" dirty="0">
                <a:solidFill>
                  <a:srgbClr val="F8FAFC"/>
                </a:solidFill>
                <a:latin typeface="Roboto Mono" pitchFamily="34" charset="0"/>
                <a:ea typeface="Roboto Mono" pitchFamily="34" charset="-122"/>
                <a:cs typeface="Roboto Mono" pitchFamily="34" charset="-120"/>
              </a:rPr>
              <a:t>Three Steps from Demand to Optimal Schedule</a:t>
            </a:r>
            <a:endParaRPr lang="en-US" sz="1808" dirty="0"/>
          </a:p>
        </p:txBody>
      </p:sp>
      <p:sp>
        <p:nvSpPr>
          <p:cNvPr id="6" name="Shape 3"/>
          <p:cNvSpPr/>
          <p:nvPr/>
        </p:nvSpPr>
        <p:spPr>
          <a:xfrm>
            <a:off x="428625" y="1339453"/>
            <a:ext cx="2309803" cy="2169914"/>
          </a:xfrm>
          <a:prstGeom prst="rect">
            <a:avLst/>
          </a:prstGeom>
          <a:solidFill>
            <a:srgbClr val="1E293B">
              <a:alpha val="60000"/>
            </a:srgbClr>
          </a:solidFill>
          <a:ln/>
        </p:spPr>
      </p:sp>
      <p:sp>
        <p:nvSpPr>
          <p:cNvPr id="7" name="Shape 4"/>
          <p:cNvSpPr/>
          <p:nvPr/>
        </p:nvSpPr>
        <p:spPr>
          <a:xfrm>
            <a:off x="428625" y="1339453"/>
            <a:ext cx="2309803" cy="28575"/>
          </a:xfrm>
          <a:prstGeom prst="rect">
            <a:avLst/>
          </a:prstGeom>
          <a:solidFill>
            <a:srgbClr val="3B82F6"/>
          </a:solidFill>
          <a:ln/>
        </p:spPr>
      </p:sp>
      <p:sp>
        <p:nvSpPr>
          <p:cNvPr id="8" name="Shape 5"/>
          <p:cNvSpPr/>
          <p:nvPr/>
        </p:nvSpPr>
        <p:spPr>
          <a:xfrm>
            <a:off x="2731284" y="1339453"/>
            <a:ext cx="7144" cy="2169914"/>
          </a:xfrm>
          <a:prstGeom prst="rect">
            <a:avLst/>
          </a:prstGeom>
          <a:solidFill>
            <a:srgbClr val="334155"/>
          </a:solidFill>
          <a:ln/>
        </p:spPr>
      </p:sp>
      <p:sp>
        <p:nvSpPr>
          <p:cNvPr id="9" name="Shape 6"/>
          <p:cNvSpPr/>
          <p:nvPr/>
        </p:nvSpPr>
        <p:spPr>
          <a:xfrm>
            <a:off x="428625" y="3502223"/>
            <a:ext cx="2309803" cy="7144"/>
          </a:xfrm>
          <a:prstGeom prst="rect">
            <a:avLst/>
          </a:prstGeom>
          <a:solidFill>
            <a:srgbClr val="334155"/>
          </a:solidFill>
          <a:ln/>
        </p:spPr>
      </p:sp>
      <p:sp>
        <p:nvSpPr>
          <p:cNvPr id="10" name="Shape 7"/>
          <p:cNvSpPr/>
          <p:nvPr/>
        </p:nvSpPr>
        <p:spPr>
          <a:xfrm>
            <a:off x="428625" y="1339453"/>
            <a:ext cx="7144" cy="2169914"/>
          </a:xfrm>
          <a:prstGeom prst="rect">
            <a:avLst/>
          </a:prstGeom>
          <a:solidFill>
            <a:srgbClr val="334155"/>
          </a:solidFill>
          <a:ln/>
        </p:spPr>
      </p:sp>
      <p:sp>
        <p:nvSpPr>
          <p:cNvPr id="11" name="Shape 8"/>
          <p:cNvSpPr/>
          <p:nvPr/>
        </p:nvSpPr>
        <p:spPr>
          <a:xfrm>
            <a:off x="1435894" y="1196578"/>
            <a:ext cx="285750" cy="285750"/>
          </a:xfrm>
          <a:prstGeom prst="ellipse">
            <a:avLst/>
          </a:prstGeom>
          <a:solidFill>
            <a:srgbClr val="1E293B"/>
          </a:solidFill>
          <a:ln w="18288">
            <a:solidFill>
              <a:srgbClr val="3B82F6"/>
            </a:solidFill>
            <a:prstDash val="solid"/>
          </a:ln>
        </p:spPr>
      </p:sp>
      <p:sp>
        <p:nvSpPr>
          <p:cNvPr id="12" name="Text 9"/>
          <p:cNvSpPr/>
          <p:nvPr/>
        </p:nvSpPr>
        <p:spPr>
          <a:xfrm>
            <a:off x="1435894" y="1196578"/>
            <a:ext cx="285750" cy="285750"/>
          </a:xfrm>
          <a:prstGeom prst="rect">
            <a:avLst/>
          </a:prstGeom>
          <a:noFill/>
          <a:ln/>
        </p:spPr>
        <p:txBody>
          <a:bodyPr wrap="square" lIns="0" tIns="0" rIns="0" bIns="0" rtlCol="0" anchor="ctr">
            <a:spAutoFit/>
          </a:bodyPr>
          <a:lstStyle/>
          <a:p>
            <a:pPr algn="ctr" indent="0" marL="0">
              <a:lnSpc>
                <a:spcPts val="1200"/>
              </a:lnSpc>
              <a:buNone/>
            </a:pPr>
            <a:r>
              <a:rPr lang="en-US" sz="885" b="1" dirty="0">
                <a:solidFill>
                  <a:srgbClr val="3B82F6"/>
                </a:solidFill>
                <a:latin typeface="Roboto Mono" pitchFamily="34" charset="0"/>
                <a:ea typeface="Roboto Mono" pitchFamily="34" charset="-122"/>
                <a:cs typeface="Roboto Mono" pitchFamily="34" charset="-120"/>
              </a:rPr>
              <a:t>1</a:t>
            </a:r>
            <a:endParaRPr lang="en-US" sz="885" dirty="0"/>
          </a:p>
        </p:txBody>
      </p:sp>
      <p:pic>
        <p:nvPicPr>
          <p:cNvPr id="13" name="Image 1" descr="preencoded.png">    </p:cNvPr>
          <p:cNvPicPr>
            <a:picLocks noChangeAspect="1"/>
          </p:cNvPicPr>
          <p:nvPr/>
        </p:nvPicPr>
        <p:blipFill>
          <a:blip r:embed="rId2"/>
          <a:stretch>
            <a:fillRect/>
          </a:stretch>
        </p:blipFill>
        <p:spPr>
          <a:xfrm>
            <a:off x="1364456" y="1714500"/>
            <a:ext cx="428625" cy="342900"/>
          </a:xfrm>
          <a:prstGeom prst="rect">
            <a:avLst/>
          </a:prstGeom>
        </p:spPr>
      </p:pic>
      <p:sp>
        <p:nvSpPr>
          <p:cNvPr id="14" name="Text 10"/>
          <p:cNvSpPr/>
          <p:nvPr/>
        </p:nvSpPr>
        <p:spPr>
          <a:xfrm>
            <a:off x="764381" y="2269927"/>
            <a:ext cx="1628775" cy="189309"/>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F8FAFC"/>
                </a:solidFill>
                <a:latin typeface="Roboto Mono" pitchFamily="34" charset="0"/>
                <a:ea typeface="Roboto Mono" pitchFamily="34" charset="-122"/>
                <a:cs typeface="Roboto Mono" pitchFamily="34" charset="-120"/>
              </a:rPr>
              <a:t>Input Weekly Demand</a:t>
            </a:r>
            <a:endParaRPr lang="en-US" sz="987" dirty="0"/>
          </a:p>
        </p:txBody>
      </p:sp>
      <p:sp>
        <p:nvSpPr>
          <p:cNvPr id="15" name="Text 11"/>
          <p:cNvSpPr/>
          <p:nvPr/>
        </p:nvSpPr>
        <p:spPr>
          <a:xfrm>
            <a:off x="642938" y="2573536"/>
            <a:ext cx="1871663" cy="685800"/>
          </a:xfrm>
          <a:prstGeom prst="rect">
            <a:avLst/>
          </a:prstGeom>
          <a:noFill/>
          <a:ln/>
        </p:spPr>
        <p:txBody>
          <a:bodyPr wrap="square" lIns="0" tIns="0" rIns="0" bIns="0" rtlCol="0" anchor="t">
            <a:spAutoFit/>
          </a:bodyPr>
          <a:lstStyle/>
          <a:p>
            <a:pPr algn="ctr" indent="0" marL="0">
              <a:lnSpc>
                <a:spcPts val="1400"/>
              </a:lnSpc>
              <a:buNone/>
            </a:pPr>
            <a:r>
              <a:rPr lang="en-US" sz="834" dirty="0">
                <a:solidFill>
                  <a:srgbClr val="94A3B8"/>
                </a:solidFill>
                <a:latin typeface="Roboto" pitchFamily="34" charset="0"/>
                <a:ea typeface="Roboto" pitchFamily="34" charset="-122"/>
                <a:cs typeface="Roboto" pitchFamily="34" charset="-120"/>
              </a:rPr>
              <a:t>Input product models, production lines, and quantities. Add or remove rows in seconds. Connects to ERP/MES in production deployment.</a:t>
            </a:r>
            <a:endParaRPr lang="en-US" sz="834" dirty="0"/>
          </a:p>
        </p:txBody>
      </p:sp>
      <p:pic>
        <p:nvPicPr>
          <p:cNvPr id="16" name="Image 2" descr="preencoded.png">    </p:cNvPr>
          <p:cNvPicPr>
            <a:picLocks noChangeAspect="1"/>
          </p:cNvPicPr>
          <p:nvPr/>
        </p:nvPicPr>
        <p:blipFill>
          <a:blip r:embed="rId3"/>
          <a:stretch>
            <a:fillRect/>
          </a:stretch>
        </p:blipFill>
        <p:spPr>
          <a:xfrm>
            <a:off x="3014663" y="2338685"/>
            <a:ext cx="107156" cy="171450"/>
          </a:xfrm>
          <a:prstGeom prst="rect">
            <a:avLst/>
          </a:prstGeom>
        </p:spPr>
      </p:pic>
      <p:sp>
        <p:nvSpPr>
          <p:cNvPr id="17" name="Shape 12"/>
          <p:cNvSpPr/>
          <p:nvPr/>
        </p:nvSpPr>
        <p:spPr>
          <a:xfrm>
            <a:off x="3407569" y="1339453"/>
            <a:ext cx="2314575" cy="2169914"/>
          </a:xfrm>
          <a:prstGeom prst="rect">
            <a:avLst/>
          </a:prstGeom>
          <a:solidFill>
            <a:srgbClr val="1E293B">
              <a:alpha val="60000"/>
            </a:srgbClr>
          </a:solidFill>
          <a:ln/>
        </p:spPr>
      </p:sp>
      <p:sp>
        <p:nvSpPr>
          <p:cNvPr id="18" name="Shape 13"/>
          <p:cNvSpPr/>
          <p:nvPr/>
        </p:nvSpPr>
        <p:spPr>
          <a:xfrm>
            <a:off x="3407569" y="1339453"/>
            <a:ext cx="2314575" cy="28575"/>
          </a:xfrm>
          <a:prstGeom prst="rect">
            <a:avLst/>
          </a:prstGeom>
          <a:solidFill>
            <a:srgbClr val="8B5CF6"/>
          </a:solidFill>
          <a:ln/>
        </p:spPr>
      </p:sp>
      <p:sp>
        <p:nvSpPr>
          <p:cNvPr id="19" name="Shape 14"/>
          <p:cNvSpPr/>
          <p:nvPr/>
        </p:nvSpPr>
        <p:spPr>
          <a:xfrm>
            <a:off x="5715000" y="1339453"/>
            <a:ext cx="7144" cy="2169914"/>
          </a:xfrm>
          <a:prstGeom prst="rect">
            <a:avLst/>
          </a:prstGeom>
          <a:solidFill>
            <a:srgbClr val="334155"/>
          </a:solidFill>
          <a:ln/>
        </p:spPr>
      </p:sp>
      <p:sp>
        <p:nvSpPr>
          <p:cNvPr id="20" name="Shape 15"/>
          <p:cNvSpPr/>
          <p:nvPr/>
        </p:nvSpPr>
        <p:spPr>
          <a:xfrm>
            <a:off x="3407569" y="3502223"/>
            <a:ext cx="2314575" cy="7144"/>
          </a:xfrm>
          <a:prstGeom prst="rect">
            <a:avLst/>
          </a:prstGeom>
          <a:solidFill>
            <a:srgbClr val="334155"/>
          </a:solidFill>
          <a:ln/>
        </p:spPr>
      </p:sp>
      <p:sp>
        <p:nvSpPr>
          <p:cNvPr id="21" name="Shape 16"/>
          <p:cNvSpPr/>
          <p:nvPr/>
        </p:nvSpPr>
        <p:spPr>
          <a:xfrm>
            <a:off x="3407569" y="1339453"/>
            <a:ext cx="7144" cy="2169914"/>
          </a:xfrm>
          <a:prstGeom prst="rect">
            <a:avLst/>
          </a:prstGeom>
          <a:solidFill>
            <a:srgbClr val="334155"/>
          </a:solidFill>
          <a:ln/>
        </p:spPr>
      </p:sp>
      <p:sp>
        <p:nvSpPr>
          <p:cNvPr id="22" name="Shape 17"/>
          <p:cNvSpPr/>
          <p:nvPr/>
        </p:nvSpPr>
        <p:spPr>
          <a:xfrm>
            <a:off x="4421981" y="1196578"/>
            <a:ext cx="285750" cy="285750"/>
          </a:xfrm>
          <a:prstGeom prst="ellipse">
            <a:avLst/>
          </a:prstGeom>
          <a:solidFill>
            <a:srgbClr val="1E293B"/>
          </a:solidFill>
          <a:ln w="18288">
            <a:solidFill>
              <a:srgbClr val="8B5CF6"/>
            </a:solidFill>
            <a:prstDash val="solid"/>
          </a:ln>
        </p:spPr>
      </p:sp>
      <p:sp>
        <p:nvSpPr>
          <p:cNvPr id="23" name="Text 18"/>
          <p:cNvSpPr/>
          <p:nvPr/>
        </p:nvSpPr>
        <p:spPr>
          <a:xfrm>
            <a:off x="4421981" y="1196578"/>
            <a:ext cx="285750" cy="285750"/>
          </a:xfrm>
          <a:prstGeom prst="rect">
            <a:avLst/>
          </a:prstGeom>
          <a:noFill/>
          <a:ln/>
        </p:spPr>
        <p:txBody>
          <a:bodyPr wrap="square" lIns="0" tIns="0" rIns="0" bIns="0" rtlCol="0" anchor="ctr">
            <a:spAutoFit/>
          </a:bodyPr>
          <a:lstStyle/>
          <a:p>
            <a:pPr algn="ctr" indent="0" marL="0">
              <a:lnSpc>
                <a:spcPts val="1200"/>
              </a:lnSpc>
              <a:buNone/>
            </a:pPr>
            <a:r>
              <a:rPr lang="en-US" sz="885" b="1" dirty="0">
                <a:solidFill>
                  <a:srgbClr val="8B5CF6"/>
                </a:solidFill>
                <a:latin typeface="Roboto Mono" pitchFamily="34" charset="0"/>
                <a:ea typeface="Roboto Mono" pitchFamily="34" charset="-122"/>
                <a:cs typeface="Roboto Mono" pitchFamily="34" charset="-120"/>
              </a:rPr>
              <a:t>2</a:t>
            </a:r>
            <a:endParaRPr lang="en-US" sz="885" dirty="0"/>
          </a:p>
        </p:txBody>
      </p:sp>
      <p:pic>
        <p:nvPicPr>
          <p:cNvPr id="24" name="Image 3" descr="preencoded.png">    </p:cNvPr>
          <p:cNvPicPr>
            <a:picLocks noChangeAspect="1"/>
          </p:cNvPicPr>
          <p:nvPr/>
        </p:nvPicPr>
        <p:blipFill>
          <a:blip r:embed="rId4"/>
          <a:stretch>
            <a:fillRect/>
          </a:stretch>
        </p:blipFill>
        <p:spPr>
          <a:xfrm>
            <a:off x="4393406" y="1714500"/>
            <a:ext cx="342900" cy="342900"/>
          </a:xfrm>
          <a:prstGeom prst="rect">
            <a:avLst/>
          </a:prstGeom>
        </p:spPr>
      </p:pic>
      <p:sp>
        <p:nvSpPr>
          <p:cNvPr id="25" name="Text 19"/>
          <p:cNvSpPr/>
          <p:nvPr/>
        </p:nvSpPr>
        <p:spPr>
          <a:xfrm>
            <a:off x="3793331" y="2269927"/>
            <a:ext cx="1543050" cy="189309"/>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F8FAFC"/>
                </a:solidFill>
                <a:latin typeface="Roboto Mono" pitchFamily="34" charset="0"/>
                <a:ea typeface="Roboto Mono" pitchFamily="34" charset="-122"/>
                <a:cs typeface="Roboto Mono" pitchFamily="34" charset="-120"/>
              </a:rPr>
              <a:t>Set Business Rules</a:t>
            </a:r>
            <a:endParaRPr lang="en-US" sz="987" dirty="0"/>
          </a:p>
        </p:txBody>
      </p:sp>
      <p:sp>
        <p:nvSpPr>
          <p:cNvPr id="26" name="Text 20"/>
          <p:cNvSpPr/>
          <p:nvPr/>
        </p:nvSpPr>
        <p:spPr>
          <a:xfrm>
            <a:off x="3626653" y="2573536"/>
            <a:ext cx="1876434" cy="685800"/>
          </a:xfrm>
          <a:prstGeom prst="rect">
            <a:avLst/>
          </a:prstGeom>
          <a:noFill/>
          <a:ln/>
        </p:spPr>
        <p:txBody>
          <a:bodyPr wrap="square" lIns="0" tIns="0" rIns="0" bIns="0" rtlCol="0" anchor="t">
            <a:spAutoFit/>
          </a:bodyPr>
          <a:lstStyle/>
          <a:p>
            <a:pPr algn="ctr" indent="0" marL="0">
              <a:lnSpc>
                <a:spcPts val="1400"/>
              </a:lnSpc>
              <a:buNone/>
            </a:pPr>
            <a:r>
              <a:rPr lang="en-US" sz="834" dirty="0">
                <a:solidFill>
                  <a:srgbClr val="94A3B8"/>
                </a:solidFill>
                <a:latin typeface="Roboto" pitchFamily="34" charset="0"/>
                <a:ea typeface="Roboto" pitchFamily="34" charset="-122"/>
                <a:cs typeface="Roboto" pitchFamily="34" charset="-120"/>
              </a:rPr>
              <a:t>Four plain-language sliders control model balance priority, line balance priority, spread rules for low-volume items, and solver time budget.</a:t>
            </a:r>
            <a:endParaRPr lang="en-US" sz="834" dirty="0"/>
          </a:p>
        </p:txBody>
      </p:sp>
      <p:pic>
        <p:nvPicPr>
          <p:cNvPr id="27" name="Image 4" descr="preencoded.png">    </p:cNvPr>
          <p:cNvPicPr>
            <a:picLocks noChangeAspect="1"/>
          </p:cNvPicPr>
          <p:nvPr/>
        </p:nvPicPr>
        <p:blipFill>
          <a:blip r:embed="rId5"/>
          <a:stretch>
            <a:fillRect/>
          </a:stretch>
        </p:blipFill>
        <p:spPr>
          <a:xfrm>
            <a:off x="6003150" y="2338685"/>
            <a:ext cx="107156" cy="171450"/>
          </a:xfrm>
          <a:prstGeom prst="rect">
            <a:avLst/>
          </a:prstGeom>
        </p:spPr>
      </p:pic>
      <p:sp>
        <p:nvSpPr>
          <p:cNvPr id="28" name="Shape 21"/>
          <p:cNvSpPr/>
          <p:nvPr/>
        </p:nvSpPr>
        <p:spPr>
          <a:xfrm>
            <a:off x="6396056" y="1339453"/>
            <a:ext cx="2319347" cy="2169914"/>
          </a:xfrm>
          <a:prstGeom prst="rect">
            <a:avLst/>
          </a:prstGeom>
          <a:solidFill>
            <a:srgbClr val="1E293B">
              <a:alpha val="60000"/>
            </a:srgbClr>
          </a:solidFill>
          <a:ln/>
        </p:spPr>
      </p:sp>
      <p:sp>
        <p:nvSpPr>
          <p:cNvPr id="29" name="Shape 22"/>
          <p:cNvSpPr/>
          <p:nvPr/>
        </p:nvSpPr>
        <p:spPr>
          <a:xfrm>
            <a:off x="6396056" y="1339453"/>
            <a:ext cx="2319347" cy="28575"/>
          </a:xfrm>
          <a:prstGeom prst="rect">
            <a:avLst/>
          </a:prstGeom>
          <a:solidFill>
            <a:srgbClr val="10B981"/>
          </a:solidFill>
          <a:ln/>
        </p:spPr>
      </p:sp>
      <p:sp>
        <p:nvSpPr>
          <p:cNvPr id="30" name="Shape 23"/>
          <p:cNvSpPr/>
          <p:nvPr/>
        </p:nvSpPr>
        <p:spPr>
          <a:xfrm>
            <a:off x="8708259" y="1339453"/>
            <a:ext cx="7144" cy="2169914"/>
          </a:xfrm>
          <a:prstGeom prst="rect">
            <a:avLst/>
          </a:prstGeom>
          <a:solidFill>
            <a:srgbClr val="334155"/>
          </a:solidFill>
          <a:ln/>
        </p:spPr>
      </p:sp>
      <p:sp>
        <p:nvSpPr>
          <p:cNvPr id="31" name="Shape 24"/>
          <p:cNvSpPr/>
          <p:nvPr/>
        </p:nvSpPr>
        <p:spPr>
          <a:xfrm>
            <a:off x="6396056" y="3502223"/>
            <a:ext cx="2319347" cy="7144"/>
          </a:xfrm>
          <a:prstGeom prst="rect">
            <a:avLst/>
          </a:prstGeom>
          <a:solidFill>
            <a:srgbClr val="334155"/>
          </a:solidFill>
          <a:ln/>
        </p:spPr>
      </p:sp>
      <p:sp>
        <p:nvSpPr>
          <p:cNvPr id="32" name="Shape 25"/>
          <p:cNvSpPr/>
          <p:nvPr/>
        </p:nvSpPr>
        <p:spPr>
          <a:xfrm>
            <a:off x="6396056" y="1339453"/>
            <a:ext cx="7144" cy="2169914"/>
          </a:xfrm>
          <a:prstGeom prst="rect">
            <a:avLst/>
          </a:prstGeom>
          <a:solidFill>
            <a:srgbClr val="334155"/>
          </a:solidFill>
          <a:ln/>
        </p:spPr>
      </p:sp>
      <p:sp>
        <p:nvSpPr>
          <p:cNvPr id="33" name="Shape 26"/>
          <p:cNvSpPr/>
          <p:nvPr/>
        </p:nvSpPr>
        <p:spPr>
          <a:xfrm>
            <a:off x="7417557" y="1196578"/>
            <a:ext cx="285750" cy="285750"/>
          </a:xfrm>
          <a:prstGeom prst="ellipse">
            <a:avLst/>
          </a:prstGeom>
          <a:solidFill>
            <a:srgbClr val="1E293B"/>
          </a:solidFill>
          <a:ln w="18288">
            <a:solidFill>
              <a:srgbClr val="10B981"/>
            </a:solidFill>
            <a:prstDash val="solid"/>
          </a:ln>
        </p:spPr>
      </p:sp>
      <p:sp>
        <p:nvSpPr>
          <p:cNvPr id="34" name="Text 27"/>
          <p:cNvSpPr/>
          <p:nvPr/>
        </p:nvSpPr>
        <p:spPr>
          <a:xfrm>
            <a:off x="7417557" y="1196578"/>
            <a:ext cx="285750" cy="285750"/>
          </a:xfrm>
          <a:prstGeom prst="rect">
            <a:avLst/>
          </a:prstGeom>
          <a:noFill/>
          <a:ln/>
        </p:spPr>
        <p:txBody>
          <a:bodyPr wrap="square" lIns="0" tIns="0" rIns="0" bIns="0" rtlCol="0" anchor="ctr">
            <a:spAutoFit/>
          </a:bodyPr>
          <a:lstStyle/>
          <a:p>
            <a:pPr algn="ctr" indent="0" marL="0">
              <a:lnSpc>
                <a:spcPts val="1200"/>
              </a:lnSpc>
              <a:buNone/>
            </a:pPr>
            <a:r>
              <a:rPr lang="en-US" sz="885" b="1" dirty="0">
                <a:solidFill>
                  <a:srgbClr val="10B981"/>
                </a:solidFill>
                <a:latin typeface="Roboto Mono" pitchFamily="34" charset="0"/>
                <a:ea typeface="Roboto Mono" pitchFamily="34" charset="-122"/>
                <a:cs typeface="Roboto Mono" pitchFamily="34" charset="-120"/>
              </a:rPr>
              <a:t>3</a:t>
            </a:r>
            <a:endParaRPr lang="en-US" sz="885" dirty="0"/>
          </a:p>
        </p:txBody>
      </p:sp>
      <p:pic>
        <p:nvPicPr>
          <p:cNvPr id="35" name="Image 5" descr="preencoded.png">    </p:cNvPr>
          <p:cNvPicPr>
            <a:picLocks noChangeAspect="1"/>
          </p:cNvPicPr>
          <p:nvPr/>
        </p:nvPicPr>
        <p:blipFill>
          <a:blip r:embed="rId6"/>
          <a:stretch>
            <a:fillRect/>
          </a:stretch>
        </p:blipFill>
        <p:spPr>
          <a:xfrm>
            <a:off x="7388982" y="1714500"/>
            <a:ext cx="342900" cy="342900"/>
          </a:xfrm>
          <a:prstGeom prst="rect">
            <a:avLst/>
          </a:prstGeom>
        </p:spPr>
      </p:pic>
      <p:sp>
        <p:nvSpPr>
          <p:cNvPr id="36" name="Text 28"/>
          <p:cNvSpPr/>
          <p:nvPr/>
        </p:nvSpPr>
        <p:spPr>
          <a:xfrm>
            <a:off x="6831769" y="2269927"/>
            <a:ext cx="1457325" cy="189309"/>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F8FAFC"/>
                </a:solidFill>
                <a:latin typeface="Roboto Mono" pitchFamily="34" charset="0"/>
                <a:ea typeface="Roboto Mono" pitchFamily="34" charset="-122"/>
                <a:cs typeface="Roboto Mono" pitchFamily="34" charset="-120"/>
              </a:rPr>
              <a:t>Run the Optimizer</a:t>
            </a:r>
            <a:endParaRPr lang="en-US" sz="987" dirty="0"/>
          </a:p>
        </p:txBody>
      </p:sp>
      <p:sp>
        <p:nvSpPr>
          <p:cNvPr id="37" name="Text 29"/>
          <p:cNvSpPr/>
          <p:nvPr/>
        </p:nvSpPr>
        <p:spPr>
          <a:xfrm>
            <a:off x="6619856" y="2573536"/>
            <a:ext cx="1881178" cy="685800"/>
          </a:xfrm>
          <a:prstGeom prst="rect">
            <a:avLst/>
          </a:prstGeom>
          <a:noFill/>
          <a:ln/>
        </p:spPr>
        <p:txBody>
          <a:bodyPr wrap="square" lIns="0" tIns="0" rIns="0" bIns="0" rtlCol="0" anchor="t">
            <a:spAutoFit/>
          </a:bodyPr>
          <a:lstStyle/>
          <a:p>
            <a:pPr algn="ctr" indent="0" marL="0">
              <a:lnSpc>
                <a:spcPts val="1400"/>
              </a:lnSpc>
              <a:buNone/>
            </a:pPr>
            <a:r>
              <a:rPr lang="en-US" sz="834" dirty="0">
                <a:solidFill>
                  <a:srgbClr val="94A3B8"/>
                </a:solidFill>
                <a:latin typeface="Roboto" pitchFamily="34" charset="0"/>
                <a:ea typeface="Roboto" pitchFamily="34" charset="-122"/>
                <a:cs typeface="Roboto" pitchFamily="34" charset="-120"/>
              </a:rPr>
              <a:t>The AI engine solves the scheduling problem and returns a mathematically optimal weekly plan — typically in under 5 seconds.</a:t>
            </a:r>
            <a:endParaRPr lang="en-US" sz="834" dirty="0"/>
          </a:p>
        </p:txBody>
      </p:sp>
      <p:sp>
        <p:nvSpPr>
          <p:cNvPr id="38" name="Text 30"/>
          <p:cNvSpPr/>
          <p:nvPr/>
        </p:nvSpPr>
        <p:spPr>
          <a:xfrm>
            <a:off x="428625" y="4816673"/>
            <a:ext cx="8286750" cy="112514"/>
          </a:xfrm>
          <a:prstGeom prst="rect">
            <a:avLst/>
          </a:prstGeom>
          <a:noFill/>
          <a:ln/>
        </p:spPr>
        <p:txBody>
          <a:bodyPr wrap="none" lIns="0" tIns="0" rIns="0" bIns="0" rtlCol="0" anchor="t">
            <a:spAutoFit/>
          </a:bodyPr>
          <a:lstStyle/>
          <a:p>
            <a:pPr algn="r" indent="0" marL="0">
              <a:lnSpc>
                <a:spcPts val="800"/>
              </a:lnSpc>
              <a:buNone/>
            </a:pPr>
            <a:r>
              <a:rPr lang="en-US" sz="621" dirty="0">
                <a:solidFill>
                  <a:srgbClr val="475569"/>
                </a:solidFill>
                <a:latin typeface="Roboto Mono" pitchFamily="34" charset="0"/>
                <a:ea typeface="Roboto Mono" pitchFamily="34" charset="-122"/>
                <a:cs typeface="Roboto Mono" pitchFamily="34" charset="-120"/>
              </a:rPr>
              <a:t>CONFIDENTIAL | INTERNAL DEMO | 2026</a:t>
            </a:r>
            <a:endParaRPr lang="en-US" sz="62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28625" y="285750"/>
            <a:ext cx="8286750" cy="717947"/>
          </a:xfrm>
          <a:prstGeom prst="rect">
            <a:avLst/>
          </a:prstGeom>
          <a:solidFill>
            <a:srgbClr val="000000">
              <a:alpha val="0"/>
            </a:srgbClr>
          </a:solidFill>
          <a:ln/>
        </p:spPr>
      </p:sp>
      <p:sp>
        <p:nvSpPr>
          <p:cNvPr id="4" name="Shape 1"/>
          <p:cNvSpPr/>
          <p:nvPr/>
        </p:nvSpPr>
        <p:spPr>
          <a:xfrm>
            <a:off x="428625" y="996553"/>
            <a:ext cx="8286750" cy="7144"/>
          </a:xfrm>
          <a:prstGeom prst="rect">
            <a:avLst/>
          </a:prstGeom>
          <a:solidFill>
            <a:srgbClr val="334155"/>
          </a:solidFill>
          <a:ln/>
        </p:spPr>
      </p:sp>
      <p:sp>
        <p:nvSpPr>
          <p:cNvPr id="5" name="Text 2"/>
          <p:cNvSpPr/>
          <p:nvPr/>
        </p:nvSpPr>
        <p:spPr>
          <a:xfrm>
            <a:off x="428625" y="285750"/>
            <a:ext cx="8286750" cy="603647"/>
          </a:xfrm>
          <a:prstGeom prst="rect">
            <a:avLst/>
          </a:prstGeom>
          <a:noFill/>
          <a:ln/>
        </p:spPr>
        <p:txBody>
          <a:bodyPr wrap="square" lIns="0" tIns="0" rIns="0" bIns="0" rtlCol="0" anchor="t">
            <a:spAutoFit/>
          </a:bodyPr>
          <a:lstStyle/>
          <a:p>
            <a:pPr algn="l" indent="0" marL="0">
              <a:lnSpc>
                <a:spcPts val="2200"/>
              </a:lnSpc>
              <a:buNone/>
            </a:pPr>
            <a:r>
              <a:rPr lang="en-US" sz="1602" b="1" dirty="0">
                <a:solidFill>
                  <a:srgbClr val="F8FAFC"/>
                </a:solidFill>
                <a:latin typeface="Roboto Mono" pitchFamily="34" charset="0"/>
                <a:ea typeface="Roboto Mono" pitchFamily="34" charset="-122"/>
                <a:cs typeface="Roboto Mono" pitchFamily="34" charset="-120"/>
              </a:rPr>
              <a:t>A Planner-Friendly Interface — No Technical Expertise Required</a:t>
            </a:r>
            <a:endParaRPr lang="en-US" sz="1602" dirty="0"/>
          </a:p>
        </p:txBody>
      </p:sp>
      <p:sp>
        <p:nvSpPr>
          <p:cNvPr id="6" name="Shape 3"/>
          <p:cNvSpPr/>
          <p:nvPr/>
        </p:nvSpPr>
        <p:spPr>
          <a:xfrm>
            <a:off x="1357313" y="1210866"/>
            <a:ext cx="6429375" cy="3571875"/>
          </a:xfrm>
          <a:prstGeom prst="rect">
            <a:avLst/>
          </a:prstGeom>
          <a:solidFill>
            <a:srgbClr val="0F1117"/>
          </a:solidFill>
          <a:ln w="9144">
            <a:solidFill>
              <a:srgbClr val="334155"/>
            </a:solidFill>
            <a:prstDash val="solid"/>
          </a:ln>
        </p:spPr>
      </p:sp>
      <p:pic>
        <p:nvPicPr>
          <p:cNvPr id="7" name="Image 1" descr="preencoded.png">    </p:cNvPr>
          <p:cNvPicPr>
            <a:picLocks noChangeAspect="1"/>
          </p:cNvPicPr>
          <p:nvPr/>
        </p:nvPicPr>
        <p:blipFill>
          <a:blip r:embed="rId2"/>
          <a:stretch>
            <a:fillRect/>
          </a:stretch>
        </p:blipFill>
        <p:spPr>
          <a:xfrm>
            <a:off x="1357313" y="1210866"/>
            <a:ext cx="6429375" cy="3571875"/>
          </a:xfrm>
          <a:prstGeom prst="rect">
            <a:avLst/>
          </a:prstGeom>
        </p:spPr>
      </p:pic>
      <p:sp>
        <p:nvSpPr>
          <p:cNvPr id="8" name="Shape 4"/>
          <p:cNvSpPr/>
          <p:nvPr/>
        </p:nvSpPr>
        <p:spPr>
          <a:xfrm>
            <a:off x="2428875" y="1782366"/>
            <a:ext cx="228600" cy="228600"/>
          </a:xfrm>
          <a:prstGeom prst="ellipse">
            <a:avLst/>
          </a:prstGeom>
          <a:solidFill>
            <a:srgbClr val="3B82F6"/>
          </a:solidFill>
          <a:ln/>
        </p:spPr>
      </p:sp>
      <p:sp>
        <p:nvSpPr>
          <p:cNvPr id="9" name="Text 5"/>
          <p:cNvSpPr/>
          <p:nvPr/>
        </p:nvSpPr>
        <p:spPr>
          <a:xfrm>
            <a:off x="2428875" y="1782366"/>
            <a:ext cx="228600" cy="228600"/>
          </a:xfrm>
          <a:prstGeom prst="rect">
            <a:avLst/>
          </a:prstGeom>
          <a:noFill/>
          <a:ln/>
        </p:spPr>
        <p:txBody>
          <a:bodyPr wrap="square" lIns="0" tIns="0" rIns="0" bIns="0" rtlCol="0" anchor="ctr">
            <a:spAutoFit/>
          </a:bodyPr>
          <a:lstStyle/>
          <a:p>
            <a:pPr algn="ctr" indent="0" marL="0">
              <a:lnSpc>
                <a:spcPts val="1100"/>
              </a:lnSpc>
              <a:buNone/>
            </a:pPr>
            <a:r>
              <a:rPr lang="en-US" sz="784" b="1" dirty="0">
                <a:solidFill>
                  <a:srgbClr val="FFFFFF"/>
                </a:solidFill>
                <a:latin typeface="Roboto Mono" pitchFamily="34" charset="0"/>
                <a:ea typeface="Roboto Mono" pitchFamily="34" charset="-122"/>
                <a:cs typeface="Roboto Mono" pitchFamily="34" charset="-120"/>
              </a:rPr>
              <a:t>1</a:t>
            </a:r>
            <a:endParaRPr lang="en-US" sz="784" dirty="0"/>
          </a:p>
        </p:txBody>
      </p:sp>
      <p:sp>
        <p:nvSpPr>
          <p:cNvPr id="10" name="Shape 6"/>
          <p:cNvSpPr/>
          <p:nvPr/>
        </p:nvSpPr>
        <p:spPr>
          <a:xfrm>
            <a:off x="2428875" y="3696891"/>
            <a:ext cx="228600" cy="228600"/>
          </a:xfrm>
          <a:prstGeom prst="ellipse">
            <a:avLst/>
          </a:prstGeom>
          <a:solidFill>
            <a:srgbClr val="3B82F6"/>
          </a:solidFill>
          <a:ln/>
        </p:spPr>
      </p:sp>
      <p:sp>
        <p:nvSpPr>
          <p:cNvPr id="11" name="Text 7"/>
          <p:cNvSpPr/>
          <p:nvPr/>
        </p:nvSpPr>
        <p:spPr>
          <a:xfrm>
            <a:off x="2428875" y="3696891"/>
            <a:ext cx="228600" cy="228600"/>
          </a:xfrm>
          <a:prstGeom prst="rect">
            <a:avLst/>
          </a:prstGeom>
          <a:noFill/>
          <a:ln/>
        </p:spPr>
        <p:txBody>
          <a:bodyPr wrap="square" lIns="0" tIns="0" rIns="0" bIns="0" rtlCol="0" anchor="ctr">
            <a:spAutoFit/>
          </a:bodyPr>
          <a:lstStyle/>
          <a:p>
            <a:pPr algn="ctr" indent="0" marL="0">
              <a:lnSpc>
                <a:spcPts val="1100"/>
              </a:lnSpc>
              <a:buNone/>
            </a:pPr>
            <a:r>
              <a:rPr lang="en-US" sz="784" b="1" dirty="0">
                <a:solidFill>
                  <a:srgbClr val="FFFFFF"/>
                </a:solidFill>
                <a:latin typeface="Roboto Mono" pitchFamily="34" charset="0"/>
                <a:ea typeface="Roboto Mono" pitchFamily="34" charset="-122"/>
                <a:cs typeface="Roboto Mono" pitchFamily="34" charset="-120"/>
              </a:rPr>
              <a:t>2</a:t>
            </a:r>
            <a:endParaRPr lang="en-US" sz="784" dirty="0"/>
          </a:p>
        </p:txBody>
      </p:sp>
      <p:sp>
        <p:nvSpPr>
          <p:cNvPr id="12" name="Shape 8"/>
          <p:cNvSpPr/>
          <p:nvPr/>
        </p:nvSpPr>
        <p:spPr>
          <a:xfrm>
            <a:off x="2428875" y="4268391"/>
            <a:ext cx="228600" cy="228600"/>
          </a:xfrm>
          <a:prstGeom prst="ellipse">
            <a:avLst/>
          </a:prstGeom>
          <a:solidFill>
            <a:srgbClr val="3B82F6"/>
          </a:solidFill>
          <a:ln/>
        </p:spPr>
      </p:sp>
      <p:sp>
        <p:nvSpPr>
          <p:cNvPr id="13" name="Text 9"/>
          <p:cNvSpPr/>
          <p:nvPr/>
        </p:nvSpPr>
        <p:spPr>
          <a:xfrm>
            <a:off x="2428875" y="4268391"/>
            <a:ext cx="228600" cy="228600"/>
          </a:xfrm>
          <a:prstGeom prst="rect">
            <a:avLst/>
          </a:prstGeom>
          <a:noFill/>
          <a:ln/>
        </p:spPr>
        <p:txBody>
          <a:bodyPr wrap="square" lIns="0" tIns="0" rIns="0" bIns="0" rtlCol="0" anchor="ctr">
            <a:spAutoFit/>
          </a:bodyPr>
          <a:lstStyle/>
          <a:p>
            <a:pPr algn="ctr" indent="0" marL="0">
              <a:lnSpc>
                <a:spcPts val="1100"/>
              </a:lnSpc>
              <a:buNone/>
            </a:pPr>
            <a:r>
              <a:rPr lang="en-US" sz="784" b="1" dirty="0">
                <a:solidFill>
                  <a:srgbClr val="FFFFFF"/>
                </a:solidFill>
                <a:latin typeface="Roboto Mono" pitchFamily="34" charset="0"/>
                <a:ea typeface="Roboto Mono" pitchFamily="34" charset="-122"/>
                <a:cs typeface="Roboto Mono" pitchFamily="34" charset="-120"/>
              </a:rPr>
              <a:t>3</a:t>
            </a:r>
            <a:endParaRPr lang="en-US" sz="784" dirty="0"/>
          </a:p>
        </p:txBody>
      </p:sp>
      <p:sp>
        <p:nvSpPr>
          <p:cNvPr id="14" name="Shape 10"/>
          <p:cNvSpPr/>
          <p:nvPr/>
        </p:nvSpPr>
        <p:spPr>
          <a:xfrm>
            <a:off x="6129338" y="2639616"/>
            <a:ext cx="228600" cy="228600"/>
          </a:xfrm>
          <a:prstGeom prst="ellipse">
            <a:avLst/>
          </a:prstGeom>
          <a:solidFill>
            <a:srgbClr val="3B82F6"/>
          </a:solidFill>
          <a:ln/>
        </p:spPr>
      </p:sp>
      <p:sp>
        <p:nvSpPr>
          <p:cNvPr id="15" name="Text 11"/>
          <p:cNvSpPr/>
          <p:nvPr/>
        </p:nvSpPr>
        <p:spPr>
          <a:xfrm>
            <a:off x="6129338" y="2639616"/>
            <a:ext cx="228600" cy="228600"/>
          </a:xfrm>
          <a:prstGeom prst="rect">
            <a:avLst/>
          </a:prstGeom>
          <a:noFill/>
          <a:ln/>
        </p:spPr>
        <p:txBody>
          <a:bodyPr wrap="square" lIns="0" tIns="0" rIns="0" bIns="0" rtlCol="0" anchor="ctr">
            <a:spAutoFit/>
          </a:bodyPr>
          <a:lstStyle/>
          <a:p>
            <a:pPr algn="ctr" indent="0" marL="0">
              <a:lnSpc>
                <a:spcPts val="1100"/>
              </a:lnSpc>
              <a:buNone/>
            </a:pPr>
            <a:r>
              <a:rPr lang="en-US" sz="784" b="1" dirty="0">
                <a:solidFill>
                  <a:srgbClr val="FFFFFF"/>
                </a:solidFill>
                <a:latin typeface="Roboto Mono" pitchFamily="34" charset="0"/>
                <a:ea typeface="Roboto Mono" pitchFamily="34" charset="-122"/>
                <a:cs typeface="Roboto Mono" pitchFamily="34" charset="-120"/>
              </a:rPr>
              <a:t>4</a:t>
            </a:r>
            <a:endParaRPr lang="en-US" sz="784" dirty="0"/>
          </a:p>
        </p:txBody>
      </p:sp>
      <p:sp>
        <p:nvSpPr>
          <p:cNvPr id="16" name="Shape 12"/>
          <p:cNvSpPr/>
          <p:nvPr/>
        </p:nvSpPr>
        <p:spPr>
          <a:xfrm>
            <a:off x="285750" y="1000125"/>
            <a:ext cx="1857375" cy="580039"/>
          </a:xfrm>
          <a:prstGeom prst="rect">
            <a:avLst/>
          </a:prstGeom>
          <a:solidFill>
            <a:srgbClr val="1E293B">
              <a:alpha val="95000"/>
            </a:srgbClr>
          </a:solidFill>
          <a:ln w="9144">
            <a:solidFill>
              <a:srgbClr val="3B82F6"/>
            </a:solidFill>
            <a:prstDash val="solid"/>
          </a:ln>
        </p:spPr>
      </p:sp>
      <p:sp>
        <p:nvSpPr>
          <p:cNvPr id="17" name="Shape 13"/>
          <p:cNvSpPr/>
          <p:nvPr/>
        </p:nvSpPr>
        <p:spPr>
          <a:xfrm>
            <a:off x="400050" y="1085850"/>
            <a:ext cx="142875" cy="142875"/>
          </a:xfrm>
          <a:prstGeom prst="ellipse">
            <a:avLst/>
          </a:prstGeom>
          <a:solidFill>
            <a:srgbClr val="3B82F6"/>
          </a:solidFill>
          <a:ln/>
        </p:spPr>
      </p:sp>
      <p:sp>
        <p:nvSpPr>
          <p:cNvPr id="18" name="Text 14"/>
          <p:cNvSpPr/>
          <p:nvPr/>
        </p:nvSpPr>
        <p:spPr>
          <a:xfrm>
            <a:off x="400050" y="1085850"/>
            <a:ext cx="142875" cy="142875"/>
          </a:xfrm>
          <a:prstGeom prst="rect">
            <a:avLst/>
          </a:prstGeom>
          <a:noFill/>
          <a:ln/>
        </p:spPr>
        <p:txBody>
          <a:bodyPr wrap="none" lIns="0" tIns="0" rIns="0" bIns="0" rtlCol="0" anchor="ctr">
            <a:spAutoFit/>
          </a:bodyPr>
          <a:lstStyle/>
          <a:p>
            <a:pPr algn="ctr" indent="0" marL="0">
              <a:lnSpc>
                <a:spcPts val="800"/>
              </a:lnSpc>
              <a:buNone/>
            </a:pPr>
            <a:r>
              <a:rPr lang="en-US" sz="584" b="1" dirty="0">
                <a:solidFill>
                  <a:srgbClr val="FFFFFF"/>
                </a:solidFill>
                <a:latin typeface="Roboto Mono" pitchFamily="34" charset="0"/>
                <a:ea typeface="Roboto Mono" pitchFamily="34" charset="-122"/>
                <a:cs typeface="Roboto Mono" pitchFamily="34" charset="-120"/>
              </a:rPr>
              <a:t>1</a:t>
            </a:r>
            <a:endParaRPr lang="en-US" sz="584" dirty="0"/>
          </a:p>
        </p:txBody>
      </p:sp>
      <p:sp>
        <p:nvSpPr>
          <p:cNvPr id="19" name="Text 15"/>
          <p:cNvSpPr/>
          <p:nvPr/>
        </p:nvSpPr>
        <p:spPr>
          <a:xfrm>
            <a:off x="635794" y="1091208"/>
            <a:ext cx="1153716" cy="132159"/>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3B82F6"/>
                </a:solidFill>
                <a:latin typeface="Roboto Mono" pitchFamily="34" charset="0"/>
                <a:ea typeface="Roboto Mono" pitchFamily="34" charset="-122"/>
                <a:cs typeface="Roboto Mono" pitchFamily="34" charset="-120"/>
              </a:rPr>
              <a:t>Weekly Demand Table</a:t>
            </a:r>
            <a:endParaRPr lang="en-US" sz="683" dirty="0"/>
          </a:p>
        </p:txBody>
      </p:sp>
      <p:sp>
        <p:nvSpPr>
          <p:cNvPr id="20" name="Text 16"/>
          <p:cNvSpPr/>
          <p:nvPr/>
        </p:nvSpPr>
        <p:spPr>
          <a:xfrm>
            <a:off x="400050" y="1257300"/>
            <a:ext cx="1628775" cy="222852"/>
          </a:xfrm>
          <a:prstGeom prst="rect">
            <a:avLst/>
          </a:prstGeom>
          <a:noFill/>
          <a:ln/>
        </p:spPr>
        <p:txBody>
          <a:bodyPr wrap="square" lIns="0" tIns="0" rIns="0" bIns="0" rtlCol="0" anchor="t">
            <a:spAutoFit/>
          </a:bodyPr>
          <a:lstStyle/>
          <a:p>
            <a:pPr algn="l" indent="0" marL="0">
              <a:lnSpc>
                <a:spcPts val="900"/>
              </a:lnSpc>
              <a:buNone/>
            </a:pPr>
            <a:r>
              <a:rPr lang="en-US" sz="621" dirty="0">
                <a:solidFill>
                  <a:srgbClr val="CBD5E1"/>
                </a:solidFill>
                <a:latin typeface="Roboto" pitchFamily="34" charset="0"/>
                <a:ea typeface="Roboto" pitchFamily="34" charset="-122"/>
                <a:cs typeface="Roboto" pitchFamily="34" charset="-120"/>
              </a:rPr>
              <a:t>Editable grid: model, line, quantity. Add/remove rows instantly.</a:t>
            </a:r>
            <a:endParaRPr lang="en-US" sz="621" dirty="0"/>
          </a:p>
        </p:txBody>
      </p:sp>
      <p:sp>
        <p:nvSpPr>
          <p:cNvPr id="21" name="Shape 17"/>
          <p:cNvSpPr/>
          <p:nvPr/>
        </p:nvSpPr>
        <p:spPr>
          <a:xfrm>
            <a:off x="285750" y="2857500"/>
            <a:ext cx="1857375" cy="580039"/>
          </a:xfrm>
          <a:prstGeom prst="rect">
            <a:avLst/>
          </a:prstGeom>
          <a:solidFill>
            <a:srgbClr val="1E293B">
              <a:alpha val="95000"/>
            </a:srgbClr>
          </a:solidFill>
          <a:ln w="9144">
            <a:solidFill>
              <a:srgbClr val="3B82F6"/>
            </a:solidFill>
            <a:prstDash val="solid"/>
          </a:ln>
        </p:spPr>
      </p:sp>
      <p:sp>
        <p:nvSpPr>
          <p:cNvPr id="22" name="Shape 18"/>
          <p:cNvSpPr/>
          <p:nvPr/>
        </p:nvSpPr>
        <p:spPr>
          <a:xfrm>
            <a:off x="400050" y="2943225"/>
            <a:ext cx="142875" cy="142875"/>
          </a:xfrm>
          <a:prstGeom prst="ellipse">
            <a:avLst/>
          </a:prstGeom>
          <a:solidFill>
            <a:srgbClr val="3B82F6"/>
          </a:solidFill>
          <a:ln/>
        </p:spPr>
      </p:sp>
      <p:sp>
        <p:nvSpPr>
          <p:cNvPr id="23" name="Text 19"/>
          <p:cNvSpPr/>
          <p:nvPr/>
        </p:nvSpPr>
        <p:spPr>
          <a:xfrm>
            <a:off x="400050" y="2943225"/>
            <a:ext cx="142875" cy="142875"/>
          </a:xfrm>
          <a:prstGeom prst="rect">
            <a:avLst/>
          </a:prstGeom>
          <a:noFill/>
          <a:ln/>
        </p:spPr>
        <p:txBody>
          <a:bodyPr wrap="none" lIns="0" tIns="0" rIns="0" bIns="0" rtlCol="0" anchor="ctr">
            <a:spAutoFit/>
          </a:bodyPr>
          <a:lstStyle/>
          <a:p>
            <a:pPr algn="ctr" indent="0" marL="0">
              <a:lnSpc>
                <a:spcPts val="800"/>
              </a:lnSpc>
              <a:buNone/>
            </a:pPr>
            <a:r>
              <a:rPr lang="en-US" sz="584" b="1" dirty="0">
                <a:solidFill>
                  <a:srgbClr val="FFFFFF"/>
                </a:solidFill>
                <a:latin typeface="Roboto Mono" pitchFamily="34" charset="0"/>
                <a:ea typeface="Roboto Mono" pitchFamily="34" charset="-122"/>
                <a:cs typeface="Roboto Mono" pitchFamily="34" charset="-120"/>
              </a:rPr>
              <a:t>2</a:t>
            </a:r>
            <a:endParaRPr lang="en-US" sz="584" dirty="0"/>
          </a:p>
        </p:txBody>
      </p:sp>
      <p:sp>
        <p:nvSpPr>
          <p:cNvPr id="24" name="Text 20"/>
          <p:cNvSpPr/>
          <p:nvPr/>
        </p:nvSpPr>
        <p:spPr>
          <a:xfrm>
            <a:off x="635794" y="2948583"/>
            <a:ext cx="1032272" cy="132159"/>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3B82F6"/>
                </a:solidFill>
                <a:latin typeface="Roboto Mono" pitchFamily="34" charset="0"/>
                <a:ea typeface="Roboto Mono" pitchFamily="34" charset="-122"/>
                <a:cs typeface="Roboto Mono" pitchFamily="34" charset="-120"/>
              </a:rPr>
              <a:t>Solver Parameters</a:t>
            </a:r>
            <a:endParaRPr lang="en-US" sz="683" dirty="0"/>
          </a:p>
        </p:txBody>
      </p:sp>
      <p:sp>
        <p:nvSpPr>
          <p:cNvPr id="25" name="Text 21"/>
          <p:cNvSpPr/>
          <p:nvPr/>
        </p:nvSpPr>
        <p:spPr>
          <a:xfrm>
            <a:off x="400050" y="3114675"/>
            <a:ext cx="1628775" cy="222852"/>
          </a:xfrm>
          <a:prstGeom prst="rect">
            <a:avLst/>
          </a:prstGeom>
          <a:noFill/>
          <a:ln/>
        </p:spPr>
        <p:txBody>
          <a:bodyPr wrap="square" lIns="0" tIns="0" rIns="0" bIns="0" rtlCol="0" anchor="t">
            <a:spAutoFit/>
          </a:bodyPr>
          <a:lstStyle/>
          <a:p>
            <a:pPr algn="l" indent="0" marL="0">
              <a:lnSpc>
                <a:spcPts val="900"/>
              </a:lnSpc>
              <a:buNone/>
            </a:pPr>
            <a:r>
              <a:rPr lang="en-US" sz="621" dirty="0">
                <a:solidFill>
                  <a:srgbClr val="CBD5E1"/>
                </a:solidFill>
                <a:latin typeface="Roboto" pitchFamily="34" charset="0"/>
                <a:ea typeface="Roboto" pitchFamily="34" charset="-122"/>
                <a:cs typeface="Roboto" pitchFamily="34" charset="-120"/>
              </a:rPr>
              <a:t>Four sliders with live value display and plain-English descriptions.</a:t>
            </a:r>
            <a:endParaRPr lang="en-US" sz="621" dirty="0"/>
          </a:p>
        </p:txBody>
      </p:sp>
      <p:sp>
        <p:nvSpPr>
          <p:cNvPr id="26" name="Shape 22"/>
          <p:cNvSpPr/>
          <p:nvPr/>
        </p:nvSpPr>
        <p:spPr>
          <a:xfrm>
            <a:off x="285750" y="3714750"/>
            <a:ext cx="1857375" cy="580039"/>
          </a:xfrm>
          <a:prstGeom prst="rect">
            <a:avLst/>
          </a:prstGeom>
          <a:solidFill>
            <a:srgbClr val="1E293B">
              <a:alpha val="95000"/>
            </a:srgbClr>
          </a:solidFill>
          <a:ln w="9144">
            <a:solidFill>
              <a:srgbClr val="3B82F6"/>
            </a:solidFill>
            <a:prstDash val="solid"/>
          </a:ln>
        </p:spPr>
      </p:sp>
      <p:sp>
        <p:nvSpPr>
          <p:cNvPr id="27" name="Shape 23"/>
          <p:cNvSpPr/>
          <p:nvPr/>
        </p:nvSpPr>
        <p:spPr>
          <a:xfrm>
            <a:off x="400050" y="3800475"/>
            <a:ext cx="142875" cy="142875"/>
          </a:xfrm>
          <a:prstGeom prst="ellipse">
            <a:avLst/>
          </a:prstGeom>
          <a:solidFill>
            <a:srgbClr val="3B82F6"/>
          </a:solidFill>
          <a:ln/>
        </p:spPr>
      </p:sp>
      <p:sp>
        <p:nvSpPr>
          <p:cNvPr id="28" name="Text 24"/>
          <p:cNvSpPr/>
          <p:nvPr/>
        </p:nvSpPr>
        <p:spPr>
          <a:xfrm>
            <a:off x="400050" y="3800475"/>
            <a:ext cx="142875" cy="142875"/>
          </a:xfrm>
          <a:prstGeom prst="rect">
            <a:avLst/>
          </a:prstGeom>
          <a:noFill/>
          <a:ln/>
        </p:spPr>
        <p:txBody>
          <a:bodyPr wrap="none" lIns="0" tIns="0" rIns="0" bIns="0" rtlCol="0" anchor="ctr">
            <a:spAutoFit/>
          </a:bodyPr>
          <a:lstStyle/>
          <a:p>
            <a:pPr algn="ctr" indent="0" marL="0">
              <a:lnSpc>
                <a:spcPts val="800"/>
              </a:lnSpc>
              <a:buNone/>
            </a:pPr>
            <a:r>
              <a:rPr lang="en-US" sz="584" b="1" dirty="0">
                <a:solidFill>
                  <a:srgbClr val="FFFFFF"/>
                </a:solidFill>
                <a:latin typeface="Roboto Mono" pitchFamily="34" charset="0"/>
                <a:ea typeface="Roboto Mono" pitchFamily="34" charset="-122"/>
                <a:cs typeface="Roboto Mono" pitchFamily="34" charset="-120"/>
              </a:rPr>
              <a:t>3</a:t>
            </a:r>
            <a:endParaRPr lang="en-US" sz="584" dirty="0"/>
          </a:p>
        </p:txBody>
      </p:sp>
      <p:sp>
        <p:nvSpPr>
          <p:cNvPr id="29" name="Text 25"/>
          <p:cNvSpPr/>
          <p:nvPr/>
        </p:nvSpPr>
        <p:spPr>
          <a:xfrm>
            <a:off x="635794" y="3805833"/>
            <a:ext cx="789384" cy="132159"/>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3B82F6"/>
                </a:solidFill>
                <a:latin typeface="Roboto Mono" pitchFamily="34" charset="0"/>
                <a:ea typeface="Roboto Mono" pitchFamily="34" charset="-122"/>
                <a:cs typeface="Roboto Mono" pitchFamily="34" charset="-120"/>
              </a:rPr>
              <a:t>Run Optimizer</a:t>
            </a:r>
            <a:endParaRPr lang="en-US" sz="683" dirty="0"/>
          </a:p>
        </p:txBody>
      </p:sp>
      <p:sp>
        <p:nvSpPr>
          <p:cNvPr id="30" name="Text 26"/>
          <p:cNvSpPr/>
          <p:nvPr/>
        </p:nvSpPr>
        <p:spPr>
          <a:xfrm>
            <a:off x="400050" y="3971925"/>
            <a:ext cx="1628775" cy="222852"/>
          </a:xfrm>
          <a:prstGeom prst="rect">
            <a:avLst/>
          </a:prstGeom>
          <a:noFill/>
          <a:ln/>
        </p:spPr>
        <p:txBody>
          <a:bodyPr wrap="square" lIns="0" tIns="0" rIns="0" bIns="0" rtlCol="0" anchor="t">
            <a:spAutoFit/>
          </a:bodyPr>
          <a:lstStyle/>
          <a:p>
            <a:pPr algn="l" indent="0" marL="0">
              <a:lnSpc>
                <a:spcPts val="900"/>
              </a:lnSpc>
              <a:buNone/>
            </a:pPr>
            <a:r>
              <a:rPr lang="en-US" sz="621" dirty="0">
                <a:solidFill>
                  <a:srgbClr val="CBD5E1"/>
                </a:solidFill>
                <a:latin typeface="Roboto" pitchFamily="34" charset="0"/>
                <a:ea typeface="Roboto" pitchFamily="34" charset="-122"/>
                <a:cs typeface="Roboto" pitchFamily="34" charset="-120"/>
              </a:rPr>
              <a:t>Single button triggers the AI engine. Status updates in real time.</a:t>
            </a:r>
            <a:endParaRPr lang="en-US" sz="621" dirty="0"/>
          </a:p>
        </p:txBody>
      </p:sp>
      <p:sp>
        <p:nvSpPr>
          <p:cNvPr id="31" name="Shape 27"/>
          <p:cNvSpPr/>
          <p:nvPr/>
        </p:nvSpPr>
        <p:spPr>
          <a:xfrm>
            <a:off x="7000875" y="1785938"/>
            <a:ext cx="1857375" cy="580039"/>
          </a:xfrm>
          <a:prstGeom prst="rect">
            <a:avLst/>
          </a:prstGeom>
          <a:solidFill>
            <a:srgbClr val="1E293B">
              <a:alpha val="95000"/>
            </a:srgbClr>
          </a:solidFill>
          <a:ln w="9144">
            <a:solidFill>
              <a:srgbClr val="3B82F6"/>
            </a:solidFill>
            <a:prstDash val="solid"/>
          </a:ln>
        </p:spPr>
      </p:sp>
      <p:sp>
        <p:nvSpPr>
          <p:cNvPr id="32" name="Shape 28"/>
          <p:cNvSpPr/>
          <p:nvPr/>
        </p:nvSpPr>
        <p:spPr>
          <a:xfrm>
            <a:off x="7115175" y="1871663"/>
            <a:ext cx="142875" cy="142875"/>
          </a:xfrm>
          <a:prstGeom prst="ellipse">
            <a:avLst/>
          </a:prstGeom>
          <a:solidFill>
            <a:srgbClr val="3B82F6"/>
          </a:solidFill>
          <a:ln/>
        </p:spPr>
      </p:sp>
      <p:sp>
        <p:nvSpPr>
          <p:cNvPr id="33" name="Text 29"/>
          <p:cNvSpPr/>
          <p:nvPr/>
        </p:nvSpPr>
        <p:spPr>
          <a:xfrm>
            <a:off x="7115175" y="1871663"/>
            <a:ext cx="142875" cy="142875"/>
          </a:xfrm>
          <a:prstGeom prst="rect">
            <a:avLst/>
          </a:prstGeom>
          <a:noFill/>
          <a:ln/>
        </p:spPr>
        <p:txBody>
          <a:bodyPr wrap="none" lIns="0" tIns="0" rIns="0" bIns="0" rtlCol="0" anchor="ctr">
            <a:spAutoFit/>
          </a:bodyPr>
          <a:lstStyle/>
          <a:p>
            <a:pPr algn="ctr" indent="0" marL="0">
              <a:lnSpc>
                <a:spcPts val="800"/>
              </a:lnSpc>
              <a:buNone/>
            </a:pPr>
            <a:r>
              <a:rPr lang="en-US" sz="584" b="1" dirty="0">
                <a:solidFill>
                  <a:srgbClr val="FFFFFF"/>
                </a:solidFill>
                <a:latin typeface="Roboto Mono" pitchFamily="34" charset="0"/>
                <a:ea typeface="Roboto Mono" pitchFamily="34" charset="-122"/>
                <a:cs typeface="Roboto Mono" pitchFamily="34" charset="-120"/>
              </a:rPr>
              <a:t>4</a:t>
            </a:r>
            <a:endParaRPr lang="en-US" sz="584" dirty="0"/>
          </a:p>
        </p:txBody>
      </p:sp>
      <p:sp>
        <p:nvSpPr>
          <p:cNvPr id="34" name="Text 30"/>
          <p:cNvSpPr/>
          <p:nvPr/>
        </p:nvSpPr>
        <p:spPr>
          <a:xfrm>
            <a:off x="7350919" y="1877020"/>
            <a:ext cx="1032272" cy="132159"/>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3B82F6"/>
                </a:solidFill>
                <a:latin typeface="Roboto Mono" pitchFamily="34" charset="0"/>
                <a:ea typeface="Roboto Mono" pitchFamily="34" charset="-122"/>
                <a:cs typeface="Roboto Mono" pitchFamily="34" charset="-120"/>
              </a:rPr>
              <a:t>Results Dashboard</a:t>
            </a:r>
            <a:endParaRPr lang="en-US" sz="683" dirty="0"/>
          </a:p>
        </p:txBody>
      </p:sp>
      <p:sp>
        <p:nvSpPr>
          <p:cNvPr id="35" name="Text 31"/>
          <p:cNvSpPr/>
          <p:nvPr/>
        </p:nvSpPr>
        <p:spPr>
          <a:xfrm>
            <a:off x="7115175" y="2043113"/>
            <a:ext cx="1628775" cy="222852"/>
          </a:xfrm>
          <a:prstGeom prst="rect">
            <a:avLst/>
          </a:prstGeom>
          <a:noFill/>
          <a:ln/>
        </p:spPr>
        <p:txBody>
          <a:bodyPr wrap="square" lIns="0" tIns="0" rIns="0" bIns="0" rtlCol="0" anchor="t">
            <a:spAutoFit/>
          </a:bodyPr>
          <a:lstStyle/>
          <a:p>
            <a:pPr algn="l" indent="0" marL="0">
              <a:lnSpc>
                <a:spcPts val="900"/>
              </a:lnSpc>
              <a:buNone/>
            </a:pPr>
            <a:r>
              <a:rPr lang="en-US" sz="621" dirty="0">
                <a:solidFill>
                  <a:srgbClr val="CBD5E1"/>
                </a:solidFill>
                <a:latin typeface="Roboto" pitchFamily="34" charset="0"/>
                <a:ea typeface="Roboto" pitchFamily="34" charset="-122"/>
                <a:cs typeface="Roboto" pitchFamily="34" charset="-120"/>
              </a:rPr>
              <a:t>KPI cards, charts, heatmap, and detail table animate in upon completion.</a:t>
            </a:r>
            <a:endParaRPr lang="en-US" sz="621" dirty="0"/>
          </a:p>
        </p:txBody>
      </p:sp>
      <p:sp>
        <p:nvSpPr>
          <p:cNvPr id="36" name="Text 32"/>
          <p:cNvSpPr/>
          <p:nvPr/>
        </p:nvSpPr>
        <p:spPr>
          <a:xfrm>
            <a:off x="0" y="4925616"/>
            <a:ext cx="9144000" cy="117872"/>
          </a:xfrm>
          <a:prstGeom prst="rect">
            <a:avLst/>
          </a:prstGeom>
          <a:noFill/>
          <a:ln/>
        </p:spPr>
        <p:txBody>
          <a:bodyPr wrap="none" lIns="0" tIns="0" rIns="0" bIns="0" rtlCol="0" anchor="t">
            <a:spAutoFit/>
          </a:bodyPr>
          <a:lstStyle/>
          <a:p>
            <a:pPr algn="ctr" indent="0" marL="0">
              <a:lnSpc>
                <a:spcPts val="900"/>
              </a:lnSpc>
              <a:buNone/>
            </a:pPr>
            <a:r>
              <a:rPr lang="en-US" sz="727" i="1" dirty="0">
                <a:solidFill>
                  <a:srgbClr val="94A3B8"/>
                </a:solidFill>
                <a:latin typeface="Roboto" pitchFamily="34" charset="0"/>
                <a:ea typeface="Roboto" pitchFamily="34" charset="-122"/>
                <a:cs typeface="Roboto" pitchFamily="34" charset="-120"/>
              </a:rPr>
              <a:t>The entire interface is operated through a standard web browser. No installation, no training required beyond a 10-minute onboarding session.</a:t>
            </a:r>
            <a:endParaRPr lang="en-US" sz="727" dirty="0"/>
          </a:p>
        </p:txBody>
      </p:sp>
      <p:sp>
        <p:nvSpPr>
          <p:cNvPr id="37" name="Text 33"/>
          <p:cNvSpPr/>
          <p:nvPr/>
        </p:nvSpPr>
        <p:spPr>
          <a:xfrm>
            <a:off x="6902648" y="4888111"/>
            <a:ext cx="1812727" cy="112514"/>
          </a:xfrm>
          <a:prstGeom prst="rect">
            <a:avLst/>
          </a:prstGeom>
          <a:noFill/>
          <a:ln/>
        </p:spPr>
        <p:txBody>
          <a:bodyPr wrap="none" lIns="0" tIns="0" rIns="0" bIns="0" rtlCol="0" anchor="t">
            <a:spAutoFit/>
          </a:bodyPr>
          <a:lstStyle/>
          <a:p>
            <a:pPr algn="l" indent="0" marL="0">
              <a:lnSpc>
                <a:spcPts val="800"/>
              </a:lnSpc>
              <a:buNone/>
            </a:pPr>
            <a:r>
              <a:rPr lang="en-US" sz="621" dirty="0">
                <a:solidFill>
                  <a:srgbClr val="475569"/>
                </a:solidFill>
                <a:latin typeface="Roboto Mono" pitchFamily="34" charset="0"/>
                <a:ea typeface="Roboto Mono" pitchFamily="34" charset="-122"/>
                <a:cs typeface="Roboto Mono" pitchFamily="34" charset="-120"/>
              </a:rPr>
              <a:t>CONFIDENTIAL | INTERNAL DEMO | 2026</a:t>
            </a:r>
            <a:endParaRPr lang="en-US" sz="62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28625" y="428625"/>
            <a:ext cx="8286750" cy="660797"/>
          </a:xfrm>
          <a:prstGeom prst="rect">
            <a:avLst/>
          </a:prstGeom>
          <a:solidFill>
            <a:srgbClr val="000000">
              <a:alpha val="0"/>
            </a:srgbClr>
          </a:solidFill>
          <a:ln/>
        </p:spPr>
      </p:sp>
      <p:sp>
        <p:nvSpPr>
          <p:cNvPr id="4" name="Shape 1"/>
          <p:cNvSpPr/>
          <p:nvPr/>
        </p:nvSpPr>
        <p:spPr>
          <a:xfrm>
            <a:off x="428625" y="1082278"/>
            <a:ext cx="8286750" cy="7144"/>
          </a:xfrm>
          <a:prstGeom prst="rect">
            <a:avLst/>
          </a:prstGeom>
          <a:solidFill>
            <a:srgbClr val="334155"/>
          </a:solidFill>
          <a:ln/>
        </p:spPr>
      </p:sp>
      <p:sp>
        <p:nvSpPr>
          <p:cNvPr id="5" name="Text 2"/>
          <p:cNvSpPr/>
          <p:nvPr/>
        </p:nvSpPr>
        <p:spPr>
          <a:xfrm>
            <a:off x="428625" y="428625"/>
            <a:ext cx="8286750" cy="301823"/>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F8FAFC"/>
                </a:solidFill>
                <a:latin typeface="Roboto Mono" pitchFamily="34" charset="0"/>
                <a:ea typeface="Roboto Mono" pitchFamily="34" charset="-122"/>
                <a:cs typeface="Roboto Mono" pitchFamily="34" charset="-120"/>
              </a:rPr>
              <a:t>Business Policy, Not Code</a:t>
            </a:r>
            <a:endParaRPr lang="en-US" sz="1602" dirty="0"/>
          </a:p>
        </p:txBody>
      </p:sp>
      <p:sp>
        <p:nvSpPr>
          <p:cNvPr id="6" name="Text 3"/>
          <p:cNvSpPr/>
          <p:nvPr/>
        </p:nvSpPr>
        <p:spPr>
          <a:xfrm>
            <a:off x="428625" y="787598"/>
            <a:ext cx="8286750" cy="151805"/>
          </a:xfrm>
          <a:prstGeom prst="rect">
            <a:avLst/>
          </a:prstGeom>
          <a:noFill/>
          <a:ln/>
        </p:spPr>
        <p:txBody>
          <a:bodyPr wrap="none" lIns="0" tIns="0" rIns="0" bIns="0" rtlCol="0" anchor="t">
            <a:spAutoFit/>
          </a:bodyPr>
          <a:lstStyle/>
          <a:p>
            <a:pPr algn="l" indent="0" marL="0">
              <a:lnSpc>
                <a:spcPts val="1200"/>
              </a:lnSpc>
              <a:buNone/>
            </a:pPr>
            <a:r>
              <a:rPr lang="en-US" sz="942" dirty="0">
                <a:solidFill>
                  <a:srgbClr val="94A3B8"/>
                </a:solidFill>
                <a:latin typeface="Roboto" pitchFamily="34" charset="0"/>
                <a:ea typeface="Roboto" pitchFamily="34" charset="-122"/>
                <a:cs typeface="Roboto" pitchFamily="34" charset="-120"/>
              </a:rPr>
              <a:t>Four Levers That Encode Your Operations Strategy</a:t>
            </a:r>
            <a:endParaRPr lang="en-US" sz="942" dirty="0"/>
          </a:p>
        </p:txBody>
      </p:sp>
      <p:sp>
        <p:nvSpPr>
          <p:cNvPr id="7" name="Shape 4"/>
          <p:cNvSpPr/>
          <p:nvPr/>
        </p:nvSpPr>
        <p:spPr>
          <a:xfrm>
            <a:off x="428625" y="1368028"/>
            <a:ext cx="4036219" cy="1648420"/>
          </a:xfrm>
          <a:prstGeom prst="rect">
            <a:avLst/>
          </a:prstGeom>
          <a:solidFill>
            <a:srgbClr val="1E293B">
              <a:alpha val="60000"/>
            </a:srgbClr>
          </a:solidFill>
          <a:ln/>
        </p:spPr>
      </p:sp>
      <p:sp>
        <p:nvSpPr>
          <p:cNvPr id="8" name="Shape 5"/>
          <p:cNvSpPr/>
          <p:nvPr/>
        </p:nvSpPr>
        <p:spPr>
          <a:xfrm>
            <a:off x="428625" y="1368028"/>
            <a:ext cx="4036219" cy="21431"/>
          </a:xfrm>
          <a:prstGeom prst="rect">
            <a:avLst/>
          </a:prstGeom>
          <a:solidFill>
            <a:srgbClr val="3B82F6"/>
          </a:solidFill>
          <a:ln/>
        </p:spPr>
      </p:sp>
      <p:sp>
        <p:nvSpPr>
          <p:cNvPr id="9" name="Shape 6"/>
          <p:cNvSpPr/>
          <p:nvPr/>
        </p:nvSpPr>
        <p:spPr>
          <a:xfrm>
            <a:off x="4457700" y="1368028"/>
            <a:ext cx="7144" cy="1648420"/>
          </a:xfrm>
          <a:prstGeom prst="rect">
            <a:avLst/>
          </a:prstGeom>
          <a:solidFill>
            <a:srgbClr val="334155"/>
          </a:solidFill>
          <a:ln/>
        </p:spPr>
      </p:sp>
      <p:sp>
        <p:nvSpPr>
          <p:cNvPr id="10" name="Shape 7"/>
          <p:cNvSpPr/>
          <p:nvPr/>
        </p:nvSpPr>
        <p:spPr>
          <a:xfrm>
            <a:off x="428625" y="3009305"/>
            <a:ext cx="4036219" cy="7144"/>
          </a:xfrm>
          <a:prstGeom prst="rect">
            <a:avLst/>
          </a:prstGeom>
          <a:solidFill>
            <a:srgbClr val="334155"/>
          </a:solidFill>
          <a:ln/>
        </p:spPr>
      </p:sp>
      <p:sp>
        <p:nvSpPr>
          <p:cNvPr id="11" name="Shape 8"/>
          <p:cNvSpPr/>
          <p:nvPr/>
        </p:nvSpPr>
        <p:spPr>
          <a:xfrm>
            <a:off x="428625" y="1368028"/>
            <a:ext cx="7144" cy="1648420"/>
          </a:xfrm>
          <a:prstGeom prst="rect">
            <a:avLst/>
          </a:prstGeom>
          <a:solidFill>
            <a:srgbClr val="334155"/>
          </a:solidFill>
          <a:ln/>
        </p:spPr>
      </p:sp>
      <p:sp>
        <p:nvSpPr>
          <p:cNvPr id="12" name="Shape 9"/>
          <p:cNvSpPr/>
          <p:nvPr/>
        </p:nvSpPr>
        <p:spPr>
          <a:xfrm>
            <a:off x="600075" y="1539478"/>
            <a:ext cx="257175" cy="257175"/>
          </a:xfrm>
          <a:prstGeom prst="rect">
            <a:avLst/>
          </a:prstGeom>
          <a:solidFill>
            <a:srgbClr val="3B82F6"/>
          </a:solidFill>
          <a:ln/>
        </p:spPr>
      </p:sp>
      <p:sp>
        <p:nvSpPr>
          <p:cNvPr id="13" name="Text 10"/>
          <p:cNvSpPr/>
          <p:nvPr/>
        </p:nvSpPr>
        <p:spPr>
          <a:xfrm>
            <a:off x="600075" y="1539478"/>
            <a:ext cx="257175" cy="257175"/>
          </a:xfrm>
          <a:prstGeom prst="rect">
            <a:avLst/>
          </a:prstGeom>
          <a:noFill/>
          <a:ln/>
        </p:spPr>
        <p:txBody>
          <a:bodyPr wrap="square" lIns="0" tIns="0" rIns="0" bIns="0" rtlCol="0" anchor="ctr">
            <a:spAutoFit/>
          </a:bodyPr>
          <a:lstStyle/>
          <a:p>
            <a:pPr algn="ctr" indent="0" marL="0">
              <a:lnSpc>
                <a:spcPts val="1100"/>
              </a:lnSpc>
              <a:buNone/>
            </a:pPr>
            <a:r>
              <a:rPr lang="en-US" sz="784" b="1" dirty="0">
                <a:solidFill>
                  <a:srgbClr val="1E293B"/>
                </a:solidFill>
                <a:latin typeface="Roboto" pitchFamily="34" charset="0"/>
                <a:ea typeface="Roboto" pitchFamily="34" charset="-122"/>
                <a:cs typeface="Roboto" pitchFamily="34" charset="-120"/>
              </a:rPr>
              <a:t>α</a:t>
            </a:r>
            <a:endParaRPr lang="en-US" sz="784" dirty="0"/>
          </a:p>
        </p:txBody>
      </p:sp>
      <p:sp>
        <p:nvSpPr>
          <p:cNvPr id="14" name="Text 11"/>
          <p:cNvSpPr/>
          <p:nvPr/>
        </p:nvSpPr>
        <p:spPr>
          <a:xfrm>
            <a:off x="942975" y="1583234"/>
            <a:ext cx="1535906"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3B82F6"/>
                </a:solidFill>
                <a:latin typeface="Roboto Mono" pitchFamily="34" charset="0"/>
                <a:ea typeface="Roboto Mono" pitchFamily="34" charset="-122"/>
                <a:cs typeface="Roboto Mono" pitchFamily="34" charset="-120"/>
              </a:rPr>
              <a:t>Alpha: Model Balance</a:t>
            </a:r>
            <a:endParaRPr lang="en-US" sz="885" dirty="0"/>
          </a:p>
        </p:txBody>
      </p:sp>
      <p:sp>
        <p:nvSpPr>
          <p:cNvPr id="15" name="Text 12"/>
          <p:cNvSpPr/>
          <p:nvPr/>
        </p:nvSpPr>
        <p:spPr>
          <a:xfrm>
            <a:off x="600075" y="1910953"/>
            <a:ext cx="3693319" cy="344686"/>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CBD5E1"/>
                </a:solidFill>
                <a:latin typeface="Roboto" pitchFamily="34" charset="0"/>
                <a:ea typeface="Roboto" pitchFamily="34" charset="-122"/>
                <a:cs typeface="Roboto" pitchFamily="34" charset="-120"/>
              </a:rPr>
              <a:t>Controls how strictly production is leveled per model across the week. Higher values enforce near-perfect daily consistency for each product.</a:t>
            </a:r>
            <a:endParaRPr lang="en-US" sz="780" dirty="0"/>
          </a:p>
        </p:txBody>
      </p:sp>
      <p:sp>
        <p:nvSpPr>
          <p:cNvPr id="16" name="Shape 13"/>
          <p:cNvSpPr/>
          <p:nvPr/>
        </p:nvSpPr>
        <p:spPr>
          <a:xfrm>
            <a:off x="600075" y="2398514"/>
            <a:ext cx="3693319" cy="28575"/>
          </a:xfrm>
          <a:prstGeom prst="roundRect">
            <a:avLst/>
          </a:prstGeom>
          <a:solidFill>
            <a:srgbClr val="334155"/>
          </a:solidFill>
          <a:ln/>
        </p:spPr>
      </p:sp>
      <p:sp>
        <p:nvSpPr>
          <p:cNvPr id="17" name="Shape 14"/>
          <p:cNvSpPr/>
          <p:nvPr/>
        </p:nvSpPr>
        <p:spPr>
          <a:xfrm>
            <a:off x="600075" y="2541389"/>
            <a:ext cx="3693319" cy="298252"/>
          </a:xfrm>
          <a:prstGeom prst="rect">
            <a:avLst/>
          </a:prstGeom>
          <a:solidFill>
            <a:srgbClr val="0F172A">
              <a:alpha val="50000"/>
            </a:srgbClr>
          </a:solidFill>
          <a:ln/>
        </p:spPr>
      </p:sp>
      <p:sp>
        <p:nvSpPr>
          <p:cNvPr id="18" name="Text 15"/>
          <p:cNvSpPr/>
          <p:nvPr/>
        </p:nvSpPr>
        <p:spPr>
          <a:xfrm>
            <a:off x="600075" y="2541389"/>
            <a:ext cx="3693319" cy="298252"/>
          </a:xfrm>
          <a:prstGeom prst="rect">
            <a:avLst/>
          </a:prstGeom>
          <a:noFill/>
          <a:ln/>
        </p:spPr>
        <p:txBody>
          <a:bodyPr wrap="square" lIns="102108" tIns="102108" rIns="102108" bIns="102108" rtlCol="0" anchor="t">
            <a:spAutoFit/>
          </a:bodyPr>
          <a:lstStyle/>
          <a:p>
            <a:pPr algn="l" indent="0" marL="0">
              <a:lnSpc>
                <a:spcPts val="900"/>
              </a:lnSpc>
              <a:buNone/>
            </a:pPr>
            <a:r>
              <a:rPr lang="en-US" sz="674" dirty="0">
                <a:solidFill>
                  <a:srgbClr val="94A3B8"/>
                </a:solidFill>
                <a:latin typeface="Roboto Mono" pitchFamily="34" charset="0"/>
                <a:ea typeface="Roboto Mono" pitchFamily="34" charset="-122"/>
                <a:cs typeface="Roboto Mono" pitchFamily="34" charset="-120"/>
              </a:rPr>
              <a:t>Example: α=1 (flexible) → α=10 (strict daily leveling)</a:t>
            </a:r>
            <a:endParaRPr lang="en-US" sz="674" dirty="0"/>
          </a:p>
        </p:txBody>
      </p:sp>
      <p:sp>
        <p:nvSpPr>
          <p:cNvPr id="19" name="Shape 16"/>
          <p:cNvSpPr/>
          <p:nvPr/>
        </p:nvSpPr>
        <p:spPr>
          <a:xfrm>
            <a:off x="4679156" y="1368028"/>
            <a:ext cx="4036219" cy="1643063"/>
          </a:xfrm>
          <a:prstGeom prst="rect">
            <a:avLst/>
          </a:prstGeom>
          <a:solidFill>
            <a:srgbClr val="1E293B">
              <a:alpha val="60000"/>
            </a:srgbClr>
          </a:solidFill>
          <a:ln/>
        </p:spPr>
      </p:sp>
      <p:sp>
        <p:nvSpPr>
          <p:cNvPr id="20" name="Shape 17"/>
          <p:cNvSpPr/>
          <p:nvPr/>
        </p:nvSpPr>
        <p:spPr>
          <a:xfrm>
            <a:off x="4679156" y="1368028"/>
            <a:ext cx="4036219" cy="21431"/>
          </a:xfrm>
          <a:prstGeom prst="rect">
            <a:avLst/>
          </a:prstGeom>
          <a:solidFill>
            <a:srgbClr val="8B5CF6"/>
          </a:solidFill>
          <a:ln/>
        </p:spPr>
      </p:sp>
      <p:sp>
        <p:nvSpPr>
          <p:cNvPr id="21" name="Shape 18"/>
          <p:cNvSpPr/>
          <p:nvPr/>
        </p:nvSpPr>
        <p:spPr>
          <a:xfrm>
            <a:off x="8708231" y="1368028"/>
            <a:ext cx="7144" cy="1643063"/>
          </a:xfrm>
          <a:prstGeom prst="rect">
            <a:avLst/>
          </a:prstGeom>
          <a:solidFill>
            <a:srgbClr val="334155"/>
          </a:solidFill>
          <a:ln/>
        </p:spPr>
      </p:sp>
      <p:sp>
        <p:nvSpPr>
          <p:cNvPr id="22" name="Shape 19"/>
          <p:cNvSpPr/>
          <p:nvPr/>
        </p:nvSpPr>
        <p:spPr>
          <a:xfrm>
            <a:off x="4679156" y="3003947"/>
            <a:ext cx="4036219" cy="7144"/>
          </a:xfrm>
          <a:prstGeom prst="rect">
            <a:avLst/>
          </a:prstGeom>
          <a:solidFill>
            <a:srgbClr val="334155"/>
          </a:solidFill>
          <a:ln/>
        </p:spPr>
      </p:sp>
      <p:sp>
        <p:nvSpPr>
          <p:cNvPr id="23" name="Shape 20"/>
          <p:cNvSpPr/>
          <p:nvPr/>
        </p:nvSpPr>
        <p:spPr>
          <a:xfrm>
            <a:off x="4679156" y="1368028"/>
            <a:ext cx="7144" cy="1643063"/>
          </a:xfrm>
          <a:prstGeom prst="rect">
            <a:avLst/>
          </a:prstGeom>
          <a:solidFill>
            <a:srgbClr val="334155"/>
          </a:solidFill>
          <a:ln/>
        </p:spPr>
      </p:sp>
      <p:sp>
        <p:nvSpPr>
          <p:cNvPr id="24" name="Shape 21"/>
          <p:cNvSpPr/>
          <p:nvPr/>
        </p:nvSpPr>
        <p:spPr>
          <a:xfrm>
            <a:off x="4850606" y="1539478"/>
            <a:ext cx="257175" cy="257175"/>
          </a:xfrm>
          <a:prstGeom prst="rect">
            <a:avLst/>
          </a:prstGeom>
          <a:solidFill>
            <a:srgbClr val="8B5CF6"/>
          </a:solidFill>
          <a:ln/>
        </p:spPr>
      </p:sp>
      <p:sp>
        <p:nvSpPr>
          <p:cNvPr id="25" name="Text 22"/>
          <p:cNvSpPr/>
          <p:nvPr/>
        </p:nvSpPr>
        <p:spPr>
          <a:xfrm>
            <a:off x="4850606" y="1539478"/>
            <a:ext cx="257175" cy="257175"/>
          </a:xfrm>
          <a:prstGeom prst="rect">
            <a:avLst/>
          </a:prstGeom>
          <a:noFill/>
          <a:ln/>
        </p:spPr>
        <p:txBody>
          <a:bodyPr wrap="square" lIns="0" tIns="0" rIns="0" bIns="0" rtlCol="0" anchor="ctr">
            <a:spAutoFit/>
          </a:bodyPr>
          <a:lstStyle/>
          <a:p>
            <a:pPr algn="ctr" indent="0" marL="0">
              <a:lnSpc>
                <a:spcPts val="1100"/>
              </a:lnSpc>
              <a:buNone/>
            </a:pPr>
            <a:r>
              <a:rPr lang="en-US" sz="784" b="1" dirty="0">
                <a:solidFill>
                  <a:srgbClr val="1E293B"/>
                </a:solidFill>
                <a:latin typeface="Roboto" pitchFamily="34" charset="0"/>
                <a:ea typeface="Roboto" pitchFamily="34" charset="-122"/>
                <a:cs typeface="Roboto" pitchFamily="34" charset="-120"/>
              </a:rPr>
              <a:t>β</a:t>
            </a:r>
            <a:endParaRPr lang="en-US" sz="784" dirty="0"/>
          </a:p>
        </p:txBody>
      </p:sp>
      <p:sp>
        <p:nvSpPr>
          <p:cNvPr id="26" name="Text 23"/>
          <p:cNvSpPr/>
          <p:nvPr/>
        </p:nvSpPr>
        <p:spPr>
          <a:xfrm>
            <a:off x="5193506" y="1583234"/>
            <a:ext cx="1382316"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8B5CF6"/>
                </a:solidFill>
                <a:latin typeface="Roboto Mono" pitchFamily="34" charset="0"/>
                <a:ea typeface="Roboto Mono" pitchFamily="34" charset="-122"/>
                <a:cs typeface="Roboto Mono" pitchFamily="34" charset="-120"/>
              </a:rPr>
              <a:t>Beta: Line Balance</a:t>
            </a:r>
            <a:endParaRPr lang="en-US" sz="885" dirty="0"/>
          </a:p>
        </p:txBody>
      </p:sp>
      <p:sp>
        <p:nvSpPr>
          <p:cNvPr id="27" name="Text 24"/>
          <p:cNvSpPr/>
          <p:nvPr/>
        </p:nvSpPr>
        <p:spPr>
          <a:xfrm>
            <a:off x="4850606" y="1910953"/>
            <a:ext cx="3693319" cy="326827"/>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CBD5E1"/>
                </a:solidFill>
                <a:latin typeface="Roboto" pitchFamily="34" charset="0"/>
                <a:ea typeface="Roboto" pitchFamily="34" charset="-122"/>
                <a:cs typeface="Roboto" pitchFamily="34" charset="-120"/>
              </a:rPr>
              <a:t>Controls how evenly workload is distributed across production lines each day. Critical for labor planning and preventing line bottlenecks.</a:t>
            </a:r>
            <a:endParaRPr lang="en-US" sz="780" dirty="0"/>
          </a:p>
        </p:txBody>
      </p:sp>
      <p:sp>
        <p:nvSpPr>
          <p:cNvPr id="28" name="Shape 25"/>
          <p:cNvSpPr/>
          <p:nvPr/>
        </p:nvSpPr>
        <p:spPr>
          <a:xfrm>
            <a:off x="4850606" y="2380655"/>
            <a:ext cx="3693319" cy="28575"/>
          </a:xfrm>
          <a:prstGeom prst="roundRect">
            <a:avLst/>
          </a:prstGeom>
          <a:solidFill>
            <a:srgbClr val="334155"/>
          </a:solidFill>
          <a:ln/>
        </p:spPr>
      </p:sp>
      <p:sp>
        <p:nvSpPr>
          <p:cNvPr id="29" name="Shape 26"/>
          <p:cNvSpPr/>
          <p:nvPr/>
        </p:nvSpPr>
        <p:spPr>
          <a:xfrm>
            <a:off x="4850606" y="2523530"/>
            <a:ext cx="3693319" cy="292894"/>
          </a:xfrm>
          <a:prstGeom prst="rect">
            <a:avLst/>
          </a:prstGeom>
          <a:solidFill>
            <a:srgbClr val="0F172A">
              <a:alpha val="50000"/>
            </a:srgbClr>
          </a:solidFill>
          <a:ln/>
        </p:spPr>
      </p:sp>
      <p:sp>
        <p:nvSpPr>
          <p:cNvPr id="30" name="Text 27"/>
          <p:cNvSpPr/>
          <p:nvPr/>
        </p:nvSpPr>
        <p:spPr>
          <a:xfrm>
            <a:off x="4850606" y="2523530"/>
            <a:ext cx="3693319" cy="292894"/>
          </a:xfrm>
          <a:prstGeom prst="rect">
            <a:avLst/>
          </a:prstGeom>
          <a:noFill/>
          <a:ln/>
        </p:spPr>
        <p:txBody>
          <a:bodyPr wrap="square" lIns="102108" tIns="102108" rIns="102108" bIns="102108" rtlCol="0" anchor="t">
            <a:spAutoFit/>
          </a:bodyPr>
          <a:lstStyle/>
          <a:p>
            <a:pPr algn="l" indent="0" marL="0">
              <a:lnSpc>
                <a:spcPts val="900"/>
              </a:lnSpc>
              <a:buNone/>
            </a:pPr>
            <a:r>
              <a:rPr lang="en-US" sz="674" dirty="0">
                <a:solidFill>
                  <a:srgbClr val="94A3B8"/>
                </a:solidFill>
                <a:latin typeface="Roboto Mono" pitchFamily="34" charset="0"/>
                <a:ea typeface="Roboto Mono" pitchFamily="34" charset="-122"/>
                <a:cs typeface="Roboto Mono" pitchFamily="34" charset="-120"/>
              </a:rPr>
              <a:t>Example: β=7 prioritizes line balance over model balance</a:t>
            </a:r>
            <a:endParaRPr lang="en-US" sz="674" dirty="0"/>
          </a:p>
        </p:txBody>
      </p:sp>
      <p:sp>
        <p:nvSpPr>
          <p:cNvPr id="31" name="Shape 28"/>
          <p:cNvSpPr/>
          <p:nvPr/>
        </p:nvSpPr>
        <p:spPr>
          <a:xfrm>
            <a:off x="428625" y="3202186"/>
            <a:ext cx="4036219" cy="1764506"/>
          </a:xfrm>
          <a:prstGeom prst="rect">
            <a:avLst/>
          </a:prstGeom>
          <a:solidFill>
            <a:srgbClr val="1E293B">
              <a:alpha val="60000"/>
            </a:srgbClr>
          </a:solidFill>
          <a:ln/>
        </p:spPr>
      </p:sp>
      <p:sp>
        <p:nvSpPr>
          <p:cNvPr id="32" name="Shape 29"/>
          <p:cNvSpPr/>
          <p:nvPr/>
        </p:nvSpPr>
        <p:spPr>
          <a:xfrm>
            <a:off x="428625" y="3202186"/>
            <a:ext cx="4036219" cy="21431"/>
          </a:xfrm>
          <a:prstGeom prst="rect">
            <a:avLst/>
          </a:prstGeom>
          <a:solidFill>
            <a:srgbClr val="10B981"/>
          </a:solidFill>
          <a:ln/>
        </p:spPr>
      </p:sp>
      <p:sp>
        <p:nvSpPr>
          <p:cNvPr id="33" name="Shape 30"/>
          <p:cNvSpPr/>
          <p:nvPr/>
        </p:nvSpPr>
        <p:spPr>
          <a:xfrm>
            <a:off x="4457700" y="3202186"/>
            <a:ext cx="7144" cy="1764506"/>
          </a:xfrm>
          <a:prstGeom prst="rect">
            <a:avLst/>
          </a:prstGeom>
          <a:solidFill>
            <a:srgbClr val="334155"/>
          </a:solidFill>
          <a:ln/>
        </p:spPr>
      </p:sp>
      <p:sp>
        <p:nvSpPr>
          <p:cNvPr id="34" name="Shape 31"/>
          <p:cNvSpPr/>
          <p:nvPr/>
        </p:nvSpPr>
        <p:spPr>
          <a:xfrm>
            <a:off x="428625" y="4959548"/>
            <a:ext cx="4036219" cy="7144"/>
          </a:xfrm>
          <a:prstGeom prst="rect">
            <a:avLst/>
          </a:prstGeom>
          <a:solidFill>
            <a:srgbClr val="334155"/>
          </a:solidFill>
          <a:ln/>
        </p:spPr>
      </p:sp>
      <p:sp>
        <p:nvSpPr>
          <p:cNvPr id="35" name="Shape 32"/>
          <p:cNvSpPr/>
          <p:nvPr/>
        </p:nvSpPr>
        <p:spPr>
          <a:xfrm>
            <a:off x="428625" y="3202186"/>
            <a:ext cx="7144" cy="1764506"/>
          </a:xfrm>
          <a:prstGeom prst="rect">
            <a:avLst/>
          </a:prstGeom>
          <a:solidFill>
            <a:srgbClr val="334155"/>
          </a:solidFill>
          <a:ln/>
        </p:spPr>
      </p:sp>
      <p:sp>
        <p:nvSpPr>
          <p:cNvPr id="36" name="Shape 33"/>
          <p:cNvSpPr/>
          <p:nvPr/>
        </p:nvSpPr>
        <p:spPr>
          <a:xfrm>
            <a:off x="600075" y="3373636"/>
            <a:ext cx="257175" cy="257175"/>
          </a:xfrm>
          <a:prstGeom prst="rect">
            <a:avLst/>
          </a:prstGeom>
          <a:solidFill>
            <a:srgbClr val="10B981"/>
          </a:solidFill>
          <a:ln/>
        </p:spPr>
      </p:sp>
      <p:pic>
        <p:nvPicPr>
          <p:cNvPr id="37" name="Image 1" descr="preencoded.png">    </p:cNvPr>
          <p:cNvPicPr>
            <a:picLocks noChangeAspect="1"/>
          </p:cNvPicPr>
          <p:nvPr/>
        </p:nvPicPr>
        <p:blipFill>
          <a:blip r:embed="rId2"/>
          <a:stretch>
            <a:fillRect/>
          </a:stretch>
        </p:blipFill>
        <p:spPr>
          <a:xfrm>
            <a:off x="671513" y="3445073"/>
            <a:ext cx="114300" cy="114300"/>
          </a:xfrm>
          <a:prstGeom prst="rect">
            <a:avLst/>
          </a:prstGeom>
        </p:spPr>
      </p:pic>
      <p:sp>
        <p:nvSpPr>
          <p:cNvPr id="38" name="Text 34"/>
          <p:cNvSpPr/>
          <p:nvPr/>
        </p:nvSpPr>
        <p:spPr>
          <a:xfrm>
            <a:off x="942975" y="3417391"/>
            <a:ext cx="1228725"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10B981"/>
                </a:solidFill>
                <a:latin typeface="Roboto Mono" pitchFamily="34" charset="0"/>
                <a:ea typeface="Roboto Mono" pitchFamily="34" charset="-122"/>
                <a:cs typeface="Roboto Mono" pitchFamily="34" charset="-120"/>
              </a:rPr>
              <a:t>Spread Threshold</a:t>
            </a:r>
            <a:endParaRPr lang="en-US" sz="885" dirty="0"/>
          </a:p>
        </p:txBody>
      </p:sp>
      <p:sp>
        <p:nvSpPr>
          <p:cNvPr id="39" name="Text 35"/>
          <p:cNvSpPr/>
          <p:nvPr/>
        </p:nvSpPr>
        <p:spPr>
          <a:xfrm>
            <a:off x="600075" y="3745111"/>
            <a:ext cx="3693319" cy="350044"/>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CBD5E1"/>
                </a:solidFill>
                <a:latin typeface="Roboto" pitchFamily="34" charset="0"/>
                <a:ea typeface="Roboto" pitchFamily="34" charset="-122"/>
                <a:cs typeface="Roboto" pitchFamily="34" charset="-120"/>
              </a:rPr>
              <a:t>Low-volume models below this quantity are forced to produce every day rather than being batched. Eliminates end-of-week rushes.</a:t>
            </a:r>
            <a:endParaRPr lang="en-US" sz="780" dirty="0"/>
          </a:p>
        </p:txBody>
      </p:sp>
      <p:sp>
        <p:nvSpPr>
          <p:cNvPr id="40" name="Shape 36"/>
          <p:cNvSpPr/>
          <p:nvPr/>
        </p:nvSpPr>
        <p:spPr>
          <a:xfrm>
            <a:off x="600075" y="4238030"/>
            <a:ext cx="3693319" cy="28575"/>
          </a:xfrm>
          <a:prstGeom prst="roundRect">
            <a:avLst/>
          </a:prstGeom>
          <a:solidFill>
            <a:srgbClr val="334155"/>
          </a:solidFill>
          <a:ln/>
        </p:spPr>
      </p:sp>
      <p:sp>
        <p:nvSpPr>
          <p:cNvPr id="41" name="Shape 37"/>
          <p:cNvSpPr/>
          <p:nvPr/>
        </p:nvSpPr>
        <p:spPr>
          <a:xfrm>
            <a:off x="600075" y="4380905"/>
            <a:ext cx="3693319" cy="414338"/>
          </a:xfrm>
          <a:prstGeom prst="rect">
            <a:avLst/>
          </a:prstGeom>
          <a:solidFill>
            <a:srgbClr val="0F172A">
              <a:alpha val="50000"/>
            </a:srgbClr>
          </a:solidFill>
          <a:ln/>
        </p:spPr>
      </p:sp>
      <p:sp>
        <p:nvSpPr>
          <p:cNvPr id="42" name="Text 38"/>
          <p:cNvSpPr/>
          <p:nvPr/>
        </p:nvSpPr>
        <p:spPr>
          <a:xfrm>
            <a:off x="600075" y="4380905"/>
            <a:ext cx="3693319" cy="414338"/>
          </a:xfrm>
          <a:prstGeom prst="rect">
            <a:avLst/>
          </a:prstGeom>
          <a:noFill/>
          <a:ln/>
        </p:spPr>
        <p:txBody>
          <a:bodyPr wrap="square" lIns="102108" tIns="102108" rIns="102108" bIns="102108" rtlCol="0" anchor="t">
            <a:spAutoFit/>
          </a:bodyPr>
          <a:lstStyle/>
          <a:p>
            <a:pPr algn="l" indent="0" marL="0">
              <a:lnSpc>
                <a:spcPts val="900"/>
              </a:lnSpc>
              <a:buNone/>
            </a:pPr>
            <a:r>
              <a:rPr lang="en-US" sz="674" dirty="0">
                <a:solidFill>
                  <a:srgbClr val="94A3B8"/>
                </a:solidFill>
                <a:latin typeface="Roboto Mono" pitchFamily="34" charset="0"/>
                <a:ea typeface="Roboto Mono" pitchFamily="34" charset="-122"/>
                <a:cs typeface="Roboto Mono" pitchFamily="34" charset="-120"/>
              </a:rPr>
              <a:t>Example: Threshold=5 means any model &lt; 5 units must appear daily</a:t>
            </a:r>
            <a:endParaRPr lang="en-US" sz="674" dirty="0"/>
          </a:p>
        </p:txBody>
      </p:sp>
      <p:sp>
        <p:nvSpPr>
          <p:cNvPr id="43" name="Shape 39"/>
          <p:cNvSpPr/>
          <p:nvPr/>
        </p:nvSpPr>
        <p:spPr>
          <a:xfrm>
            <a:off x="4679156" y="3202186"/>
            <a:ext cx="4036219" cy="1764506"/>
          </a:xfrm>
          <a:prstGeom prst="rect">
            <a:avLst/>
          </a:prstGeom>
          <a:solidFill>
            <a:srgbClr val="1E293B">
              <a:alpha val="60000"/>
            </a:srgbClr>
          </a:solidFill>
          <a:ln/>
        </p:spPr>
      </p:sp>
      <p:sp>
        <p:nvSpPr>
          <p:cNvPr id="44" name="Shape 40"/>
          <p:cNvSpPr/>
          <p:nvPr/>
        </p:nvSpPr>
        <p:spPr>
          <a:xfrm>
            <a:off x="4679156" y="3202186"/>
            <a:ext cx="4036219" cy="21431"/>
          </a:xfrm>
          <a:prstGeom prst="rect">
            <a:avLst/>
          </a:prstGeom>
          <a:solidFill>
            <a:srgbClr val="F59E0B"/>
          </a:solidFill>
          <a:ln/>
        </p:spPr>
      </p:sp>
      <p:sp>
        <p:nvSpPr>
          <p:cNvPr id="45" name="Shape 41"/>
          <p:cNvSpPr/>
          <p:nvPr/>
        </p:nvSpPr>
        <p:spPr>
          <a:xfrm>
            <a:off x="8708231" y="3202186"/>
            <a:ext cx="7144" cy="1764506"/>
          </a:xfrm>
          <a:prstGeom prst="rect">
            <a:avLst/>
          </a:prstGeom>
          <a:solidFill>
            <a:srgbClr val="334155"/>
          </a:solidFill>
          <a:ln/>
        </p:spPr>
      </p:sp>
      <p:sp>
        <p:nvSpPr>
          <p:cNvPr id="46" name="Shape 42"/>
          <p:cNvSpPr/>
          <p:nvPr/>
        </p:nvSpPr>
        <p:spPr>
          <a:xfrm>
            <a:off x="4679156" y="4959548"/>
            <a:ext cx="4036219" cy="7144"/>
          </a:xfrm>
          <a:prstGeom prst="rect">
            <a:avLst/>
          </a:prstGeom>
          <a:solidFill>
            <a:srgbClr val="334155"/>
          </a:solidFill>
          <a:ln/>
        </p:spPr>
      </p:sp>
      <p:sp>
        <p:nvSpPr>
          <p:cNvPr id="47" name="Shape 43"/>
          <p:cNvSpPr/>
          <p:nvPr/>
        </p:nvSpPr>
        <p:spPr>
          <a:xfrm>
            <a:off x="4679156" y="3202186"/>
            <a:ext cx="7144" cy="1764506"/>
          </a:xfrm>
          <a:prstGeom prst="rect">
            <a:avLst/>
          </a:prstGeom>
          <a:solidFill>
            <a:srgbClr val="334155"/>
          </a:solidFill>
          <a:ln/>
        </p:spPr>
      </p:sp>
      <p:sp>
        <p:nvSpPr>
          <p:cNvPr id="48" name="Shape 44"/>
          <p:cNvSpPr/>
          <p:nvPr/>
        </p:nvSpPr>
        <p:spPr>
          <a:xfrm>
            <a:off x="4850606" y="3373636"/>
            <a:ext cx="257175" cy="257175"/>
          </a:xfrm>
          <a:prstGeom prst="rect">
            <a:avLst/>
          </a:prstGeom>
          <a:solidFill>
            <a:srgbClr val="F59E0B"/>
          </a:solidFill>
          <a:ln/>
        </p:spPr>
      </p:sp>
      <p:pic>
        <p:nvPicPr>
          <p:cNvPr id="49" name="Image 2" descr="preencoded.png">    </p:cNvPr>
          <p:cNvPicPr>
            <a:picLocks noChangeAspect="1"/>
          </p:cNvPicPr>
          <p:nvPr/>
        </p:nvPicPr>
        <p:blipFill>
          <a:blip r:embed="rId3"/>
          <a:stretch>
            <a:fillRect/>
          </a:stretch>
        </p:blipFill>
        <p:spPr>
          <a:xfrm>
            <a:off x="4929188" y="3445073"/>
            <a:ext cx="100013" cy="114300"/>
          </a:xfrm>
          <a:prstGeom prst="rect">
            <a:avLst/>
          </a:prstGeom>
        </p:spPr>
      </p:pic>
      <p:sp>
        <p:nvSpPr>
          <p:cNvPr id="50" name="Text 45"/>
          <p:cNvSpPr/>
          <p:nvPr/>
        </p:nvSpPr>
        <p:spPr>
          <a:xfrm>
            <a:off x="5193506" y="3417391"/>
            <a:ext cx="767953"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59E0B"/>
                </a:solidFill>
                <a:latin typeface="Roboto Mono" pitchFamily="34" charset="0"/>
                <a:ea typeface="Roboto Mono" pitchFamily="34" charset="-122"/>
                <a:cs typeface="Roboto Mono" pitchFamily="34" charset="-120"/>
              </a:rPr>
              <a:t>Time Limit</a:t>
            </a:r>
            <a:endParaRPr lang="en-US" sz="885" dirty="0"/>
          </a:p>
        </p:txBody>
      </p:sp>
      <p:sp>
        <p:nvSpPr>
          <p:cNvPr id="51" name="Text 46"/>
          <p:cNvSpPr/>
          <p:nvPr/>
        </p:nvSpPr>
        <p:spPr>
          <a:xfrm>
            <a:off x="4850606" y="3745111"/>
            <a:ext cx="3693319" cy="321469"/>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CBD5E1"/>
                </a:solidFill>
                <a:latin typeface="Roboto" pitchFamily="34" charset="0"/>
                <a:ea typeface="Roboto" pitchFamily="34" charset="-122"/>
                <a:cs typeface="Roboto" pitchFamily="34" charset="-120"/>
              </a:rPr>
              <a:t>Maximum solver runtime in seconds. Longer search = potentially better solution.</a:t>
            </a:r>
            <a:endParaRPr lang="en-US" sz="780" dirty="0"/>
          </a:p>
        </p:txBody>
      </p:sp>
      <p:sp>
        <p:nvSpPr>
          <p:cNvPr id="52" name="Shape 47"/>
          <p:cNvSpPr/>
          <p:nvPr/>
        </p:nvSpPr>
        <p:spPr>
          <a:xfrm>
            <a:off x="4850606" y="4209455"/>
            <a:ext cx="3693319" cy="28575"/>
          </a:xfrm>
          <a:prstGeom prst="roundRect">
            <a:avLst/>
          </a:prstGeom>
          <a:solidFill>
            <a:srgbClr val="334155"/>
          </a:solidFill>
          <a:ln/>
        </p:spPr>
      </p:sp>
      <p:sp>
        <p:nvSpPr>
          <p:cNvPr id="53" name="Shape 48"/>
          <p:cNvSpPr/>
          <p:nvPr/>
        </p:nvSpPr>
        <p:spPr>
          <a:xfrm>
            <a:off x="4850606" y="4352330"/>
            <a:ext cx="3693319" cy="414338"/>
          </a:xfrm>
          <a:prstGeom prst="rect">
            <a:avLst/>
          </a:prstGeom>
          <a:solidFill>
            <a:srgbClr val="0F172A">
              <a:alpha val="50000"/>
            </a:srgbClr>
          </a:solidFill>
          <a:ln/>
        </p:spPr>
      </p:sp>
      <p:sp>
        <p:nvSpPr>
          <p:cNvPr id="54" name="Text 49"/>
          <p:cNvSpPr/>
          <p:nvPr/>
        </p:nvSpPr>
        <p:spPr>
          <a:xfrm>
            <a:off x="4850606" y="4352330"/>
            <a:ext cx="3693319" cy="414338"/>
          </a:xfrm>
          <a:prstGeom prst="rect">
            <a:avLst/>
          </a:prstGeom>
          <a:noFill/>
          <a:ln/>
        </p:spPr>
        <p:txBody>
          <a:bodyPr wrap="square" lIns="102108" tIns="102108" rIns="102108" bIns="102108" rtlCol="0" anchor="t">
            <a:spAutoFit/>
          </a:bodyPr>
          <a:lstStyle/>
          <a:p>
            <a:pPr algn="l" indent="0" marL="0">
              <a:lnSpc>
                <a:spcPts val="900"/>
              </a:lnSpc>
              <a:buNone/>
            </a:pPr>
            <a:r>
              <a:rPr lang="en-US" sz="674" dirty="0">
                <a:solidFill>
                  <a:srgbClr val="94A3B8"/>
                </a:solidFill>
                <a:latin typeface="Roboto Mono" pitchFamily="34" charset="0"/>
                <a:ea typeface="Roboto Mono" pitchFamily="34" charset="-122"/>
                <a:cs typeface="Roboto Mono" pitchFamily="34" charset="-120"/>
              </a:rPr>
              <a:t>Example: 10s for typical weekly volumes; 30s for complex scenarios</a:t>
            </a:r>
            <a:endParaRPr lang="en-US" sz="674" dirty="0"/>
          </a:p>
        </p:txBody>
      </p:sp>
      <p:sp>
        <p:nvSpPr>
          <p:cNvPr id="55" name="Text 50"/>
          <p:cNvSpPr/>
          <p:nvPr/>
        </p:nvSpPr>
        <p:spPr>
          <a:xfrm>
            <a:off x="428625" y="4816673"/>
            <a:ext cx="8286750" cy="112514"/>
          </a:xfrm>
          <a:prstGeom prst="rect">
            <a:avLst/>
          </a:prstGeom>
          <a:noFill/>
          <a:ln/>
        </p:spPr>
        <p:txBody>
          <a:bodyPr wrap="none" lIns="0" tIns="0" rIns="0" bIns="0" rtlCol="0" anchor="t">
            <a:spAutoFit/>
          </a:bodyPr>
          <a:lstStyle/>
          <a:p>
            <a:pPr algn="r" indent="0" marL="0">
              <a:lnSpc>
                <a:spcPts val="800"/>
              </a:lnSpc>
              <a:buNone/>
            </a:pPr>
            <a:r>
              <a:rPr lang="en-US" sz="621" dirty="0">
                <a:solidFill>
                  <a:srgbClr val="475569"/>
                </a:solidFill>
                <a:latin typeface="Roboto Mono" pitchFamily="34" charset="0"/>
                <a:ea typeface="Roboto Mono" pitchFamily="34" charset="-122"/>
                <a:cs typeface="Roboto Mono" pitchFamily="34" charset="-120"/>
              </a:rPr>
              <a:t>CONFIDENTIAL | INTERNAL DEMO | 2026</a:t>
            </a:r>
            <a:endParaRPr lang="en-US" sz="62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28625" y="428625"/>
            <a:ext cx="8286750" cy="489347"/>
          </a:xfrm>
          <a:prstGeom prst="rect">
            <a:avLst/>
          </a:prstGeom>
          <a:solidFill>
            <a:srgbClr val="000000">
              <a:alpha val="0"/>
            </a:srgbClr>
          </a:solidFill>
          <a:ln/>
        </p:spPr>
      </p:sp>
      <p:sp>
        <p:nvSpPr>
          <p:cNvPr id="4" name="Shape 1"/>
          <p:cNvSpPr/>
          <p:nvPr/>
        </p:nvSpPr>
        <p:spPr>
          <a:xfrm>
            <a:off x="428625" y="910828"/>
            <a:ext cx="8286750" cy="7144"/>
          </a:xfrm>
          <a:prstGeom prst="rect">
            <a:avLst/>
          </a:prstGeom>
          <a:solidFill>
            <a:srgbClr val="334155"/>
          </a:solidFill>
          <a:ln/>
        </p:spPr>
      </p:sp>
      <p:sp>
        <p:nvSpPr>
          <p:cNvPr id="5" name="Text 2"/>
          <p:cNvSpPr/>
          <p:nvPr/>
        </p:nvSpPr>
        <p:spPr>
          <a:xfrm>
            <a:off x="428625" y="428625"/>
            <a:ext cx="5550694" cy="339328"/>
          </a:xfrm>
          <a:prstGeom prst="rect">
            <a:avLst/>
          </a:prstGeom>
          <a:noFill/>
          <a:ln/>
        </p:spPr>
        <p:txBody>
          <a:bodyPr wrap="none" lIns="0" tIns="0" rIns="0" bIns="0" rtlCol="0" anchor="t">
            <a:spAutoFit/>
          </a:bodyPr>
          <a:lstStyle/>
          <a:p>
            <a:pPr algn="l" indent="0" marL="0">
              <a:lnSpc>
                <a:spcPts val="2400"/>
              </a:lnSpc>
              <a:buNone/>
            </a:pPr>
            <a:r>
              <a:rPr lang="en-US" sz="1808" b="1" dirty="0">
                <a:solidFill>
                  <a:srgbClr val="F8FAFC"/>
                </a:solidFill>
                <a:latin typeface="Roboto Mono" pitchFamily="34" charset="0"/>
                <a:ea typeface="Roboto Mono" pitchFamily="34" charset="-122"/>
                <a:cs typeface="Roboto Mono" pitchFamily="34" charset="-120"/>
              </a:rPr>
              <a:t>"OPTIMAL" Is a Mathematical Guarantee</a:t>
            </a:r>
            <a:endParaRPr lang="en-US" sz="1808" dirty="0"/>
          </a:p>
        </p:txBody>
      </p:sp>
      <p:sp>
        <p:nvSpPr>
          <p:cNvPr id="6" name="Shape 3"/>
          <p:cNvSpPr/>
          <p:nvPr/>
        </p:nvSpPr>
        <p:spPr>
          <a:xfrm>
            <a:off x="7268766" y="507206"/>
            <a:ext cx="1446609" cy="260747"/>
          </a:xfrm>
          <a:prstGeom prst="rect">
            <a:avLst/>
          </a:prstGeom>
          <a:solidFill>
            <a:srgbClr val="10B981">
              <a:alpha val="10000"/>
            </a:srgbClr>
          </a:solidFill>
          <a:ln w="9144">
            <a:solidFill>
              <a:srgbClr val="10B981"/>
            </a:solidFill>
            <a:prstDash val="solid"/>
          </a:ln>
        </p:spPr>
      </p:sp>
      <p:pic>
        <p:nvPicPr>
          <p:cNvPr id="7" name="Image 1" descr="preencoded.png">    </p:cNvPr>
          <p:cNvPicPr>
            <a:picLocks noChangeAspect="1"/>
          </p:cNvPicPr>
          <p:nvPr/>
        </p:nvPicPr>
        <p:blipFill>
          <a:blip r:embed="rId2"/>
          <a:stretch>
            <a:fillRect/>
          </a:stretch>
        </p:blipFill>
        <p:spPr>
          <a:xfrm>
            <a:off x="7397353" y="594717"/>
            <a:ext cx="100013" cy="100013"/>
          </a:xfrm>
          <a:prstGeom prst="rect">
            <a:avLst/>
          </a:prstGeom>
        </p:spPr>
      </p:pic>
      <p:sp>
        <p:nvSpPr>
          <p:cNvPr id="8" name="Text 4"/>
          <p:cNvSpPr/>
          <p:nvPr/>
        </p:nvSpPr>
        <p:spPr>
          <a:xfrm>
            <a:off x="7568803" y="578644"/>
            <a:ext cx="1032272" cy="132159"/>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10B981"/>
                </a:solidFill>
                <a:latin typeface="Roboto Mono" pitchFamily="34" charset="0"/>
                <a:ea typeface="Roboto Mono" pitchFamily="34" charset="-122"/>
                <a:cs typeface="Roboto Mono" pitchFamily="34" charset="-120"/>
              </a:rPr>
              <a:t>CERTIFIED OPTIMAL</a:t>
            </a:r>
            <a:endParaRPr lang="en-US" sz="683" dirty="0"/>
          </a:p>
        </p:txBody>
      </p:sp>
      <p:sp>
        <p:nvSpPr>
          <p:cNvPr id="9" name="Text 5"/>
          <p:cNvSpPr/>
          <p:nvPr/>
        </p:nvSpPr>
        <p:spPr>
          <a:xfrm>
            <a:off x="428625" y="1615213"/>
            <a:ext cx="3214688" cy="921544"/>
          </a:xfrm>
          <a:prstGeom prst="rect">
            <a:avLst/>
          </a:prstGeom>
          <a:noFill/>
          <a:ln/>
        </p:spPr>
        <p:txBody>
          <a:bodyPr wrap="square" lIns="0" tIns="0" rIns="0" bIns="0" rtlCol="0" anchor="t">
            <a:spAutoFit/>
          </a:bodyPr>
          <a:lstStyle/>
          <a:p>
            <a:pPr algn="l" indent="0" marL="0">
              <a:lnSpc>
                <a:spcPts val="1800"/>
              </a:lnSpc>
              <a:buNone/>
            </a:pPr>
            <a:r>
              <a:rPr lang="en-US" sz="1050" dirty="0">
                <a:solidFill>
                  <a:srgbClr val="94A3B8"/>
                </a:solidFill>
                <a:latin typeface="Roboto" pitchFamily="34" charset="0"/>
                <a:ea typeface="Roboto" pitchFamily="34" charset="-122"/>
                <a:cs typeface="Roboto" pitchFamily="34" charset="-120"/>
              </a:rPr>
              <a:t>When the solver returns the status </a:t>
            </a:r>
            <a:pPr algn="l" indent="0" marL="0">
              <a:lnSpc>
                <a:spcPts val="1800"/>
              </a:lnSpc>
              <a:buNone/>
            </a:pPr>
            <a:r>
              <a:rPr lang="en-US" sz="987" b="1" dirty="0">
                <a:solidFill>
                  <a:srgbClr val="10B981"/>
                </a:solidFill>
                <a:latin typeface="Roboto Mono" pitchFamily="34" charset="0"/>
                <a:ea typeface="Roboto Mono" pitchFamily="34" charset="-122"/>
                <a:cs typeface="Roboto Mono" pitchFamily="34" charset="-120"/>
              </a:rPr>
              <a:t>OPTIMAL</a:t>
            </a:r>
            <a:pPr algn="l" indent="0" marL="0">
              <a:lnSpc>
                <a:spcPts val="1800"/>
              </a:lnSpc>
              <a:buNone/>
            </a:pPr>
            <a:r>
              <a:rPr lang="en-US" sz="1050" dirty="0">
                <a:solidFill>
                  <a:srgbClr val="94A3B8"/>
                </a:solidFill>
                <a:latin typeface="Roboto" pitchFamily="34" charset="0"/>
                <a:ea typeface="Roboto" pitchFamily="34" charset="-122"/>
                <a:cs typeface="Roboto" pitchFamily="34" charset="-120"/>
              </a:rPr>
              <a:t>, it has </a:t>
            </a:r>
            <a:pPr algn="l" indent="0" marL="0">
              <a:lnSpc>
                <a:spcPts val="1800"/>
              </a:lnSpc>
              <a:buNone/>
            </a:pPr>
            <a:r>
              <a:rPr lang="en-US" sz="1050" dirty="0">
                <a:solidFill>
                  <a:srgbClr val="94A3B8"/>
                </a:solidFill>
                <a:latin typeface="Roboto" pitchFamily="34" charset="0"/>
                <a:ea typeface="Roboto" pitchFamily="34" charset="-122"/>
                <a:cs typeface="Roboto" pitchFamily="34" charset="-120"/>
              </a:rPr>
              <a:t>mathematically proven that </a:t>
            </a:r>
            <a:pPr algn="l" indent="0" marL="0">
              <a:lnSpc>
                <a:spcPts val="1800"/>
              </a:lnSpc>
              <a:buNone/>
            </a:pPr>
            <a:r>
              <a:rPr lang="en-US" sz="987" b="1" dirty="0">
                <a:solidFill>
                  <a:srgbClr val="94A3B8"/>
                </a:solidFill>
                <a:latin typeface="Roboto" pitchFamily="34" charset="0"/>
                <a:ea typeface="Roboto" pitchFamily="34" charset="-122"/>
                <a:cs typeface="Roboto" pitchFamily="34" charset="-120"/>
              </a:rPr>
              <a:t>no better schedule exists</a:t>
            </a:r>
            <a:pPr algn="l" indent="0" marL="0">
              <a:lnSpc>
                <a:spcPts val="1800"/>
              </a:lnSpc>
              <a:buNone/>
            </a:pPr>
            <a:r>
              <a:rPr lang="en-US" sz="1050" dirty="0">
                <a:solidFill>
                  <a:srgbClr val="94A3B8"/>
                </a:solidFill>
                <a:latin typeface="Roboto" pitchFamily="34" charset="0"/>
                <a:ea typeface="Roboto" pitchFamily="34" charset="-122"/>
                <a:cs typeface="Roboto" pitchFamily="34" charset="-120"/>
              </a:rPr>
              <a:t> — given the demand data and business </a:t>
            </a:r>
            <a:pPr algn="l" indent="0" marL="0">
              <a:lnSpc>
                <a:spcPts val="1800"/>
              </a:lnSpc>
              <a:buNone/>
            </a:pPr>
            <a:r>
              <a:rPr lang="en-US" sz="1050" dirty="0">
                <a:solidFill>
                  <a:srgbClr val="94A3B8"/>
                </a:solidFill>
                <a:latin typeface="Roboto" pitchFamily="34" charset="0"/>
                <a:ea typeface="Roboto" pitchFamily="34" charset="-122"/>
                <a:cs typeface="Roboto" pitchFamily="34" charset="-120"/>
              </a:rPr>
              <a:t>rules provided.</a:t>
            </a:r>
            <a:endParaRPr lang="en-US" sz="1050" dirty="0"/>
          </a:p>
        </p:txBody>
      </p:sp>
      <p:sp>
        <p:nvSpPr>
          <p:cNvPr id="10" name="Text 6"/>
          <p:cNvSpPr/>
          <p:nvPr/>
        </p:nvSpPr>
        <p:spPr>
          <a:xfrm>
            <a:off x="428625" y="2751069"/>
            <a:ext cx="3214688" cy="685800"/>
          </a:xfrm>
          <a:prstGeom prst="rect">
            <a:avLst/>
          </a:prstGeom>
          <a:noFill/>
          <a:ln/>
        </p:spPr>
        <p:txBody>
          <a:bodyPr wrap="square" lIns="0" tIns="0" rIns="0" bIns="0" rtlCol="0" anchor="t">
            <a:spAutoFit/>
          </a:bodyPr>
          <a:lstStyle/>
          <a:p>
            <a:pPr algn="l" indent="0" marL="0">
              <a:lnSpc>
                <a:spcPts val="1800"/>
              </a:lnSpc>
              <a:buNone/>
            </a:pPr>
            <a:r>
              <a:rPr lang="en-US" sz="1050" dirty="0">
                <a:solidFill>
                  <a:srgbClr val="94A3B8"/>
                </a:solidFill>
                <a:latin typeface="Roboto" pitchFamily="34" charset="0"/>
                <a:ea typeface="Roboto" pitchFamily="34" charset="-122"/>
                <a:cs typeface="Roboto" pitchFamily="34" charset="-120"/>
              </a:rPr>
              <a:t>This is not an approximation or a heuristic. The CP-SAT engine exhaustively explores the solution space and certifies the result.</a:t>
            </a:r>
            <a:endParaRPr lang="en-US" sz="1050" dirty="0"/>
          </a:p>
        </p:txBody>
      </p:sp>
      <p:sp>
        <p:nvSpPr>
          <p:cNvPr id="11" name="Text 7"/>
          <p:cNvSpPr/>
          <p:nvPr/>
        </p:nvSpPr>
        <p:spPr>
          <a:xfrm>
            <a:off x="428625" y="3651182"/>
            <a:ext cx="3214688" cy="555734"/>
          </a:xfrm>
          <a:prstGeom prst="rect">
            <a:avLst/>
          </a:prstGeom>
          <a:noFill/>
          <a:ln/>
        </p:spPr>
        <p:txBody>
          <a:bodyPr wrap="square" lIns="136017" tIns="0" rIns="0" bIns="0" rtlCol="0" anchor="t">
            <a:spAutoFit/>
          </a:bodyPr>
          <a:lstStyle/>
          <a:p>
            <a:pPr algn="l" indent="0" marL="0">
              <a:lnSpc>
                <a:spcPts val="1400"/>
              </a:lnSpc>
              <a:buNone/>
            </a:pPr>
            <a:r>
              <a:rPr lang="en-US" sz="834" dirty="0">
                <a:solidFill>
                  <a:srgbClr val="94A3B8"/>
                </a:solidFill>
                <a:latin typeface="Roboto" pitchFamily="34" charset="0"/>
                <a:ea typeface="Roboto" pitchFamily="34" charset="-122"/>
                <a:cs typeface="Roboto" pitchFamily="34" charset="-120"/>
              </a:rPr>
              <a:t>For very large problems, it may return </a:t>
            </a:r>
            <a:pPr algn="l" indent="0" marL="0">
              <a:lnSpc>
                <a:spcPts val="1400"/>
              </a:lnSpc>
              <a:buNone/>
            </a:pPr>
            <a:r>
              <a:rPr lang="en-US" sz="784" b="1" dirty="0">
                <a:solidFill>
                  <a:srgbClr val="F59E0B"/>
                </a:solidFill>
                <a:latin typeface="Roboto Mono" pitchFamily="34" charset="0"/>
                <a:ea typeface="Roboto Mono" pitchFamily="34" charset="-122"/>
                <a:cs typeface="Roboto Mono" pitchFamily="34" charset="-120"/>
              </a:rPr>
              <a:t>FEASIBLE</a:t>
            </a:r>
            <a:pPr algn="l" indent="0" marL="0">
              <a:lnSpc>
                <a:spcPts val="1400"/>
              </a:lnSpc>
              <a:buNone/>
            </a:pPr>
            <a:r>
              <a:rPr lang="en-US" sz="834" dirty="0">
                <a:solidFill>
                  <a:srgbClr val="94A3B8"/>
                </a:solidFill>
                <a:latin typeface="Roboto" pitchFamily="34" charset="0"/>
                <a:ea typeface="Roboto" pitchFamily="34" charset="-122"/>
                <a:cs typeface="Roboto" pitchFamily="34" charset="-120"/>
              </a:rPr>
              <a:t> — meaning </a:t>
            </a:r>
            <a:pPr algn="l" indent="0" marL="0">
              <a:lnSpc>
                <a:spcPts val="1400"/>
              </a:lnSpc>
              <a:buNone/>
            </a:pPr>
            <a:r>
              <a:rPr lang="en-US" sz="834" dirty="0">
                <a:solidFill>
                  <a:srgbClr val="94A3B8"/>
                </a:solidFill>
                <a:latin typeface="Roboto" pitchFamily="34" charset="0"/>
                <a:ea typeface="Roboto" pitchFamily="34" charset="-122"/>
                <a:cs typeface="Roboto" pitchFamily="34" charset="-120"/>
              </a:rPr>
              <a:t>it found an excellent solution within the time limit but cannot </a:t>
            </a:r>
            <a:pPr algn="l" indent="0" marL="0">
              <a:lnSpc>
                <a:spcPts val="1400"/>
              </a:lnSpc>
              <a:buNone/>
            </a:pPr>
            <a:r>
              <a:rPr lang="en-US" sz="834" dirty="0">
                <a:solidFill>
                  <a:srgbClr val="94A3B8"/>
                </a:solidFill>
                <a:latin typeface="Roboto" pitchFamily="34" charset="0"/>
                <a:ea typeface="Roboto" pitchFamily="34" charset="-122"/>
                <a:cs typeface="Roboto" pitchFamily="34" charset="-120"/>
              </a:rPr>
              <a:t>yet prove absolute optimality.</a:t>
            </a:r>
            <a:endParaRPr lang="en-US" sz="834" dirty="0"/>
          </a:p>
        </p:txBody>
      </p:sp>
      <p:sp>
        <p:nvSpPr>
          <p:cNvPr id="12" name="Text 8"/>
          <p:cNvSpPr/>
          <p:nvPr/>
        </p:nvSpPr>
        <p:spPr>
          <a:xfrm>
            <a:off x="4229100" y="1832372"/>
            <a:ext cx="1218540" cy="367903"/>
          </a:xfrm>
          <a:prstGeom prst="rect">
            <a:avLst/>
          </a:prstGeom>
          <a:noFill/>
          <a:ln/>
        </p:spPr>
        <p:txBody>
          <a:bodyPr wrap="square" lIns="170053" tIns="136017" rIns="170053" bIns="136017" rtlCol="0" anchor="ctr">
            <a:spAutoFit/>
          </a:bodyPr>
          <a:lstStyle/>
          <a:p>
            <a:pPr algn="l" indent="0" marL="0">
              <a:lnSpc>
                <a:spcPts val="900"/>
              </a:lnSpc>
              <a:buNone/>
            </a:pPr>
            <a:r>
              <a:rPr lang="en-US" sz="683" b="1" spc="1" kern="0" dirty="0">
                <a:solidFill>
                  <a:srgbClr val="94A3B8"/>
                </a:solidFill>
                <a:latin typeface="Roboto Mono" pitchFamily="34" charset="0"/>
                <a:ea typeface="Roboto Mono" pitchFamily="34" charset="-122"/>
                <a:cs typeface="Roboto Mono" pitchFamily="34" charset="-120"/>
              </a:rPr>
              <a:t>APPROACH</a:t>
            </a:r>
            <a:endParaRPr lang="en-US" sz="683" dirty="0"/>
          </a:p>
        </p:txBody>
      </p:sp>
      <p:sp>
        <p:nvSpPr>
          <p:cNvPr id="13" name="Text 9"/>
          <p:cNvSpPr/>
          <p:nvPr/>
        </p:nvSpPr>
        <p:spPr>
          <a:xfrm>
            <a:off x="5447640" y="1832372"/>
            <a:ext cx="1313473" cy="367903"/>
          </a:xfrm>
          <a:prstGeom prst="rect">
            <a:avLst/>
          </a:prstGeom>
          <a:noFill/>
          <a:ln/>
        </p:spPr>
        <p:txBody>
          <a:bodyPr wrap="square" lIns="170053" tIns="136017" rIns="170053" bIns="136017" rtlCol="0" anchor="ctr">
            <a:spAutoFit/>
          </a:bodyPr>
          <a:lstStyle/>
          <a:p>
            <a:pPr algn="l" indent="0" marL="0">
              <a:lnSpc>
                <a:spcPts val="900"/>
              </a:lnSpc>
              <a:buNone/>
            </a:pPr>
            <a:r>
              <a:rPr lang="en-US" sz="683" b="1" spc="1" kern="0" dirty="0">
                <a:solidFill>
                  <a:srgbClr val="94A3B8"/>
                </a:solidFill>
                <a:latin typeface="Roboto Mono" pitchFamily="34" charset="0"/>
                <a:ea typeface="Roboto Mono" pitchFamily="34" charset="-122"/>
                <a:cs typeface="Roboto Mono" pitchFamily="34" charset="-120"/>
              </a:rPr>
              <a:t>QUALITY</a:t>
            </a:r>
            <a:endParaRPr lang="en-US" sz="683" dirty="0"/>
          </a:p>
        </p:txBody>
      </p:sp>
      <p:sp>
        <p:nvSpPr>
          <p:cNvPr id="14" name="Text 10"/>
          <p:cNvSpPr/>
          <p:nvPr/>
        </p:nvSpPr>
        <p:spPr>
          <a:xfrm>
            <a:off x="6761113" y="1832372"/>
            <a:ext cx="829791" cy="367903"/>
          </a:xfrm>
          <a:prstGeom prst="rect">
            <a:avLst/>
          </a:prstGeom>
          <a:noFill/>
          <a:ln/>
        </p:spPr>
        <p:txBody>
          <a:bodyPr wrap="square" lIns="170053" tIns="136017" rIns="170053" bIns="136017" rtlCol="0" anchor="ctr">
            <a:spAutoFit/>
          </a:bodyPr>
          <a:lstStyle/>
          <a:p>
            <a:pPr algn="l" indent="0" marL="0">
              <a:lnSpc>
                <a:spcPts val="900"/>
              </a:lnSpc>
              <a:buNone/>
            </a:pPr>
            <a:r>
              <a:rPr lang="en-US" sz="683" b="1" spc="1" kern="0" dirty="0">
                <a:solidFill>
                  <a:srgbClr val="94A3B8"/>
                </a:solidFill>
                <a:latin typeface="Roboto Mono" pitchFamily="34" charset="0"/>
                <a:ea typeface="Roboto Mono" pitchFamily="34" charset="-122"/>
                <a:cs typeface="Roboto Mono" pitchFamily="34" charset="-120"/>
              </a:rPr>
              <a:t>SPEED</a:t>
            </a:r>
            <a:endParaRPr lang="en-US" sz="683" dirty="0"/>
          </a:p>
        </p:txBody>
      </p:sp>
      <p:sp>
        <p:nvSpPr>
          <p:cNvPr id="15" name="Text 11"/>
          <p:cNvSpPr/>
          <p:nvPr/>
        </p:nvSpPr>
        <p:spPr>
          <a:xfrm>
            <a:off x="7590904" y="1832372"/>
            <a:ext cx="1124471" cy="367903"/>
          </a:xfrm>
          <a:prstGeom prst="rect">
            <a:avLst/>
          </a:prstGeom>
          <a:noFill/>
          <a:ln/>
        </p:spPr>
        <p:txBody>
          <a:bodyPr wrap="square" lIns="170053" tIns="136017" rIns="170053" bIns="136017" rtlCol="0" anchor="ctr">
            <a:spAutoFit/>
          </a:bodyPr>
          <a:lstStyle/>
          <a:p>
            <a:pPr algn="l" indent="0" marL="0">
              <a:lnSpc>
                <a:spcPts val="900"/>
              </a:lnSpc>
              <a:buNone/>
            </a:pPr>
            <a:r>
              <a:rPr lang="en-US" sz="683" b="1" spc="1" kern="0" dirty="0">
                <a:solidFill>
                  <a:srgbClr val="94A3B8"/>
                </a:solidFill>
                <a:latin typeface="Roboto Mono" pitchFamily="34" charset="0"/>
                <a:ea typeface="Roboto Mono" pitchFamily="34" charset="-122"/>
                <a:cs typeface="Roboto Mono" pitchFamily="34" charset="-120"/>
              </a:rPr>
              <a:t>CONSISTENCY</a:t>
            </a:r>
            <a:endParaRPr lang="en-US" sz="683" dirty="0"/>
          </a:p>
        </p:txBody>
      </p:sp>
      <p:sp>
        <p:nvSpPr>
          <p:cNvPr id="16" name="Text 12"/>
          <p:cNvSpPr/>
          <p:nvPr/>
        </p:nvSpPr>
        <p:spPr>
          <a:xfrm>
            <a:off x="4229100" y="2200275"/>
            <a:ext cx="1218540" cy="600075"/>
          </a:xfrm>
          <a:prstGeom prst="rect">
            <a:avLst/>
          </a:prstGeom>
          <a:noFill/>
          <a:ln/>
        </p:spPr>
        <p:txBody>
          <a:bodyPr wrap="square" lIns="170053" tIns="170053" rIns="170053" bIns="170053" rtlCol="0" anchor="ctr">
            <a:spAutoFit/>
          </a:bodyPr>
          <a:lstStyle/>
          <a:p>
            <a:pPr algn="l" indent="0" marL="0">
              <a:lnSpc>
                <a:spcPts val="1200"/>
              </a:lnSpc>
              <a:buNone/>
            </a:pPr>
            <a:r>
              <a:rPr lang="en-US" sz="942" dirty="0">
                <a:solidFill>
                  <a:srgbClr val="94A3B8"/>
                </a:solidFill>
                <a:latin typeface="Roboto" pitchFamily="34" charset="0"/>
                <a:ea typeface="Roboto" pitchFamily="34" charset="-122"/>
                <a:cs typeface="Roboto" pitchFamily="34" charset="-120"/>
              </a:rPr>
              <a:t>Manual (Spreadsheet)</a:t>
            </a:r>
            <a:endParaRPr lang="en-US" sz="942" dirty="0"/>
          </a:p>
        </p:txBody>
      </p:sp>
      <p:sp>
        <p:nvSpPr>
          <p:cNvPr id="17" name="Text 13"/>
          <p:cNvSpPr/>
          <p:nvPr/>
        </p:nvSpPr>
        <p:spPr>
          <a:xfrm>
            <a:off x="5447640" y="2200275"/>
            <a:ext cx="1313473" cy="600075"/>
          </a:xfrm>
          <a:prstGeom prst="rect">
            <a:avLst/>
          </a:prstGeom>
          <a:noFill/>
          <a:ln/>
        </p:spPr>
        <p:txBody>
          <a:bodyPr wrap="square" lIns="170053" tIns="170053" rIns="170053" bIns="170053" rtlCol="0" anchor="ctr">
            <a:spAutoFit/>
          </a:bodyPr>
          <a:lstStyle/>
          <a:p>
            <a:pPr algn="l" indent="0" marL="0">
              <a:lnSpc>
                <a:spcPts val="1200"/>
              </a:lnSpc>
              <a:buNone/>
            </a:pPr>
            <a:r>
              <a:rPr lang="en-US" sz="942" dirty="0">
                <a:solidFill>
                  <a:srgbClr val="94A3B8"/>
                </a:solidFill>
                <a:latin typeface="Roboto" pitchFamily="34" charset="0"/>
                <a:ea typeface="Roboto" pitchFamily="34" charset="-122"/>
                <a:cs typeface="Roboto" pitchFamily="34" charset="-120"/>
              </a:rPr>
              <a:t>Variable</a:t>
            </a:r>
            <a:endParaRPr lang="en-US" sz="942" dirty="0"/>
          </a:p>
        </p:txBody>
      </p:sp>
      <p:sp>
        <p:nvSpPr>
          <p:cNvPr id="18" name="Text 14"/>
          <p:cNvSpPr/>
          <p:nvPr/>
        </p:nvSpPr>
        <p:spPr>
          <a:xfrm>
            <a:off x="6761113" y="2200275"/>
            <a:ext cx="829791" cy="600075"/>
          </a:xfrm>
          <a:prstGeom prst="rect">
            <a:avLst/>
          </a:prstGeom>
          <a:noFill/>
          <a:ln/>
        </p:spPr>
        <p:txBody>
          <a:bodyPr wrap="square" lIns="170053" tIns="170053" rIns="170053" bIns="170053" rtlCol="0" anchor="ctr">
            <a:spAutoFit/>
          </a:bodyPr>
          <a:lstStyle/>
          <a:p>
            <a:pPr algn="l" indent="0" marL="0">
              <a:lnSpc>
                <a:spcPts val="1200"/>
              </a:lnSpc>
              <a:buNone/>
            </a:pPr>
            <a:r>
              <a:rPr lang="en-US" sz="942" dirty="0">
                <a:solidFill>
                  <a:srgbClr val="94A3B8"/>
                </a:solidFill>
                <a:latin typeface="Roboto" pitchFamily="34" charset="0"/>
                <a:ea typeface="Roboto" pitchFamily="34" charset="-122"/>
                <a:cs typeface="Roboto" pitchFamily="34" charset="-120"/>
              </a:rPr>
              <a:t>2–4 hours</a:t>
            </a:r>
            <a:endParaRPr lang="en-US" sz="942" dirty="0"/>
          </a:p>
        </p:txBody>
      </p:sp>
      <p:sp>
        <p:nvSpPr>
          <p:cNvPr id="19" name="Text 15"/>
          <p:cNvSpPr/>
          <p:nvPr/>
        </p:nvSpPr>
        <p:spPr>
          <a:xfrm>
            <a:off x="7590904" y="2200275"/>
            <a:ext cx="1124471" cy="600075"/>
          </a:xfrm>
          <a:prstGeom prst="rect">
            <a:avLst/>
          </a:prstGeom>
          <a:noFill/>
          <a:ln/>
        </p:spPr>
        <p:txBody>
          <a:bodyPr wrap="square" lIns="170053" tIns="170053" rIns="170053" bIns="170053" rtlCol="0" anchor="ctr">
            <a:spAutoFit/>
          </a:bodyPr>
          <a:lstStyle/>
          <a:p>
            <a:pPr algn="l" indent="0" marL="0">
              <a:lnSpc>
                <a:spcPts val="1200"/>
              </a:lnSpc>
              <a:buNone/>
            </a:pPr>
            <a:r>
              <a:rPr lang="en-US" sz="942" dirty="0">
                <a:solidFill>
                  <a:srgbClr val="94A3B8"/>
                </a:solidFill>
                <a:latin typeface="Roboto" pitchFamily="34" charset="0"/>
                <a:ea typeface="Roboto" pitchFamily="34" charset="-122"/>
                <a:cs typeface="Roboto" pitchFamily="34" charset="-120"/>
              </a:rPr>
              <a:t>Planner-dependent</a:t>
            </a:r>
            <a:endParaRPr lang="en-US" sz="942" dirty="0"/>
          </a:p>
        </p:txBody>
      </p:sp>
      <p:sp>
        <p:nvSpPr>
          <p:cNvPr id="20" name="Text 16"/>
          <p:cNvSpPr/>
          <p:nvPr/>
        </p:nvSpPr>
        <p:spPr>
          <a:xfrm>
            <a:off x="4229100" y="2800350"/>
            <a:ext cx="1218540" cy="596503"/>
          </a:xfrm>
          <a:prstGeom prst="rect">
            <a:avLst/>
          </a:prstGeom>
          <a:noFill/>
          <a:ln/>
        </p:spPr>
        <p:txBody>
          <a:bodyPr wrap="square" lIns="170053" tIns="170053" rIns="170053" bIns="170053" rtlCol="0" anchor="ctr">
            <a:spAutoFit/>
          </a:bodyPr>
          <a:lstStyle/>
          <a:p>
            <a:pPr algn="l" indent="0" marL="0">
              <a:lnSpc>
                <a:spcPts val="1200"/>
              </a:lnSpc>
              <a:buNone/>
            </a:pPr>
            <a:r>
              <a:rPr lang="en-US" sz="942" dirty="0">
                <a:solidFill>
                  <a:srgbClr val="CBD5E1"/>
                </a:solidFill>
                <a:latin typeface="Roboto" pitchFamily="34" charset="0"/>
                <a:ea typeface="Roboto" pitchFamily="34" charset="-122"/>
                <a:cs typeface="Roboto" pitchFamily="34" charset="-120"/>
              </a:rPr>
              <a:t>Rule-based Heuristic</a:t>
            </a:r>
            <a:endParaRPr lang="en-US" sz="942" dirty="0"/>
          </a:p>
        </p:txBody>
      </p:sp>
      <p:sp>
        <p:nvSpPr>
          <p:cNvPr id="21" name="Text 17"/>
          <p:cNvSpPr/>
          <p:nvPr/>
        </p:nvSpPr>
        <p:spPr>
          <a:xfrm>
            <a:off x="5447640" y="2800350"/>
            <a:ext cx="1313473" cy="596503"/>
          </a:xfrm>
          <a:prstGeom prst="rect">
            <a:avLst/>
          </a:prstGeom>
          <a:noFill/>
          <a:ln/>
        </p:spPr>
        <p:txBody>
          <a:bodyPr wrap="square" lIns="170053" tIns="170053" rIns="170053" bIns="170053" rtlCol="0" anchor="ctr">
            <a:spAutoFit/>
          </a:bodyPr>
          <a:lstStyle/>
          <a:p>
            <a:pPr algn="l" indent="0" marL="0">
              <a:lnSpc>
                <a:spcPts val="1200"/>
              </a:lnSpc>
              <a:buNone/>
            </a:pPr>
            <a:r>
              <a:rPr lang="en-US" sz="942" dirty="0">
                <a:solidFill>
                  <a:srgbClr val="CBD5E1"/>
                </a:solidFill>
                <a:latin typeface="Roboto" pitchFamily="34" charset="0"/>
                <a:ea typeface="Roboto" pitchFamily="34" charset="-122"/>
                <a:cs typeface="Roboto" pitchFamily="34" charset="-120"/>
              </a:rPr>
              <a:t>Good</a:t>
            </a:r>
            <a:endParaRPr lang="en-US" sz="942" dirty="0"/>
          </a:p>
        </p:txBody>
      </p:sp>
      <p:sp>
        <p:nvSpPr>
          <p:cNvPr id="22" name="Text 18"/>
          <p:cNvSpPr/>
          <p:nvPr/>
        </p:nvSpPr>
        <p:spPr>
          <a:xfrm>
            <a:off x="6761113" y="2800350"/>
            <a:ext cx="829791" cy="596503"/>
          </a:xfrm>
          <a:prstGeom prst="rect">
            <a:avLst/>
          </a:prstGeom>
          <a:noFill/>
          <a:ln/>
        </p:spPr>
        <p:txBody>
          <a:bodyPr wrap="square" lIns="170053" tIns="170053" rIns="170053" bIns="170053" rtlCol="0" anchor="ctr">
            <a:spAutoFit/>
          </a:bodyPr>
          <a:lstStyle/>
          <a:p>
            <a:pPr algn="l" indent="0" marL="0">
              <a:lnSpc>
                <a:spcPts val="1200"/>
              </a:lnSpc>
              <a:buNone/>
            </a:pPr>
            <a:r>
              <a:rPr lang="en-US" sz="942" dirty="0">
                <a:solidFill>
                  <a:srgbClr val="CBD5E1"/>
                </a:solidFill>
                <a:latin typeface="Roboto" pitchFamily="34" charset="0"/>
                <a:ea typeface="Roboto" pitchFamily="34" charset="-122"/>
                <a:cs typeface="Roboto" pitchFamily="34" charset="-120"/>
              </a:rPr>
              <a:t>Minutes</a:t>
            </a:r>
            <a:endParaRPr lang="en-US" sz="942" dirty="0"/>
          </a:p>
        </p:txBody>
      </p:sp>
      <p:sp>
        <p:nvSpPr>
          <p:cNvPr id="23" name="Text 19"/>
          <p:cNvSpPr/>
          <p:nvPr/>
        </p:nvSpPr>
        <p:spPr>
          <a:xfrm>
            <a:off x="7590904" y="2800350"/>
            <a:ext cx="1124471" cy="596503"/>
          </a:xfrm>
          <a:prstGeom prst="rect">
            <a:avLst/>
          </a:prstGeom>
          <a:noFill/>
          <a:ln/>
        </p:spPr>
        <p:txBody>
          <a:bodyPr wrap="square" lIns="170053" tIns="170053" rIns="170053" bIns="170053" rtlCol="0" anchor="ctr">
            <a:spAutoFit/>
          </a:bodyPr>
          <a:lstStyle/>
          <a:p>
            <a:pPr algn="l" indent="0" marL="0">
              <a:lnSpc>
                <a:spcPts val="1200"/>
              </a:lnSpc>
              <a:buNone/>
            </a:pPr>
            <a:r>
              <a:rPr lang="en-US" sz="942" dirty="0">
                <a:solidFill>
                  <a:srgbClr val="CBD5E1"/>
                </a:solidFill>
                <a:latin typeface="Roboto" pitchFamily="34" charset="0"/>
                <a:ea typeface="Roboto" pitchFamily="34" charset="-122"/>
                <a:cs typeface="Roboto" pitchFamily="34" charset="-120"/>
              </a:rPr>
              <a:t>Consistent</a:t>
            </a:r>
            <a:endParaRPr lang="en-US" sz="942" dirty="0"/>
          </a:p>
        </p:txBody>
      </p:sp>
      <p:sp>
        <p:nvSpPr>
          <p:cNvPr id="24" name="Shape 20"/>
          <p:cNvSpPr/>
          <p:nvPr/>
        </p:nvSpPr>
        <p:spPr>
          <a:xfrm>
            <a:off x="4229100" y="3396853"/>
            <a:ext cx="4486275" cy="592931"/>
          </a:xfrm>
          <a:prstGeom prst="rect">
            <a:avLst/>
          </a:prstGeom>
          <a:solidFill>
            <a:srgbClr val="10B981">
              <a:alpha val="10000"/>
            </a:srgbClr>
          </a:solidFill>
          <a:ln/>
        </p:spPr>
      </p:sp>
      <p:sp>
        <p:nvSpPr>
          <p:cNvPr id="25" name="Shape 21"/>
          <p:cNvSpPr/>
          <p:nvPr/>
        </p:nvSpPr>
        <p:spPr>
          <a:xfrm>
            <a:off x="4229100" y="3396853"/>
            <a:ext cx="28575" cy="592931"/>
          </a:xfrm>
          <a:prstGeom prst="rect">
            <a:avLst/>
          </a:prstGeom>
          <a:solidFill>
            <a:srgbClr val="10B981"/>
          </a:solidFill>
          <a:ln/>
        </p:spPr>
      </p:sp>
      <p:sp>
        <p:nvSpPr>
          <p:cNvPr id="26" name="Text 22"/>
          <p:cNvSpPr/>
          <p:nvPr/>
        </p:nvSpPr>
        <p:spPr>
          <a:xfrm>
            <a:off x="4214813" y="3396853"/>
            <a:ext cx="1222977" cy="592931"/>
          </a:xfrm>
          <a:prstGeom prst="rect">
            <a:avLst/>
          </a:prstGeom>
          <a:noFill/>
          <a:ln/>
        </p:spPr>
        <p:txBody>
          <a:bodyPr wrap="square" lIns="170053" tIns="170053" rIns="170053" bIns="170053" rtlCol="0" anchor="ctr">
            <a:spAutoFit/>
          </a:bodyPr>
          <a:lstStyle/>
          <a:p>
            <a:pPr algn="l" indent="0" marL="0">
              <a:lnSpc>
                <a:spcPts val="1200"/>
              </a:lnSpc>
              <a:buNone/>
            </a:pPr>
            <a:r>
              <a:rPr lang="en-US" sz="885" b="1" dirty="0">
                <a:solidFill>
                  <a:srgbClr val="F8FAFC"/>
                </a:solidFill>
                <a:latin typeface="Roboto" pitchFamily="34" charset="0"/>
                <a:ea typeface="Roboto" pitchFamily="34" charset="-122"/>
                <a:cs typeface="Roboto" pitchFamily="34" charset="-120"/>
              </a:rPr>
              <a:t>CP-SAT Optimizer</a:t>
            </a:r>
            <a:endParaRPr lang="en-US" sz="885" dirty="0"/>
          </a:p>
        </p:txBody>
      </p:sp>
      <p:sp>
        <p:nvSpPr>
          <p:cNvPr id="27" name="Text 23"/>
          <p:cNvSpPr/>
          <p:nvPr/>
        </p:nvSpPr>
        <p:spPr>
          <a:xfrm>
            <a:off x="5437789" y="3396853"/>
            <a:ext cx="1318161" cy="592931"/>
          </a:xfrm>
          <a:prstGeom prst="rect">
            <a:avLst/>
          </a:prstGeom>
          <a:noFill/>
          <a:ln/>
        </p:spPr>
        <p:txBody>
          <a:bodyPr wrap="square" lIns="170053" tIns="170053" rIns="170053" bIns="170053" rtlCol="0" anchor="ctr">
            <a:spAutoFit/>
          </a:bodyPr>
          <a:lstStyle/>
          <a:p>
            <a:pPr algn="l" indent="0" marL="0">
              <a:lnSpc>
                <a:spcPts val="1200"/>
              </a:lnSpc>
              <a:buNone/>
            </a:pPr>
            <a:r>
              <a:rPr lang="en-US" sz="885" b="1" dirty="0">
                <a:solidFill>
                  <a:srgbClr val="F8FAFC"/>
                </a:solidFill>
                <a:latin typeface="Roboto" pitchFamily="34" charset="0"/>
                <a:ea typeface="Roboto" pitchFamily="34" charset="-122"/>
                <a:cs typeface="Roboto" pitchFamily="34" charset="-120"/>
              </a:rPr>
              <a:t>Mathematically Optimal</a:t>
            </a:r>
            <a:endParaRPr lang="en-US" sz="885" dirty="0"/>
          </a:p>
        </p:txBody>
      </p:sp>
      <p:sp>
        <p:nvSpPr>
          <p:cNvPr id="28" name="Text 24"/>
          <p:cNvSpPr/>
          <p:nvPr/>
        </p:nvSpPr>
        <p:spPr>
          <a:xfrm>
            <a:off x="6755950" y="3396853"/>
            <a:ext cx="831745" cy="592931"/>
          </a:xfrm>
          <a:prstGeom prst="rect">
            <a:avLst/>
          </a:prstGeom>
          <a:noFill/>
          <a:ln/>
        </p:spPr>
        <p:txBody>
          <a:bodyPr wrap="square" lIns="170053" tIns="170053" rIns="170053" bIns="170053" rtlCol="0" anchor="ctr">
            <a:spAutoFit/>
          </a:bodyPr>
          <a:lstStyle/>
          <a:p>
            <a:pPr algn="l" indent="0" marL="0">
              <a:lnSpc>
                <a:spcPts val="1200"/>
              </a:lnSpc>
              <a:buNone/>
            </a:pPr>
            <a:r>
              <a:rPr lang="en-US" sz="885" b="1" dirty="0">
                <a:solidFill>
                  <a:srgbClr val="F8FAFC"/>
                </a:solidFill>
                <a:latin typeface="Roboto" pitchFamily="34" charset="0"/>
                <a:ea typeface="Roboto" pitchFamily="34" charset="-122"/>
                <a:cs typeface="Roboto" pitchFamily="34" charset="-120"/>
              </a:rPr>
              <a:t>&lt; 5 seconds</a:t>
            </a:r>
            <a:endParaRPr lang="en-US" sz="885" dirty="0"/>
          </a:p>
        </p:txBody>
      </p:sp>
      <p:sp>
        <p:nvSpPr>
          <p:cNvPr id="29" name="Text 25"/>
          <p:cNvSpPr/>
          <p:nvPr/>
        </p:nvSpPr>
        <p:spPr>
          <a:xfrm>
            <a:off x="7587695" y="3396853"/>
            <a:ext cx="1127680" cy="592931"/>
          </a:xfrm>
          <a:prstGeom prst="rect">
            <a:avLst/>
          </a:prstGeom>
          <a:noFill/>
          <a:ln/>
        </p:spPr>
        <p:txBody>
          <a:bodyPr wrap="square" lIns="170053" tIns="170053" rIns="170053" bIns="170053" rtlCol="0" anchor="ctr">
            <a:spAutoFit/>
          </a:bodyPr>
          <a:lstStyle/>
          <a:p>
            <a:pPr algn="l" indent="0" marL="0">
              <a:lnSpc>
                <a:spcPts val="1200"/>
              </a:lnSpc>
              <a:buNone/>
            </a:pPr>
            <a:r>
              <a:rPr lang="en-US" sz="885" b="1" dirty="0">
                <a:solidFill>
                  <a:srgbClr val="F8FAFC"/>
                </a:solidFill>
                <a:latin typeface="Roboto" pitchFamily="34" charset="0"/>
                <a:ea typeface="Roboto" pitchFamily="34" charset="-122"/>
                <a:cs typeface="Roboto" pitchFamily="34" charset="-120"/>
              </a:rPr>
              <a:t>100% Consistent</a:t>
            </a:r>
            <a:endParaRPr lang="en-US" sz="885" dirty="0"/>
          </a:p>
        </p:txBody>
      </p:sp>
      <p:sp>
        <p:nvSpPr>
          <p:cNvPr id="30" name="Text 26"/>
          <p:cNvSpPr/>
          <p:nvPr/>
        </p:nvSpPr>
        <p:spPr>
          <a:xfrm>
            <a:off x="428625" y="4816673"/>
            <a:ext cx="8286750" cy="112514"/>
          </a:xfrm>
          <a:prstGeom prst="rect">
            <a:avLst/>
          </a:prstGeom>
          <a:noFill/>
          <a:ln/>
        </p:spPr>
        <p:txBody>
          <a:bodyPr wrap="none" lIns="0" tIns="0" rIns="0" bIns="0" rtlCol="0" anchor="t">
            <a:spAutoFit/>
          </a:bodyPr>
          <a:lstStyle/>
          <a:p>
            <a:pPr algn="r" indent="0" marL="0">
              <a:lnSpc>
                <a:spcPts val="800"/>
              </a:lnSpc>
              <a:buNone/>
            </a:pPr>
            <a:r>
              <a:rPr lang="en-US" sz="621" dirty="0">
                <a:solidFill>
                  <a:srgbClr val="475569"/>
                </a:solidFill>
                <a:latin typeface="Roboto Mono" pitchFamily="34" charset="0"/>
                <a:ea typeface="Roboto Mono" pitchFamily="34" charset="-122"/>
                <a:cs typeface="Roboto Mono" pitchFamily="34" charset="-120"/>
              </a:rPr>
              <a:t>CONFIDENTIAL | INTERNAL DEMO | 2026</a:t>
            </a:r>
            <a:endParaRPr lang="en-US" sz="62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28625" y="428625"/>
            <a:ext cx="8286750" cy="714375"/>
          </a:xfrm>
          <a:prstGeom prst="rect">
            <a:avLst/>
          </a:prstGeom>
          <a:solidFill>
            <a:srgbClr val="000000">
              <a:alpha val="0"/>
            </a:srgbClr>
          </a:solidFill>
          <a:ln/>
        </p:spPr>
      </p:sp>
      <p:sp>
        <p:nvSpPr>
          <p:cNvPr id="4" name="Shape 1"/>
          <p:cNvSpPr/>
          <p:nvPr/>
        </p:nvSpPr>
        <p:spPr>
          <a:xfrm>
            <a:off x="428625" y="1135856"/>
            <a:ext cx="8286750" cy="7144"/>
          </a:xfrm>
          <a:prstGeom prst="rect">
            <a:avLst/>
          </a:prstGeom>
          <a:solidFill>
            <a:srgbClr val="334155"/>
          </a:solidFill>
          <a:ln/>
        </p:spPr>
      </p:sp>
      <p:sp>
        <p:nvSpPr>
          <p:cNvPr id="5" name="Text 2"/>
          <p:cNvSpPr/>
          <p:nvPr/>
        </p:nvSpPr>
        <p:spPr>
          <a:xfrm>
            <a:off x="428625" y="428625"/>
            <a:ext cx="8286750" cy="339328"/>
          </a:xfrm>
          <a:prstGeom prst="rect">
            <a:avLst/>
          </a:prstGeom>
          <a:noFill/>
          <a:ln/>
        </p:spPr>
        <p:txBody>
          <a:bodyPr wrap="none" lIns="0" tIns="0" rIns="0" bIns="0" rtlCol="0" anchor="t">
            <a:spAutoFit/>
          </a:bodyPr>
          <a:lstStyle/>
          <a:p>
            <a:pPr algn="l" indent="0" marL="0">
              <a:lnSpc>
                <a:spcPts val="2400"/>
              </a:lnSpc>
              <a:buNone/>
            </a:pPr>
            <a:r>
              <a:rPr lang="en-US" sz="1808" b="1" dirty="0">
                <a:solidFill>
                  <a:srgbClr val="F8FAFC"/>
                </a:solidFill>
                <a:latin typeface="Roboto Mono" pitchFamily="34" charset="0"/>
                <a:ea typeface="Roboto Mono" pitchFamily="34" charset="-122"/>
                <a:cs typeface="Roboto Mono" pitchFamily="34" charset="-120"/>
              </a:rPr>
              <a:t>Results at a Glance: KPI Dashboard</a:t>
            </a:r>
            <a:endParaRPr lang="en-US" sz="1808" dirty="0"/>
          </a:p>
        </p:txBody>
      </p:sp>
      <p:sp>
        <p:nvSpPr>
          <p:cNvPr id="6" name="Text 3"/>
          <p:cNvSpPr/>
          <p:nvPr/>
        </p:nvSpPr>
        <p:spPr>
          <a:xfrm>
            <a:off x="428625" y="825103"/>
            <a:ext cx="8286750" cy="167878"/>
          </a:xfrm>
          <a:prstGeom prst="rect">
            <a:avLst/>
          </a:prstGeom>
          <a:noFill/>
          <a:ln/>
        </p:spPr>
        <p:txBody>
          <a:bodyPr wrap="none" lIns="0" tIns="0" rIns="0" bIns="0" rtlCol="0" anchor="t">
            <a:spAutoFit/>
          </a:bodyPr>
          <a:lstStyle/>
          <a:p>
            <a:pPr algn="l" indent="0" marL="0">
              <a:lnSpc>
                <a:spcPts val="1400"/>
              </a:lnSpc>
              <a:buNone/>
            </a:pPr>
            <a:r>
              <a:rPr lang="en-US" sz="1050" dirty="0">
                <a:solidFill>
                  <a:srgbClr val="94A3B8"/>
                </a:solidFill>
                <a:latin typeface="Roboto" pitchFamily="34" charset="0"/>
                <a:ea typeface="Roboto" pitchFamily="34" charset="-122"/>
                <a:cs typeface="Roboto" pitchFamily="34" charset="-120"/>
              </a:rPr>
              <a:t>Instant Executive Visibility — Four Numbers That Tell the Whole Story</a:t>
            </a:r>
            <a:endParaRPr lang="en-US" sz="1050" dirty="0"/>
          </a:p>
        </p:txBody>
      </p:sp>
      <p:sp>
        <p:nvSpPr>
          <p:cNvPr id="7" name="Shape 4"/>
          <p:cNvSpPr/>
          <p:nvPr/>
        </p:nvSpPr>
        <p:spPr>
          <a:xfrm>
            <a:off x="428625" y="1564481"/>
            <a:ext cx="1910953" cy="1714500"/>
          </a:xfrm>
          <a:prstGeom prst="rect">
            <a:avLst/>
          </a:prstGeom>
          <a:solidFill>
            <a:srgbClr val="1E293B">
              <a:alpha val="60000"/>
            </a:srgbClr>
          </a:solidFill>
          <a:ln w="9144">
            <a:solidFill>
              <a:srgbClr val="334155"/>
            </a:solidFill>
            <a:prstDash val="solid"/>
          </a:ln>
        </p:spPr>
      </p:sp>
      <p:sp>
        <p:nvSpPr>
          <p:cNvPr id="8" name="Shape 5"/>
          <p:cNvSpPr/>
          <p:nvPr/>
        </p:nvSpPr>
        <p:spPr>
          <a:xfrm>
            <a:off x="428625" y="1564481"/>
            <a:ext cx="1896666" cy="28575"/>
          </a:xfrm>
          <a:prstGeom prst="rect">
            <a:avLst/>
          </a:prstGeom>
          <a:solidFill>
            <a:srgbClr val="3B82F6"/>
          </a:solidFill>
          <a:ln/>
        </p:spPr>
      </p:sp>
      <p:sp>
        <p:nvSpPr>
          <p:cNvPr id="9" name="Text 6"/>
          <p:cNvSpPr/>
          <p:nvPr/>
        </p:nvSpPr>
        <p:spPr>
          <a:xfrm>
            <a:off x="642938" y="1778794"/>
            <a:ext cx="746522" cy="132159"/>
          </a:xfrm>
          <a:prstGeom prst="rect">
            <a:avLst/>
          </a:prstGeom>
          <a:noFill/>
          <a:ln/>
        </p:spPr>
        <p:txBody>
          <a:bodyPr wrap="none" lIns="0" tIns="0" rIns="0" bIns="0" rtlCol="0" anchor="t">
            <a:spAutoFit/>
          </a:bodyPr>
          <a:lstStyle/>
          <a:p>
            <a:pPr algn="l" indent="0" marL="0">
              <a:lnSpc>
                <a:spcPts val="900"/>
              </a:lnSpc>
              <a:buNone/>
            </a:pPr>
            <a:r>
              <a:rPr lang="en-US" sz="727" spc="1" kern="0" dirty="0">
                <a:solidFill>
                  <a:srgbClr val="94A3B8"/>
                </a:solidFill>
                <a:latin typeface="Roboto Mono" pitchFamily="34" charset="0"/>
                <a:ea typeface="Roboto Mono" pitchFamily="34" charset="-122"/>
                <a:cs typeface="Roboto Mono" pitchFamily="34" charset="-120"/>
              </a:rPr>
              <a:t>TOTAL UNITS</a:t>
            </a:r>
            <a:endParaRPr lang="en-US" sz="727" dirty="0"/>
          </a:p>
        </p:txBody>
      </p:sp>
      <p:pic>
        <p:nvPicPr>
          <p:cNvPr id="10" name="Image 1" descr="preencoded.png">    </p:cNvPr>
          <p:cNvPicPr>
            <a:picLocks noChangeAspect="1"/>
          </p:cNvPicPr>
          <p:nvPr/>
        </p:nvPicPr>
        <p:blipFill>
          <a:blip r:embed="rId2"/>
          <a:stretch>
            <a:fillRect/>
          </a:stretch>
        </p:blipFill>
        <p:spPr>
          <a:xfrm>
            <a:off x="1994892" y="1794867"/>
            <a:ext cx="119658" cy="100013"/>
          </a:xfrm>
          <a:prstGeom prst="rect">
            <a:avLst/>
          </a:prstGeom>
        </p:spPr>
      </p:pic>
      <p:sp>
        <p:nvSpPr>
          <p:cNvPr id="11" name="Text 7"/>
          <p:cNvSpPr/>
          <p:nvPr/>
        </p:nvSpPr>
        <p:spPr>
          <a:xfrm>
            <a:off x="642938" y="2053828"/>
            <a:ext cx="1471613" cy="601861"/>
          </a:xfrm>
          <a:prstGeom prst="rect">
            <a:avLst/>
          </a:prstGeom>
          <a:noFill/>
          <a:ln/>
        </p:spPr>
        <p:txBody>
          <a:bodyPr wrap="none" lIns="0" tIns="0" rIns="0" bIns="0" rtlCol="0" anchor="t">
            <a:spAutoFit/>
          </a:bodyPr>
          <a:lstStyle/>
          <a:p>
            <a:pPr algn="l" indent="0" marL="0">
              <a:lnSpc>
                <a:spcPts val="4300"/>
              </a:lnSpc>
              <a:buNone/>
            </a:pPr>
            <a:r>
              <a:rPr lang="en-US" sz="3294" b="1" dirty="0">
                <a:solidFill>
                  <a:srgbClr val="F8FAFC"/>
                </a:solidFill>
                <a:latin typeface="Roboto Mono" pitchFamily="34" charset="0"/>
                <a:ea typeface="Roboto Mono" pitchFamily="34" charset="-122"/>
                <a:cs typeface="Roboto Mono" pitchFamily="34" charset="-120"/>
              </a:rPr>
              <a:t>92</a:t>
            </a:r>
            <a:endParaRPr lang="en-US" sz="3294" dirty="0"/>
          </a:p>
        </p:txBody>
      </p:sp>
      <p:sp>
        <p:nvSpPr>
          <p:cNvPr id="12" name="Text 8"/>
          <p:cNvSpPr/>
          <p:nvPr/>
        </p:nvSpPr>
        <p:spPr>
          <a:xfrm>
            <a:off x="642938" y="2798564"/>
            <a:ext cx="1471613" cy="394302"/>
          </a:xfrm>
          <a:prstGeom prst="rect">
            <a:avLst/>
          </a:prstGeom>
          <a:noFill/>
          <a:ln/>
        </p:spPr>
        <p:txBody>
          <a:bodyPr wrap="square" lIns="0" tIns="127508" rIns="0" bIns="0" rtlCol="0" anchor="t">
            <a:spAutoFit/>
          </a:bodyPr>
          <a:lstStyle/>
          <a:p>
            <a:pPr algn="l" indent="0" marL="0">
              <a:lnSpc>
                <a:spcPts val="1100"/>
              </a:lnSpc>
              <a:buNone/>
            </a:pPr>
            <a:r>
              <a:rPr lang="en-US" sz="727" dirty="0">
                <a:solidFill>
                  <a:srgbClr val="94A3B8"/>
                </a:solidFill>
                <a:latin typeface="Roboto" pitchFamily="34" charset="0"/>
                <a:ea typeface="Roboto" pitchFamily="34" charset="-122"/>
                <a:cs typeface="Roboto" pitchFamily="34" charset="-120"/>
              </a:rPr>
              <a:t>Scheduled This Week</a:t>
            </a:r>
            <a:pPr algn="l" indent="0" marL="0">
              <a:lnSpc>
                <a:spcPts val="1100"/>
              </a:lnSpc>
              <a:buNone/>
            </a:pPr>
            <a:r>
              <a:rPr lang="en-US" sz="727" dirty="0">
                <a:solidFill>
                  <a:srgbClr val="94A3B8"/>
                </a:solidFill>
                <a:latin typeface="Roboto" pitchFamily="34" charset="0"/>
                <a:ea typeface="Roboto" pitchFamily="34" charset="-122"/>
                <a:cs typeface="Roboto" pitchFamily="34" charset="-120"/>
              </a:rPr>
              <a:t>
</a:t>
            </a:r>
            <a:pPr algn="l" indent="0" marL="0">
              <a:lnSpc>
                <a:spcPts val="1100"/>
              </a:lnSpc>
              <a:buNone/>
            </a:pPr>
            <a:r>
              <a:rPr lang="en-US" sz="727" dirty="0">
                <a:solidFill>
                  <a:srgbClr val="94A3B8"/>
                </a:solidFill>
                <a:latin typeface="Roboto" pitchFamily="34" charset="0"/>
                <a:ea typeface="Roboto" pitchFamily="34" charset="-122"/>
                <a:cs typeface="Roboto" pitchFamily="34" charset="-120"/>
              </a:rPr>
              <a:t> </a:t>
            </a:r>
            <a:pPr algn="l" indent="0" marL="0">
              <a:lnSpc>
                <a:spcPts val="1100"/>
              </a:lnSpc>
              <a:buNone/>
            </a:pPr>
            <a:r>
              <a:rPr lang="en-US" sz="727" dirty="0">
                <a:solidFill>
                  <a:srgbClr val="3B82F6"/>
                </a:solidFill>
                <a:latin typeface="Roboto" pitchFamily="34" charset="0"/>
                <a:ea typeface="Roboto" pitchFamily="34" charset="-122"/>
                <a:cs typeface="Roboto" pitchFamily="34" charset="-120"/>
              </a:rPr>
              <a:t>All demand fulfilled</a:t>
            </a:r>
            <a:pPr algn="l" indent="0" marL="0">
              <a:lnSpc>
                <a:spcPts val="1100"/>
              </a:lnSpc>
              <a:buNone/>
            </a:pPr>
            <a:endParaRPr lang="en-US" sz="727" dirty="0"/>
          </a:p>
        </p:txBody>
      </p:sp>
      <p:sp>
        <p:nvSpPr>
          <p:cNvPr id="13" name="Shape 9"/>
          <p:cNvSpPr/>
          <p:nvPr/>
        </p:nvSpPr>
        <p:spPr>
          <a:xfrm>
            <a:off x="2543175" y="1564481"/>
            <a:ext cx="1914525" cy="1714500"/>
          </a:xfrm>
          <a:prstGeom prst="rect">
            <a:avLst/>
          </a:prstGeom>
          <a:solidFill>
            <a:srgbClr val="1E293B">
              <a:alpha val="60000"/>
            </a:srgbClr>
          </a:solidFill>
          <a:ln w="9144">
            <a:solidFill>
              <a:srgbClr val="334155"/>
            </a:solidFill>
            <a:prstDash val="solid"/>
          </a:ln>
        </p:spPr>
      </p:sp>
      <p:sp>
        <p:nvSpPr>
          <p:cNvPr id="14" name="Shape 10"/>
          <p:cNvSpPr/>
          <p:nvPr/>
        </p:nvSpPr>
        <p:spPr>
          <a:xfrm>
            <a:off x="2546747" y="1564481"/>
            <a:ext cx="1896666" cy="28575"/>
          </a:xfrm>
          <a:prstGeom prst="rect">
            <a:avLst/>
          </a:prstGeom>
          <a:solidFill>
            <a:srgbClr val="8B5CF6"/>
          </a:solidFill>
          <a:ln/>
        </p:spPr>
      </p:sp>
      <p:sp>
        <p:nvSpPr>
          <p:cNvPr id="15" name="Text 11"/>
          <p:cNvSpPr/>
          <p:nvPr/>
        </p:nvSpPr>
        <p:spPr>
          <a:xfrm>
            <a:off x="2761059" y="1778794"/>
            <a:ext cx="407194" cy="132159"/>
          </a:xfrm>
          <a:prstGeom prst="rect">
            <a:avLst/>
          </a:prstGeom>
          <a:noFill/>
          <a:ln/>
        </p:spPr>
        <p:txBody>
          <a:bodyPr wrap="none" lIns="0" tIns="0" rIns="0" bIns="0" rtlCol="0" anchor="t">
            <a:spAutoFit/>
          </a:bodyPr>
          <a:lstStyle/>
          <a:p>
            <a:pPr algn="l" indent="0" marL="0">
              <a:lnSpc>
                <a:spcPts val="900"/>
              </a:lnSpc>
              <a:buNone/>
            </a:pPr>
            <a:r>
              <a:rPr lang="en-US" sz="727" spc="1" kern="0" dirty="0">
                <a:solidFill>
                  <a:srgbClr val="94A3B8"/>
                </a:solidFill>
                <a:latin typeface="Roboto Mono" pitchFamily="34" charset="0"/>
                <a:ea typeface="Roboto Mono" pitchFamily="34" charset="-122"/>
                <a:cs typeface="Roboto Mono" pitchFamily="34" charset="-120"/>
              </a:rPr>
              <a:t>MODELS</a:t>
            </a:r>
            <a:endParaRPr lang="en-US" sz="727" dirty="0"/>
          </a:p>
        </p:txBody>
      </p:sp>
      <p:pic>
        <p:nvPicPr>
          <p:cNvPr id="16" name="Image 2" descr="preencoded.png">    </p:cNvPr>
          <p:cNvPicPr>
            <a:picLocks noChangeAspect="1"/>
          </p:cNvPicPr>
          <p:nvPr/>
        </p:nvPicPr>
        <p:blipFill>
          <a:blip r:embed="rId3"/>
          <a:stretch>
            <a:fillRect/>
          </a:stretch>
        </p:blipFill>
        <p:spPr>
          <a:xfrm>
            <a:off x="4129088" y="1794867"/>
            <a:ext cx="107156" cy="100013"/>
          </a:xfrm>
          <a:prstGeom prst="rect">
            <a:avLst/>
          </a:prstGeom>
        </p:spPr>
      </p:pic>
      <p:sp>
        <p:nvSpPr>
          <p:cNvPr id="17" name="Text 12"/>
          <p:cNvSpPr/>
          <p:nvPr/>
        </p:nvSpPr>
        <p:spPr>
          <a:xfrm>
            <a:off x="2761059" y="2053828"/>
            <a:ext cx="1475184" cy="601861"/>
          </a:xfrm>
          <a:prstGeom prst="rect">
            <a:avLst/>
          </a:prstGeom>
          <a:noFill/>
          <a:ln/>
        </p:spPr>
        <p:txBody>
          <a:bodyPr wrap="none" lIns="0" tIns="0" rIns="0" bIns="0" rtlCol="0" anchor="t">
            <a:spAutoFit/>
          </a:bodyPr>
          <a:lstStyle/>
          <a:p>
            <a:pPr algn="l" indent="0" marL="0">
              <a:lnSpc>
                <a:spcPts val="4300"/>
              </a:lnSpc>
              <a:buNone/>
            </a:pPr>
            <a:r>
              <a:rPr lang="en-US" sz="3294" b="1" dirty="0">
                <a:solidFill>
                  <a:srgbClr val="F8FAFC"/>
                </a:solidFill>
                <a:latin typeface="Roboto Mono" pitchFamily="34" charset="0"/>
                <a:ea typeface="Roboto Mono" pitchFamily="34" charset="-122"/>
                <a:cs typeface="Roboto Mono" pitchFamily="34" charset="-120"/>
              </a:rPr>
              <a:t>5</a:t>
            </a:r>
            <a:endParaRPr lang="en-US" sz="3294" dirty="0"/>
          </a:p>
        </p:txBody>
      </p:sp>
      <p:sp>
        <p:nvSpPr>
          <p:cNvPr id="18" name="Text 13"/>
          <p:cNvSpPr/>
          <p:nvPr/>
        </p:nvSpPr>
        <p:spPr>
          <a:xfrm>
            <a:off x="2761059" y="2798564"/>
            <a:ext cx="1475184" cy="394302"/>
          </a:xfrm>
          <a:prstGeom prst="rect">
            <a:avLst/>
          </a:prstGeom>
          <a:noFill/>
          <a:ln/>
        </p:spPr>
        <p:txBody>
          <a:bodyPr wrap="square" lIns="0" tIns="127508" rIns="0" bIns="0" rtlCol="0" anchor="t">
            <a:spAutoFit/>
          </a:bodyPr>
          <a:lstStyle/>
          <a:p>
            <a:pPr algn="l" indent="0" marL="0">
              <a:lnSpc>
                <a:spcPts val="1100"/>
              </a:lnSpc>
              <a:buNone/>
            </a:pPr>
            <a:r>
              <a:rPr lang="en-US" sz="727" dirty="0">
                <a:solidFill>
                  <a:srgbClr val="94A3B8"/>
                </a:solidFill>
                <a:latin typeface="Roboto" pitchFamily="34" charset="0"/>
                <a:ea typeface="Roboto" pitchFamily="34" charset="-122"/>
                <a:cs typeface="Roboto" pitchFamily="34" charset="-120"/>
              </a:rPr>
              <a:t>Distinct Product Models</a:t>
            </a:r>
            <a:pPr algn="l" indent="0" marL="0">
              <a:lnSpc>
                <a:spcPts val="1100"/>
              </a:lnSpc>
              <a:buNone/>
            </a:pPr>
            <a:r>
              <a:rPr lang="en-US" sz="727" dirty="0">
                <a:solidFill>
                  <a:srgbClr val="94A3B8"/>
                </a:solidFill>
                <a:latin typeface="Roboto" pitchFamily="34" charset="0"/>
                <a:ea typeface="Roboto" pitchFamily="34" charset="-122"/>
                <a:cs typeface="Roboto" pitchFamily="34" charset="-120"/>
              </a:rPr>
              <a:t>
</a:t>
            </a:r>
            <a:pPr algn="l" indent="0" marL="0">
              <a:lnSpc>
                <a:spcPts val="1100"/>
              </a:lnSpc>
              <a:buNone/>
            </a:pPr>
            <a:r>
              <a:rPr lang="en-US" sz="727" dirty="0">
                <a:solidFill>
                  <a:srgbClr val="94A3B8"/>
                </a:solidFill>
                <a:latin typeface="Roboto" pitchFamily="34" charset="0"/>
                <a:ea typeface="Roboto" pitchFamily="34" charset="-122"/>
                <a:cs typeface="Roboto" pitchFamily="34" charset="-120"/>
              </a:rPr>
              <a:t> </a:t>
            </a:r>
            <a:pPr algn="l" indent="0" marL="0">
              <a:lnSpc>
                <a:spcPts val="1100"/>
              </a:lnSpc>
              <a:buNone/>
            </a:pPr>
            <a:r>
              <a:rPr lang="en-US" sz="727" dirty="0">
                <a:solidFill>
                  <a:srgbClr val="8B5CF6"/>
                </a:solidFill>
                <a:latin typeface="Roboto" pitchFamily="34" charset="0"/>
                <a:ea typeface="Roboto" pitchFamily="34" charset="-122"/>
                <a:cs typeface="Roboto" pitchFamily="34" charset="-120"/>
              </a:rPr>
              <a:t>A, B, C, D, E</a:t>
            </a:r>
            <a:pPr algn="l" indent="0" marL="0">
              <a:lnSpc>
                <a:spcPts val="1100"/>
              </a:lnSpc>
              <a:buNone/>
            </a:pPr>
            <a:endParaRPr lang="en-US" sz="727" dirty="0"/>
          </a:p>
        </p:txBody>
      </p:sp>
      <p:sp>
        <p:nvSpPr>
          <p:cNvPr id="19" name="Shape 14"/>
          <p:cNvSpPr/>
          <p:nvPr/>
        </p:nvSpPr>
        <p:spPr>
          <a:xfrm>
            <a:off x="4664869" y="1564481"/>
            <a:ext cx="1918097" cy="1714500"/>
          </a:xfrm>
          <a:prstGeom prst="rect">
            <a:avLst/>
          </a:prstGeom>
          <a:solidFill>
            <a:srgbClr val="1E293B">
              <a:alpha val="60000"/>
            </a:srgbClr>
          </a:solidFill>
          <a:ln w="9144">
            <a:solidFill>
              <a:srgbClr val="334155"/>
            </a:solidFill>
            <a:prstDash val="solid"/>
          </a:ln>
        </p:spPr>
      </p:sp>
      <p:sp>
        <p:nvSpPr>
          <p:cNvPr id="20" name="Shape 15"/>
          <p:cNvSpPr/>
          <p:nvPr/>
        </p:nvSpPr>
        <p:spPr>
          <a:xfrm>
            <a:off x="4672013" y="1564481"/>
            <a:ext cx="1896666" cy="28575"/>
          </a:xfrm>
          <a:prstGeom prst="rect">
            <a:avLst/>
          </a:prstGeom>
          <a:solidFill>
            <a:srgbClr val="06B6D4"/>
          </a:solidFill>
          <a:ln/>
        </p:spPr>
      </p:sp>
      <p:sp>
        <p:nvSpPr>
          <p:cNvPr id="21" name="Text 16"/>
          <p:cNvSpPr/>
          <p:nvPr/>
        </p:nvSpPr>
        <p:spPr>
          <a:xfrm>
            <a:off x="4886325" y="1778794"/>
            <a:ext cx="678656" cy="132159"/>
          </a:xfrm>
          <a:prstGeom prst="rect">
            <a:avLst/>
          </a:prstGeom>
          <a:noFill/>
          <a:ln/>
        </p:spPr>
        <p:txBody>
          <a:bodyPr wrap="none" lIns="0" tIns="0" rIns="0" bIns="0" rtlCol="0" anchor="t">
            <a:spAutoFit/>
          </a:bodyPr>
          <a:lstStyle/>
          <a:p>
            <a:pPr algn="l" indent="0" marL="0">
              <a:lnSpc>
                <a:spcPts val="900"/>
              </a:lnSpc>
              <a:buNone/>
            </a:pPr>
            <a:r>
              <a:rPr lang="en-US" sz="727" spc="1" kern="0" dirty="0">
                <a:solidFill>
                  <a:srgbClr val="94A3B8"/>
                </a:solidFill>
                <a:latin typeface="Roboto Mono" pitchFamily="34" charset="0"/>
                <a:ea typeface="Roboto Mono" pitchFamily="34" charset="-122"/>
                <a:cs typeface="Roboto Mono" pitchFamily="34" charset="-120"/>
              </a:rPr>
              <a:t>LINES USED</a:t>
            </a:r>
            <a:endParaRPr lang="en-US" sz="727" dirty="0"/>
          </a:p>
        </p:txBody>
      </p:sp>
      <p:pic>
        <p:nvPicPr>
          <p:cNvPr id="22" name="Image 3" descr="preencoded.png">    </p:cNvPr>
          <p:cNvPicPr>
            <a:picLocks noChangeAspect="1"/>
          </p:cNvPicPr>
          <p:nvPr/>
        </p:nvPicPr>
        <p:blipFill>
          <a:blip r:embed="rId4"/>
          <a:stretch>
            <a:fillRect/>
          </a:stretch>
        </p:blipFill>
        <p:spPr>
          <a:xfrm>
            <a:off x="6245423" y="1794867"/>
            <a:ext cx="119658" cy="100013"/>
          </a:xfrm>
          <a:prstGeom prst="rect">
            <a:avLst/>
          </a:prstGeom>
        </p:spPr>
      </p:pic>
      <p:sp>
        <p:nvSpPr>
          <p:cNvPr id="23" name="Text 17"/>
          <p:cNvSpPr/>
          <p:nvPr/>
        </p:nvSpPr>
        <p:spPr>
          <a:xfrm>
            <a:off x="4886325" y="2053828"/>
            <a:ext cx="1478756" cy="601861"/>
          </a:xfrm>
          <a:prstGeom prst="rect">
            <a:avLst/>
          </a:prstGeom>
          <a:noFill/>
          <a:ln/>
        </p:spPr>
        <p:txBody>
          <a:bodyPr wrap="none" lIns="0" tIns="0" rIns="0" bIns="0" rtlCol="0" anchor="t">
            <a:spAutoFit/>
          </a:bodyPr>
          <a:lstStyle/>
          <a:p>
            <a:pPr algn="l" indent="0" marL="0">
              <a:lnSpc>
                <a:spcPts val="4300"/>
              </a:lnSpc>
              <a:buNone/>
            </a:pPr>
            <a:r>
              <a:rPr lang="en-US" sz="3294" b="1" dirty="0">
                <a:solidFill>
                  <a:srgbClr val="F8FAFC"/>
                </a:solidFill>
                <a:latin typeface="Roboto Mono" pitchFamily="34" charset="0"/>
                <a:ea typeface="Roboto Mono" pitchFamily="34" charset="-122"/>
                <a:cs typeface="Roboto Mono" pitchFamily="34" charset="-120"/>
              </a:rPr>
              <a:t>3</a:t>
            </a:r>
            <a:endParaRPr lang="en-US" sz="3294" dirty="0"/>
          </a:p>
        </p:txBody>
      </p:sp>
      <p:sp>
        <p:nvSpPr>
          <p:cNvPr id="24" name="Text 18"/>
          <p:cNvSpPr/>
          <p:nvPr/>
        </p:nvSpPr>
        <p:spPr>
          <a:xfrm>
            <a:off x="4886325" y="2798564"/>
            <a:ext cx="1478756" cy="394302"/>
          </a:xfrm>
          <a:prstGeom prst="rect">
            <a:avLst/>
          </a:prstGeom>
          <a:noFill/>
          <a:ln/>
        </p:spPr>
        <p:txBody>
          <a:bodyPr wrap="square" lIns="0" tIns="127508" rIns="0" bIns="0" rtlCol="0" anchor="t">
            <a:spAutoFit/>
          </a:bodyPr>
          <a:lstStyle/>
          <a:p>
            <a:pPr algn="l" indent="0" marL="0">
              <a:lnSpc>
                <a:spcPts val="1100"/>
              </a:lnSpc>
              <a:buNone/>
            </a:pPr>
            <a:r>
              <a:rPr lang="en-US" sz="727" dirty="0">
                <a:solidFill>
                  <a:srgbClr val="94A3B8"/>
                </a:solidFill>
                <a:latin typeface="Roboto" pitchFamily="34" charset="0"/>
                <a:ea typeface="Roboto" pitchFamily="34" charset="-122"/>
                <a:cs typeface="Roboto" pitchFamily="34" charset="-120"/>
              </a:rPr>
              <a:t>Production Lines Active</a:t>
            </a:r>
            <a:pPr algn="l" indent="0" marL="0">
              <a:lnSpc>
                <a:spcPts val="1100"/>
              </a:lnSpc>
              <a:buNone/>
            </a:pPr>
            <a:r>
              <a:rPr lang="en-US" sz="727" dirty="0">
                <a:solidFill>
                  <a:srgbClr val="94A3B8"/>
                </a:solidFill>
                <a:latin typeface="Roboto" pitchFamily="34" charset="0"/>
                <a:ea typeface="Roboto" pitchFamily="34" charset="-122"/>
                <a:cs typeface="Roboto" pitchFamily="34" charset="-120"/>
              </a:rPr>
              <a:t>
</a:t>
            </a:r>
            <a:pPr algn="l" indent="0" marL="0">
              <a:lnSpc>
                <a:spcPts val="1100"/>
              </a:lnSpc>
              <a:buNone/>
            </a:pPr>
            <a:r>
              <a:rPr lang="en-US" sz="727" dirty="0">
                <a:solidFill>
                  <a:srgbClr val="94A3B8"/>
                </a:solidFill>
                <a:latin typeface="Roboto" pitchFamily="34" charset="0"/>
                <a:ea typeface="Roboto" pitchFamily="34" charset="-122"/>
                <a:cs typeface="Roboto" pitchFamily="34" charset="-120"/>
              </a:rPr>
              <a:t> </a:t>
            </a:r>
            <a:pPr algn="l" indent="0" marL="0">
              <a:lnSpc>
                <a:spcPts val="1100"/>
              </a:lnSpc>
              <a:buNone/>
            </a:pPr>
            <a:r>
              <a:rPr lang="en-US" sz="727" dirty="0">
                <a:solidFill>
                  <a:srgbClr val="06B6D4"/>
                </a:solidFill>
                <a:latin typeface="Roboto" pitchFamily="34" charset="0"/>
                <a:ea typeface="Roboto" pitchFamily="34" charset="-122"/>
                <a:cs typeface="Roboto" pitchFamily="34" charset="-120"/>
              </a:rPr>
              <a:t>Line-1, Line-2, Line-3</a:t>
            </a:r>
            <a:pPr algn="l" indent="0" marL="0">
              <a:lnSpc>
                <a:spcPts val="1100"/>
              </a:lnSpc>
              <a:buNone/>
            </a:pPr>
            <a:endParaRPr lang="en-US" sz="727" dirty="0"/>
          </a:p>
        </p:txBody>
      </p:sp>
      <p:sp>
        <p:nvSpPr>
          <p:cNvPr id="25" name="Shape 19"/>
          <p:cNvSpPr/>
          <p:nvPr/>
        </p:nvSpPr>
        <p:spPr>
          <a:xfrm>
            <a:off x="6793706" y="1564481"/>
            <a:ext cx="1921669" cy="1714500"/>
          </a:xfrm>
          <a:prstGeom prst="rect">
            <a:avLst/>
          </a:prstGeom>
          <a:solidFill>
            <a:srgbClr val="1E293B">
              <a:alpha val="60000"/>
            </a:srgbClr>
          </a:solidFill>
          <a:ln w="9144">
            <a:solidFill>
              <a:srgbClr val="334155"/>
            </a:solidFill>
            <a:prstDash val="solid"/>
          </a:ln>
        </p:spPr>
      </p:sp>
      <p:sp>
        <p:nvSpPr>
          <p:cNvPr id="26" name="Shape 20"/>
          <p:cNvSpPr/>
          <p:nvPr/>
        </p:nvSpPr>
        <p:spPr>
          <a:xfrm>
            <a:off x="6804422" y="1564481"/>
            <a:ext cx="1896666" cy="28575"/>
          </a:xfrm>
          <a:prstGeom prst="rect">
            <a:avLst/>
          </a:prstGeom>
          <a:solidFill>
            <a:srgbClr val="10B981"/>
          </a:solidFill>
          <a:ln/>
        </p:spPr>
      </p:sp>
      <p:sp>
        <p:nvSpPr>
          <p:cNvPr id="27" name="Text 21"/>
          <p:cNvSpPr/>
          <p:nvPr/>
        </p:nvSpPr>
        <p:spPr>
          <a:xfrm>
            <a:off x="7018734" y="1778794"/>
            <a:ext cx="882253" cy="132159"/>
          </a:xfrm>
          <a:prstGeom prst="rect">
            <a:avLst/>
          </a:prstGeom>
          <a:noFill/>
          <a:ln/>
        </p:spPr>
        <p:txBody>
          <a:bodyPr wrap="none" lIns="0" tIns="0" rIns="0" bIns="0" rtlCol="0" anchor="t">
            <a:spAutoFit/>
          </a:bodyPr>
          <a:lstStyle/>
          <a:p>
            <a:pPr algn="l" indent="0" marL="0">
              <a:lnSpc>
                <a:spcPts val="900"/>
              </a:lnSpc>
              <a:buNone/>
            </a:pPr>
            <a:r>
              <a:rPr lang="en-US" sz="727" spc="1" kern="0" dirty="0">
                <a:solidFill>
                  <a:srgbClr val="94A3B8"/>
                </a:solidFill>
                <a:latin typeface="Roboto Mono" pitchFamily="34" charset="0"/>
                <a:ea typeface="Roboto Mono" pitchFamily="34" charset="-122"/>
                <a:cs typeface="Roboto Mono" pitchFamily="34" charset="-120"/>
              </a:rPr>
              <a:t>SOLVER STATUS</a:t>
            </a:r>
            <a:endParaRPr lang="en-US" sz="727" dirty="0"/>
          </a:p>
        </p:txBody>
      </p:sp>
      <p:pic>
        <p:nvPicPr>
          <p:cNvPr id="28" name="Image 4" descr="preencoded.png">    </p:cNvPr>
          <p:cNvPicPr>
            <a:picLocks noChangeAspect="1"/>
          </p:cNvPicPr>
          <p:nvPr/>
        </p:nvPicPr>
        <p:blipFill>
          <a:blip r:embed="rId5"/>
          <a:stretch>
            <a:fillRect/>
          </a:stretch>
        </p:blipFill>
        <p:spPr>
          <a:xfrm>
            <a:off x="8393906" y="1794867"/>
            <a:ext cx="107156" cy="100013"/>
          </a:xfrm>
          <a:prstGeom prst="rect">
            <a:avLst/>
          </a:prstGeom>
        </p:spPr>
      </p:pic>
      <p:sp>
        <p:nvSpPr>
          <p:cNvPr id="29" name="Text 22"/>
          <p:cNvSpPr/>
          <p:nvPr/>
        </p:nvSpPr>
        <p:spPr>
          <a:xfrm>
            <a:off x="7018734" y="2064739"/>
            <a:ext cx="1482328" cy="451842"/>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10B981"/>
                </a:solidFill>
                <a:latin typeface="Roboto Mono" pitchFamily="34" charset="0"/>
                <a:ea typeface="Roboto Mono" pitchFamily="34" charset="-122"/>
                <a:cs typeface="Roboto Mono" pitchFamily="34" charset="-120"/>
              </a:rPr>
              <a:t>OPTIMAL</a:t>
            </a:r>
            <a:endParaRPr lang="en-US" sz="2436" dirty="0"/>
          </a:p>
        </p:txBody>
      </p:sp>
      <p:sp>
        <p:nvSpPr>
          <p:cNvPr id="30" name="Text 23"/>
          <p:cNvSpPr/>
          <p:nvPr/>
        </p:nvSpPr>
        <p:spPr>
          <a:xfrm>
            <a:off x="7018734" y="2670367"/>
            <a:ext cx="1482328" cy="394302"/>
          </a:xfrm>
          <a:prstGeom prst="rect">
            <a:avLst/>
          </a:prstGeom>
          <a:noFill/>
          <a:ln/>
        </p:spPr>
        <p:txBody>
          <a:bodyPr wrap="square" lIns="0" tIns="127508" rIns="0" bIns="0" rtlCol="0" anchor="t">
            <a:spAutoFit/>
          </a:bodyPr>
          <a:lstStyle/>
          <a:p>
            <a:pPr algn="l" indent="0" marL="0">
              <a:lnSpc>
                <a:spcPts val="1100"/>
              </a:lnSpc>
              <a:buNone/>
            </a:pPr>
            <a:r>
              <a:rPr lang="en-US" sz="727" dirty="0">
                <a:solidFill>
                  <a:srgbClr val="94A3B8"/>
                </a:solidFill>
                <a:latin typeface="Roboto" pitchFamily="34" charset="0"/>
                <a:ea typeface="Roboto" pitchFamily="34" charset="-122"/>
                <a:cs typeface="Roboto" pitchFamily="34" charset="-120"/>
              </a:rPr>
              <a:t>Objective Score: 68</a:t>
            </a:r>
            <a:pPr algn="l" indent="0" marL="0">
              <a:lnSpc>
                <a:spcPts val="1100"/>
              </a:lnSpc>
              <a:buNone/>
            </a:pPr>
            <a:r>
              <a:rPr lang="en-US" sz="727" dirty="0">
                <a:solidFill>
                  <a:srgbClr val="94A3B8"/>
                </a:solidFill>
                <a:latin typeface="Roboto" pitchFamily="34" charset="0"/>
                <a:ea typeface="Roboto" pitchFamily="34" charset="-122"/>
                <a:cs typeface="Roboto" pitchFamily="34" charset="-120"/>
              </a:rPr>
              <a:t>
</a:t>
            </a:r>
            <a:pPr algn="l" indent="0" marL="0">
              <a:lnSpc>
                <a:spcPts val="1100"/>
              </a:lnSpc>
              <a:buNone/>
            </a:pPr>
            <a:r>
              <a:rPr lang="en-US" sz="727" dirty="0">
                <a:solidFill>
                  <a:srgbClr val="94A3B8"/>
                </a:solidFill>
                <a:latin typeface="Roboto" pitchFamily="34" charset="0"/>
                <a:ea typeface="Roboto" pitchFamily="34" charset="-122"/>
                <a:cs typeface="Roboto" pitchFamily="34" charset="-120"/>
              </a:rPr>
              <a:t> </a:t>
            </a:r>
            <a:pPr algn="l" indent="0" marL="0">
              <a:lnSpc>
                <a:spcPts val="1100"/>
              </a:lnSpc>
              <a:buNone/>
            </a:pPr>
            <a:r>
              <a:rPr lang="en-US" sz="727" dirty="0">
                <a:solidFill>
                  <a:srgbClr val="10B981"/>
                </a:solidFill>
                <a:latin typeface="Roboto" pitchFamily="34" charset="0"/>
                <a:ea typeface="Roboto" pitchFamily="34" charset="-122"/>
                <a:cs typeface="Roboto" pitchFamily="34" charset="-120"/>
              </a:rPr>
              <a:t>Certified Best Solution</a:t>
            </a:r>
            <a:pPr algn="l" indent="0" marL="0">
              <a:lnSpc>
                <a:spcPts val="1100"/>
              </a:lnSpc>
              <a:buNone/>
            </a:pPr>
            <a:endParaRPr lang="en-US" sz="727" dirty="0"/>
          </a:p>
        </p:txBody>
      </p:sp>
      <p:sp>
        <p:nvSpPr>
          <p:cNvPr id="31" name="Text 24"/>
          <p:cNvSpPr/>
          <p:nvPr/>
        </p:nvSpPr>
        <p:spPr>
          <a:xfrm>
            <a:off x="0" y="3707606"/>
            <a:ext cx="6429375" cy="411435"/>
          </a:xfrm>
          <a:prstGeom prst="rect">
            <a:avLst/>
          </a:prstGeom>
          <a:noFill/>
          <a:ln/>
        </p:spPr>
        <p:txBody>
          <a:bodyPr wrap="square" lIns="510286" tIns="0" rIns="510286" bIns="0" rtlCol="0" anchor="t">
            <a:spAutoFit/>
          </a:bodyPr>
          <a:lstStyle/>
          <a:p>
            <a:pPr algn="l" indent="0" marL="0">
              <a:lnSpc>
                <a:spcPts val="1600"/>
              </a:lnSpc>
              <a:buNone/>
            </a:pPr>
            <a:r>
              <a:rPr lang="en-US" sz="942" dirty="0">
                <a:solidFill>
                  <a:srgbClr val="CBD5E1"/>
                </a:solidFill>
                <a:latin typeface="Roboto" pitchFamily="34" charset="0"/>
                <a:ea typeface="Roboto" pitchFamily="34" charset="-122"/>
                <a:cs typeface="Roboto" pitchFamily="34" charset="-120"/>
              </a:rPr>
              <a:t>These four metrics are the first thing leadership sees after every solve. They confirm that demand is fully covered, all lines are engaged, and the schedule quality has been certified by the optimizer.</a:t>
            </a:r>
            <a:endParaRPr lang="en-US" sz="942" dirty="0"/>
          </a:p>
        </p:txBody>
      </p:sp>
      <p:sp>
        <p:nvSpPr>
          <p:cNvPr id="32" name="Text 25"/>
          <p:cNvSpPr/>
          <p:nvPr/>
        </p:nvSpPr>
        <p:spPr>
          <a:xfrm>
            <a:off x="6902648" y="4816673"/>
            <a:ext cx="1812727" cy="112514"/>
          </a:xfrm>
          <a:prstGeom prst="rect">
            <a:avLst/>
          </a:prstGeom>
          <a:noFill/>
          <a:ln/>
        </p:spPr>
        <p:txBody>
          <a:bodyPr wrap="none" lIns="0" tIns="0" rIns="0" bIns="0" rtlCol="0" anchor="t">
            <a:spAutoFit/>
          </a:bodyPr>
          <a:lstStyle/>
          <a:p>
            <a:pPr algn="l" indent="0" marL="0">
              <a:lnSpc>
                <a:spcPts val="800"/>
              </a:lnSpc>
              <a:buNone/>
            </a:pPr>
            <a:r>
              <a:rPr lang="en-US" sz="621" dirty="0">
                <a:solidFill>
                  <a:srgbClr val="475569"/>
                </a:solidFill>
                <a:latin typeface="Roboto Mono" pitchFamily="34" charset="0"/>
                <a:ea typeface="Roboto Mono" pitchFamily="34" charset="-122"/>
                <a:cs typeface="Roboto Mono" pitchFamily="34" charset="-120"/>
              </a:rPr>
              <a:t>CONFIDENTIAL | INTERNAL DEMO | 2026</a:t>
            </a:r>
            <a:endParaRPr lang="en-US" sz="62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28625" y="428625"/>
            <a:ext cx="8286750" cy="714375"/>
          </a:xfrm>
          <a:prstGeom prst="rect">
            <a:avLst/>
          </a:prstGeom>
          <a:solidFill>
            <a:srgbClr val="000000">
              <a:alpha val="0"/>
            </a:srgbClr>
          </a:solidFill>
          <a:ln/>
        </p:spPr>
      </p:sp>
      <p:sp>
        <p:nvSpPr>
          <p:cNvPr id="4" name="Shape 1"/>
          <p:cNvSpPr/>
          <p:nvPr/>
        </p:nvSpPr>
        <p:spPr>
          <a:xfrm>
            <a:off x="428625" y="1135856"/>
            <a:ext cx="8286750" cy="7144"/>
          </a:xfrm>
          <a:prstGeom prst="rect">
            <a:avLst/>
          </a:prstGeom>
          <a:solidFill>
            <a:srgbClr val="334155"/>
          </a:solidFill>
          <a:ln/>
        </p:spPr>
      </p:sp>
      <p:sp>
        <p:nvSpPr>
          <p:cNvPr id="5" name="Text 2"/>
          <p:cNvSpPr/>
          <p:nvPr/>
        </p:nvSpPr>
        <p:spPr>
          <a:xfrm>
            <a:off x="428625" y="428625"/>
            <a:ext cx="8286750" cy="339328"/>
          </a:xfrm>
          <a:prstGeom prst="rect">
            <a:avLst/>
          </a:prstGeom>
          <a:noFill/>
          <a:ln/>
        </p:spPr>
        <p:txBody>
          <a:bodyPr wrap="none" lIns="0" tIns="0" rIns="0" bIns="0" rtlCol="0" anchor="t">
            <a:spAutoFit/>
          </a:bodyPr>
          <a:lstStyle/>
          <a:p>
            <a:pPr algn="l" indent="0" marL="0">
              <a:lnSpc>
                <a:spcPts val="2400"/>
              </a:lnSpc>
              <a:buNone/>
            </a:pPr>
            <a:r>
              <a:rPr lang="en-US" sz="1808" b="1" dirty="0">
                <a:solidFill>
                  <a:srgbClr val="F8FAFC"/>
                </a:solidFill>
                <a:latin typeface="Roboto Mono" pitchFamily="34" charset="0"/>
                <a:ea typeface="Roboto Mono" pitchFamily="34" charset="-122"/>
                <a:cs typeface="Roboto Mono" pitchFamily="34" charset="-120"/>
              </a:rPr>
              <a:t>Daily Production Balance: The Core Output</a:t>
            </a:r>
            <a:endParaRPr lang="en-US" sz="1808" dirty="0"/>
          </a:p>
        </p:txBody>
      </p:sp>
      <p:sp>
        <p:nvSpPr>
          <p:cNvPr id="6" name="Text 3"/>
          <p:cNvSpPr/>
          <p:nvPr/>
        </p:nvSpPr>
        <p:spPr>
          <a:xfrm>
            <a:off x="428625" y="825103"/>
            <a:ext cx="8286750" cy="167878"/>
          </a:xfrm>
          <a:prstGeom prst="rect">
            <a:avLst/>
          </a:prstGeom>
          <a:noFill/>
          <a:ln/>
        </p:spPr>
        <p:txBody>
          <a:bodyPr wrap="none" lIns="0" tIns="0" rIns="0" bIns="0" rtlCol="0" anchor="t">
            <a:spAutoFit/>
          </a:bodyPr>
          <a:lstStyle/>
          <a:p>
            <a:pPr algn="l" indent="0" marL="0">
              <a:lnSpc>
                <a:spcPts val="1400"/>
              </a:lnSpc>
              <a:buNone/>
            </a:pPr>
            <a:r>
              <a:rPr lang="en-US" sz="1050" dirty="0">
                <a:solidFill>
                  <a:srgbClr val="94A3B8"/>
                </a:solidFill>
                <a:latin typeface="Roboto" pitchFamily="34" charset="0"/>
                <a:ea typeface="Roboto" pitchFamily="34" charset="-122"/>
                <a:cs typeface="Roboto" pitchFamily="34" charset="-120"/>
              </a:rPr>
              <a:t>Consistent Daily Output — No Monday Overload, No Friday Scramble</a:t>
            </a:r>
            <a:endParaRPr lang="en-US" sz="1050" dirty="0"/>
          </a:p>
        </p:txBody>
      </p:sp>
      <p:sp>
        <p:nvSpPr>
          <p:cNvPr id="7" name="Shape 4"/>
          <p:cNvSpPr/>
          <p:nvPr/>
        </p:nvSpPr>
        <p:spPr>
          <a:xfrm>
            <a:off x="428625" y="1421606"/>
            <a:ext cx="4834896" cy="3429000"/>
          </a:xfrm>
          <a:prstGeom prst="rect">
            <a:avLst/>
          </a:prstGeom>
          <a:solidFill>
            <a:srgbClr val="1E293B">
              <a:alpha val="40000"/>
            </a:srgbClr>
          </a:solidFill>
          <a:ln w="9144">
            <a:solidFill>
              <a:srgbClr val="334155"/>
            </a:solidFill>
            <a:prstDash val="solid"/>
          </a:ln>
        </p:spPr>
      </p:sp>
      <p:pic>
        <p:nvPicPr>
          <p:cNvPr id="8" name="Image 1" descr="preencoded.png">    </p:cNvPr>
          <p:cNvPicPr>
            <a:picLocks noChangeAspect="1"/>
          </p:cNvPicPr>
          <p:nvPr/>
        </p:nvPicPr>
        <p:blipFill>
          <a:blip r:embed="rId2"/>
          <a:stretch>
            <a:fillRect/>
          </a:stretch>
        </p:blipFill>
        <p:spPr>
          <a:xfrm>
            <a:off x="571500" y="1564481"/>
            <a:ext cx="4534495" cy="3128963"/>
          </a:xfrm>
          <a:prstGeom prst="rect">
            <a:avLst/>
          </a:prstGeom>
        </p:spPr>
      </p:pic>
      <p:sp>
        <p:nvSpPr>
          <p:cNvPr id="9" name="Shape 5"/>
          <p:cNvSpPr/>
          <p:nvPr/>
        </p:nvSpPr>
        <p:spPr>
          <a:xfrm>
            <a:off x="3571875" y="1707356"/>
            <a:ext cx="1400175" cy="241102"/>
          </a:xfrm>
          <a:prstGeom prst="rect">
            <a:avLst/>
          </a:prstGeom>
          <a:solidFill>
            <a:srgbClr val="0F172A">
              <a:alpha val="80000"/>
            </a:srgbClr>
          </a:solidFill>
          <a:ln w="9144">
            <a:solidFill>
              <a:srgbClr val="10B981"/>
            </a:solidFill>
            <a:prstDash val="solid"/>
          </a:ln>
        </p:spPr>
      </p:sp>
      <p:pic>
        <p:nvPicPr>
          <p:cNvPr id="10" name="Image 2" descr="preencoded.png">    </p:cNvPr>
          <p:cNvPicPr>
            <a:picLocks noChangeAspect="1"/>
          </p:cNvPicPr>
          <p:nvPr/>
        </p:nvPicPr>
        <p:blipFill>
          <a:blip r:embed="rId3"/>
          <a:stretch>
            <a:fillRect/>
          </a:stretch>
        </p:blipFill>
        <p:spPr>
          <a:xfrm>
            <a:off x="3671888" y="1778794"/>
            <a:ext cx="75009" cy="85725"/>
          </a:xfrm>
          <a:prstGeom prst="rect">
            <a:avLst/>
          </a:prstGeom>
        </p:spPr>
      </p:pic>
      <p:sp>
        <p:nvSpPr>
          <p:cNvPr id="11" name="Text 6"/>
          <p:cNvSpPr/>
          <p:nvPr/>
        </p:nvSpPr>
        <p:spPr>
          <a:xfrm>
            <a:off x="3746897" y="1764506"/>
            <a:ext cx="1139428" cy="112514"/>
          </a:xfrm>
          <a:prstGeom prst="rect">
            <a:avLst/>
          </a:prstGeom>
          <a:noFill/>
          <a:ln/>
        </p:spPr>
        <p:txBody>
          <a:bodyPr wrap="none" lIns="0" tIns="0" rIns="0" bIns="0" rtlCol="0" anchor="t">
            <a:spAutoFit/>
          </a:bodyPr>
          <a:lstStyle/>
          <a:p>
            <a:pPr algn="l" indent="0" marL="0">
              <a:lnSpc>
                <a:spcPts val="800"/>
              </a:lnSpc>
              <a:buNone/>
            </a:pPr>
            <a:r>
              <a:rPr lang="en-US" sz="621" dirty="0">
                <a:solidFill>
                  <a:srgbClr val="10B981"/>
                </a:solidFill>
                <a:latin typeface="Roboto Mono" pitchFamily="34" charset="0"/>
                <a:ea typeface="Roboto Mono" pitchFamily="34" charset="-122"/>
                <a:cs typeface="Roboto Mono" pitchFamily="34" charset="-120"/>
              </a:rPr>
              <a:t>Max Variance: 2 Units</a:t>
            </a:r>
            <a:endParaRPr lang="en-US" sz="621" dirty="0"/>
          </a:p>
        </p:txBody>
      </p:sp>
      <p:sp>
        <p:nvSpPr>
          <p:cNvPr id="12" name="Shape 7"/>
          <p:cNvSpPr/>
          <p:nvPr/>
        </p:nvSpPr>
        <p:spPr>
          <a:xfrm>
            <a:off x="5686425" y="1752898"/>
            <a:ext cx="228600" cy="228600"/>
          </a:xfrm>
          <a:prstGeom prst="rect">
            <a:avLst/>
          </a:prstGeom>
          <a:solidFill>
            <a:srgbClr val="10B981">
              <a:alpha val="10000"/>
            </a:srgbClr>
          </a:solidFill>
          <a:ln/>
        </p:spPr>
      </p:sp>
      <p:pic>
        <p:nvPicPr>
          <p:cNvPr id="13" name="Image 3" descr="preencoded.png">    </p:cNvPr>
          <p:cNvPicPr>
            <a:picLocks noChangeAspect="1"/>
          </p:cNvPicPr>
          <p:nvPr/>
        </p:nvPicPr>
        <p:blipFill>
          <a:blip r:embed="rId4"/>
          <a:stretch>
            <a:fillRect/>
          </a:stretch>
        </p:blipFill>
        <p:spPr>
          <a:xfrm>
            <a:off x="5729288" y="1810048"/>
            <a:ext cx="142875" cy="114300"/>
          </a:xfrm>
          <a:prstGeom prst="rect">
            <a:avLst/>
          </a:prstGeom>
        </p:spPr>
      </p:pic>
      <p:sp>
        <p:nvSpPr>
          <p:cNvPr id="14" name="Text 8"/>
          <p:cNvSpPr/>
          <p:nvPr/>
        </p:nvSpPr>
        <p:spPr>
          <a:xfrm>
            <a:off x="6029325" y="1724323"/>
            <a:ext cx="2686050"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Near-Perfect Leveling</a:t>
            </a:r>
            <a:endParaRPr lang="en-US" sz="885" dirty="0"/>
          </a:p>
        </p:txBody>
      </p:sp>
      <p:sp>
        <p:nvSpPr>
          <p:cNvPr id="15" name="Text 9"/>
          <p:cNvSpPr/>
          <p:nvPr/>
        </p:nvSpPr>
        <p:spPr>
          <a:xfrm>
            <a:off x="6029325" y="1951137"/>
            <a:ext cx="2686050" cy="51435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94A3B8"/>
                </a:solidFill>
                <a:latin typeface="Roboto" pitchFamily="34" charset="0"/>
                <a:ea typeface="Roboto" pitchFamily="34" charset="-122"/>
                <a:cs typeface="Roboto" pitchFamily="34" charset="-120"/>
              </a:rPr>
              <a:t>The optimizer has distributed 92 units across five days with a maximum daily variance of just 2 units — a level of balance difficult to achieve manually.</a:t>
            </a:r>
            <a:endParaRPr lang="en-US" sz="834" dirty="0"/>
          </a:p>
        </p:txBody>
      </p:sp>
      <p:sp>
        <p:nvSpPr>
          <p:cNvPr id="16" name="Shape 10"/>
          <p:cNvSpPr/>
          <p:nvPr/>
        </p:nvSpPr>
        <p:spPr>
          <a:xfrm>
            <a:off x="5686425" y="2708374"/>
            <a:ext cx="228600" cy="228600"/>
          </a:xfrm>
          <a:prstGeom prst="rect">
            <a:avLst/>
          </a:prstGeom>
          <a:solidFill>
            <a:srgbClr val="10B981">
              <a:alpha val="10000"/>
            </a:srgbClr>
          </a:solidFill>
          <a:ln/>
        </p:spPr>
      </p:sp>
      <p:pic>
        <p:nvPicPr>
          <p:cNvPr id="17" name="Image 4" descr="preencoded.png">    </p:cNvPr>
          <p:cNvPicPr>
            <a:picLocks noChangeAspect="1"/>
          </p:cNvPicPr>
          <p:nvPr/>
        </p:nvPicPr>
        <p:blipFill>
          <a:blip r:embed="rId5"/>
          <a:stretch>
            <a:fillRect/>
          </a:stretch>
        </p:blipFill>
        <p:spPr>
          <a:xfrm>
            <a:off x="5743575" y="2765524"/>
            <a:ext cx="114300" cy="114300"/>
          </a:xfrm>
          <a:prstGeom prst="rect">
            <a:avLst/>
          </a:prstGeom>
        </p:spPr>
      </p:pic>
      <p:sp>
        <p:nvSpPr>
          <p:cNvPr id="18" name="Text 11"/>
          <p:cNvSpPr/>
          <p:nvPr/>
        </p:nvSpPr>
        <p:spPr>
          <a:xfrm>
            <a:off x="6029325" y="2679799"/>
            <a:ext cx="2686050"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Model-Level Consistency</a:t>
            </a:r>
            <a:endParaRPr lang="en-US" sz="885" dirty="0"/>
          </a:p>
        </p:txBody>
      </p:sp>
      <p:sp>
        <p:nvSpPr>
          <p:cNvPr id="19" name="Text 12"/>
          <p:cNvSpPr/>
          <p:nvPr/>
        </p:nvSpPr>
        <p:spPr>
          <a:xfrm>
            <a:off x="6029325" y="2906613"/>
            <a:ext cx="2686050" cy="6858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94A3B8"/>
                </a:solidFill>
                <a:latin typeface="Roboto" pitchFamily="34" charset="0"/>
                <a:ea typeface="Roboto" pitchFamily="34" charset="-122"/>
                <a:cs typeface="Roboto" pitchFamily="34" charset="-120"/>
              </a:rPr>
              <a:t>Each color band represents a product model. The consistent height of each band across days confirms that individual models are also being leveled.</a:t>
            </a:r>
            <a:endParaRPr lang="en-US" sz="834" dirty="0"/>
          </a:p>
        </p:txBody>
      </p:sp>
      <p:sp>
        <p:nvSpPr>
          <p:cNvPr id="20" name="Shape 13"/>
          <p:cNvSpPr/>
          <p:nvPr/>
        </p:nvSpPr>
        <p:spPr>
          <a:xfrm>
            <a:off x="5686425" y="3835301"/>
            <a:ext cx="228600" cy="228600"/>
          </a:xfrm>
          <a:prstGeom prst="rect">
            <a:avLst/>
          </a:prstGeom>
          <a:solidFill>
            <a:srgbClr val="10B981">
              <a:alpha val="10000"/>
            </a:srgbClr>
          </a:solidFill>
          <a:ln/>
        </p:spPr>
      </p:sp>
      <p:pic>
        <p:nvPicPr>
          <p:cNvPr id="21" name="Image 5" descr="preencoded.png">    </p:cNvPr>
          <p:cNvPicPr>
            <a:picLocks noChangeAspect="1"/>
          </p:cNvPicPr>
          <p:nvPr/>
        </p:nvPicPr>
        <p:blipFill>
          <a:blip r:embed="rId6"/>
          <a:stretch>
            <a:fillRect/>
          </a:stretch>
        </p:blipFill>
        <p:spPr>
          <a:xfrm>
            <a:off x="5757863" y="3892451"/>
            <a:ext cx="85725" cy="114300"/>
          </a:xfrm>
          <a:prstGeom prst="rect">
            <a:avLst/>
          </a:prstGeom>
        </p:spPr>
      </p:pic>
      <p:sp>
        <p:nvSpPr>
          <p:cNvPr id="22" name="Text 14"/>
          <p:cNvSpPr/>
          <p:nvPr/>
        </p:nvSpPr>
        <p:spPr>
          <a:xfrm>
            <a:off x="6029325" y="3806726"/>
            <a:ext cx="2686050"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Operational Predictability</a:t>
            </a:r>
            <a:endParaRPr lang="en-US" sz="885" dirty="0"/>
          </a:p>
        </p:txBody>
      </p:sp>
      <p:sp>
        <p:nvSpPr>
          <p:cNvPr id="23" name="Text 15"/>
          <p:cNvSpPr/>
          <p:nvPr/>
        </p:nvSpPr>
        <p:spPr>
          <a:xfrm>
            <a:off x="6029325" y="4033540"/>
            <a:ext cx="2686050" cy="51435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94A3B8"/>
                </a:solidFill>
                <a:latin typeface="Roboto" pitchFamily="34" charset="0"/>
                <a:ea typeface="Roboto" pitchFamily="34" charset="-122"/>
                <a:cs typeface="Roboto" pitchFamily="34" charset="-120"/>
              </a:rPr>
              <a:t>A factory running at ~18 units per day, every day, allows for high-confidence planning of labor, logistics, and quality checks.</a:t>
            </a:r>
            <a:endParaRPr lang="en-US" sz="834" dirty="0"/>
          </a:p>
        </p:txBody>
      </p:sp>
      <p:sp>
        <p:nvSpPr>
          <p:cNvPr id="24" name="Text 16"/>
          <p:cNvSpPr/>
          <p:nvPr/>
        </p:nvSpPr>
        <p:spPr>
          <a:xfrm>
            <a:off x="6902648" y="4816673"/>
            <a:ext cx="1812727" cy="112514"/>
          </a:xfrm>
          <a:prstGeom prst="rect">
            <a:avLst/>
          </a:prstGeom>
          <a:noFill/>
          <a:ln/>
        </p:spPr>
        <p:txBody>
          <a:bodyPr wrap="none" lIns="0" tIns="0" rIns="0" bIns="0" rtlCol="0" anchor="t">
            <a:spAutoFit/>
          </a:bodyPr>
          <a:lstStyle/>
          <a:p>
            <a:pPr algn="l" indent="0" marL="0">
              <a:lnSpc>
                <a:spcPts val="800"/>
              </a:lnSpc>
              <a:buNone/>
            </a:pPr>
            <a:r>
              <a:rPr lang="en-US" sz="621" dirty="0">
                <a:solidFill>
                  <a:srgbClr val="475569"/>
                </a:solidFill>
                <a:latin typeface="Roboto Mono" pitchFamily="34" charset="0"/>
                <a:ea typeface="Roboto Mono" pitchFamily="34" charset="-122"/>
                <a:cs typeface="Roboto Mono" pitchFamily="34" charset="-120"/>
              </a:rPr>
              <a:t>CONFIDENTIAL | INTERNAL DEMO | 2026</a:t>
            </a:r>
            <a:endParaRPr lang="en-US" sz="62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28625" y="428625"/>
            <a:ext cx="8286750" cy="451842"/>
          </a:xfrm>
          <a:prstGeom prst="rect">
            <a:avLst/>
          </a:prstGeom>
          <a:solidFill>
            <a:srgbClr val="000000">
              <a:alpha val="0"/>
            </a:srgbClr>
          </a:solidFill>
          <a:ln/>
        </p:spPr>
      </p:sp>
      <p:sp>
        <p:nvSpPr>
          <p:cNvPr id="4" name="Shape 1"/>
          <p:cNvSpPr/>
          <p:nvPr/>
        </p:nvSpPr>
        <p:spPr>
          <a:xfrm>
            <a:off x="428625" y="873323"/>
            <a:ext cx="8286750" cy="7144"/>
          </a:xfrm>
          <a:prstGeom prst="rect">
            <a:avLst/>
          </a:prstGeom>
          <a:solidFill>
            <a:srgbClr val="334155"/>
          </a:solidFill>
          <a:ln/>
        </p:spPr>
      </p:sp>
      <p:sp>
        <p:nvSpPr>
          <p:cNvPr id="5" name="Text 2"/>
          <p:cNvSpPr/>
          <p:nvPr/>
        </p:nvSpPr>
        <p:spPr>
          <a:xfrm>
            <a:off x="428625" y="428625"/>
            <a:ext cx="8286750" cy="301823"/>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F8FAFC"/>
                </a:solidFill>
                <a:latin typeface="Roboto Mono" pitchFamily="34" charset="0"/>
                <a:ea typeface="Roboto Mono" pitchFamily="34" charset="-122"/>
                <a:cs typeface="Roboto Mono" pitchFamily="34" charset="-120"/>
              </a:rPr>
              <a:t>Every Line Carries a Predictable, Balanced Load</a:t>
            </a:r>
            <a:endParaRPr lang="en-US" sz="1602" dirty="0"/>
          </a:p>
        </p:txBody>
      </p:sp>
      <p:sp>
        <p:nvSpPr>
          <p:cNvPr id="6" name="Shape 3"/>
          <p:cNvSpPr/>
          <p:nvPr/>
        </p:nvSpPr>
        <p:spPr>
          <a:xfrm>
            <a:off x="428625" y="1159073"/>
            <a:ext cx="5357813" cy="3429000"/>
          </a:xfrm>
          <a:prstGeom prst="rect">
            <a:avLst/>
          </a:prstGeom>
          <a:solidFill>
            <a:srgbClr val="1E293B">
              <a:alpha val="40000"/>
            </a:srgbClr>
          </a:solidFill>
          <a:ln w="9144">
            <a:solidFill>
              <a:srgbClr val="334155"/>
            </a:solidFill>
            <a:prstDash val="solid"/>
          </a:ln>
        </p:spPr>
      </p:sp>
      <p:pic>
        <p:nvPicPr>
          <p:cNvPr id="7" name="Image 1" descr="preencoded.png">    </p:cNvPr>
          <p:cNvPicPr>
            <a:picLocks noChangeAspect="1"/>
          </p:cNvPicPr>
          <p:nvPr/>
        </p:nvPicPr>
        <p:blipFill>
          <a:blip r:embed="rId2"/>
          <a:stretch>
            <a:fillRect/>
          </a:stretch>
        </p:blipFill>
        <p:spPr>
          <a:xfrm>
            <a:off x="571500" y="1301948"/>
            <a:ext cx="5057775" cy="3128963"/>
          </a:xfrm>
          <a:prstGeom prst="rect">
            <a:avLst/>
          </a:prstGeom>
        </p:spPr>
      </p:pic>
      <p:sp>
        <p:nvSpPr>
          <p:cNvPr id="8" name="Shape 4"/>
          <p:cNvSpPr/>
          <p:nvPr/>
        </p:nvSpPr>
        <p:spPr>
          <a:xfrm>
            <a:off x="4089797" y="1587698"/>
            <a:ext cx="1410891" cy="241102"/>
          </a:xfrm>
          <a:prstGeom prst="rect">
            <a:avLst/>
          </a:prstGeom>
          <a:solidFill>
            <a:srgbClr val="10B981">
              <a:alpha val="10000"/>
            </a:srgbClr>
          </a:solidFill>
          <a:ln w="9144">
            <a:solidFill>
              <a:srgbClr val="10B981"/>
            </a:solidFill>
            <a:prstDash val="solid"/>
          </a:ln>
        </p:spPr>
      </p:sp>
      <p:pic>
        <p:nvPicPr>
          <p:cNvPr id="9" name="Image 2" descr="preencoded.png">    </p:cNvPr>
          <p:cNvPicPr>
            <a:picLocks noChangeAspect="1"/>
          </p:cNvPicPr>
          <p:nvPr/>
        </p:nvPicPr>
        <p:blipFill>
          <a:blip r:embed="rId3"/>
          <a:stretch>
            <a:fillRect/>
          </a:stretch>
        </p:blipFill>
        <p:spPr>
          <a:xfrm>
            <a:off x="4189809" y="1659136"/>
            <a:ext cx="85725" cy="85725"/>
          </a:xfrm>
          <a:prstGeom prst="rect">
            <a:avLst/>
          </a:prstGeom>
        </p:spPr>
      </p:pic>
      <p:sp>
        <p:nvSpPr>
          <p:cNvPr id="10" name="Text 5"/>
          <p:cNvSpPr/>
          <p:nvPr/>
        </p:nvSpPr>
        <p:spPr>
          <a:xfrm>
            <a:off x="4275534" y="1644848"/>
            <a:ext cx="1139428" cy="112514"/>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10B981"/>
                </a:solidFill>
                <a:latin typeface="Roboto Mono" pitchFamily="34" charset="0"/>
                <a:ea typeface="Roboto Mono" pitchFamily="34" charset="-122"/>
                <a:cs typeface="Roboto Mono" pitchFamily="34" charset="-120"/>
              </a:rPr>
              <a:t>Consistent Daily Load</a:t>
            </a:r>
            <a:endParaRPr lang="en-US" sz="584" dirty="0"/>
          </a:p>
        </p:txBody>
      </p:sp>
      <p:sp>
        <p:nvSpPr>
          <p:cNvPr id="11" name="Shape 6"/>
          <p:cNvSpPr/>
          <p:nvPr/>
        </p:nvSpPr>
        <p:spPr>
          <a:xfrm>
            <a:off x="6215063" y="1404640"/>
            <a:ext cx="228600" cy="228600"/>
          </a:xfrm>
          <a:prstGeom prst="rect">
            <a:avLst/>
          </a:prstGeom>
          <a:solidFill>
            <a:srgbClr val="3B82F6">
              <a:alpha val="10000"/>
            </a:srgbClr>
          </a:solidFill>
          <a:ln/>
        </p:spPr>
      </p:sp>
      <p:pic>
        <p:nvPicPr>
          <p:cNvPr id="12" name="Image 3" descr="preencoded.png">    </p:cNvPr>
          <p:cNvPicPr>
            <a:picLocks noChangeAspect="1"/>
          </p:cNvPicPr>
          <p:nvPr/>
        </p:nvPicPr>
        <p:blipFill>
          <a:blip r:embed="rId4"/>
          <a:stretch>
            <a:fillRect/>
          </a:stretch>
        </p:blipFill>
        <p:spPr>
          <a:xfrm>
            <a:off x="6257925" y="1461790"/>
            <a:ext cx="142875" cy="114300"/>
          </a:xfrm>
          <a:prstGeom prst="rect">
            <a:avLst/>
          </a:prstGeom>
        </p:spPr>
      </p:pic>
      <p:sp>
        <p:nvSpPr>
          <p:cNvPr id="13" name="Text 7"/>
          <p:cNvSpPr/>
          <p:nvPr/>
        </p:nvSpPr>
        <p:spPr>
          <a:xfrm>
            <a:off x="6557963" y="1376065"/>
            <a:ext cx="2157413"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Predictable Labor Planning</a:t>
            </a:r>
            <a:endParaRPr lang="en-US" sz="885" dirty="0"/>
          </a:p>
        </p:txBody>
      </p:sp>
      <p:sp>
        <p:nvSpPr>
          <p:cNvPr id="14" name="Text 8"/>
          <p:cNvSpPr/>
          <p:nvPr/>
        </p:nvSpPr>
        <p:spPr>
          <a:xfrm>
            <a:off x="6557963" y="1602879"/>
            <a:ext cx="2157413" cy="51435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94A3B8"/>
                </a:solidFill>
                <a:latin typeface="Roboto" pitchFamily="34" charset="0"/>
                <a:ea typeface="Roboto" pitchFamily="34" charset="-122"/>
                <a:cs typeface="Roboto" pitchFamily="34" charset="-120"/>
              </a:rPr>
              <a:t>Consistency means staffing levels can be set once at the start of the week and held steady — no daily re-planning required.</a:t>
            </a:r>
            <a:endParaRPr lang="en-US" sz="834" dirty="0"/>
          </a:p>
        </p:txBody>
      </p:sp>
      <p:sp>
        <p:nvSpPr>
          <p:cNvPr id="15" name="Shape 9"/>
          <p:cNvSpPr/>
          <p:nvPr/>
        </p:nvSpPr>
        <p:spPr>
          <a:xfrm>
            <a:off x="6215063" y="2360116"/>
            <a:ext cx="228600" cy="228600"/>
          </a:xfrm>
          <a:prstGeom prst="rect">
            <a:avLst/>
          </a:prstGeom>
          <a:solidFill>
            <a:srgbClr val="3B82F6">
              <a:alpha val="10000"/>
            </a:srgbClr>
          </a:solidFill>
          <a:ln/>
        </p:spPr>
      </p:sp>
      <p:pic>
        <p:nvPicPr>
          <p:cNvPr id="16" name="Image 4" descr="preencoded.png">    </p:cNvPr>
          <p:cNvPicPr>
            <a:picLocks noChangeAspect="1"/>
          </p:cNvPicPr>
          <p:nvPr/>
        </p:nvPicPr>
        <p:blipFill>
          <a:blip r:embed="rId5"/>
          <a:stretch>
            <a:fillRect/>
          </a:stretch>
        </p:blipFill>
        <p:spPr>
          <a:xfrm>
            <a:off x="6257925" y="2417266"/>
            <a:ext cx="142875" cy="114300"/>
          </a:xfrm>
          <a:prstGeom prst="rect">
            <a:avLst/>
          </a:prstGeom>
        </p:spPr>
      </p:pic>
      <p:sp>
        <p:nvSpPr>
          <p:cNvPr id="17" name="Text 10"/>
          <p:cNvSpPr/>
          <p:nvPr/>
        </p:nvSpPr>
        <p:spPr>
          <a:xfrm>
            <a:off x="6557963" y="2331541"/>
            <a:ext cx="2157413"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Structural Load Balance</a:t>
            </a:r>
            <a:endParaRPr lang="en-US" sz="885" dirty="0"/>
          </a:p>
        </p:txBody>
      </p:sp>
      <p:sp>
        <p:nvSpPr>
          <p:cNvPr id="18" name="Text 11"/>
          <p:cNvSpPr/>
          <p:nvPr/>
        </p:nvSpPr>
        <p:spPr>
          <a:xfrm>
            <a:off x="6557963" y="2558355"/>
            <a:ext cx="2157413" cy="6858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94A3B8"/>
                </a:solidFill>
                <a:latin typeface="Roboto" pitchFamily="34" charset="0"/>
                <a:ea typeface="Roboto" pitchFamily="34" charset="-122"/>
                <a:cs typeface="Roboto" pitchFamily="34" charset="-120"/>
              </a:rPr>
              <a:t>Line-1 carries the highest load because it serves the most models. The optimizer respects this reality while leveling the daily volume.</a:t>
            </a:r>
            <a:endParaRPr lang="en-US" sz="834" dirty="0"/>
          </a:p>
        </p:txBody>
      </p:sp>
      <p:sp>
        <p:nvSpPr>
          <p:cNvPr id="19" name="Shape 12"/>
          <p:cNvSpPr/>
          <p:nvPr/>
        </p:nvSpPr>
        <p:spPr>
          <a:xfrm>
            <a:off x="6215063" y="3487043"/>
            <a:ext cx="228600" cy="228600"/>
          </a:xfrm>
          <a:prstGeom prst="rect">
            <a:avLst/>
          </a:prstGeom>
          <a:solidFill>
            <a:srgbClr val="3B82F6">
              <a:alpha val="10000"/>
            </a:srgbClr>
          </a:solidFill>
          <a:ln/>
        </p:spPr>
      </p:sp>
      <p:pic>
        <p:nvPicPr>
          <p:cNvPr id="20" name="Image 5" descr="preencoded.png">    </p:cNvPr>
          <p:cNvPicPr>
            <a:picLocks noChangeAspect="1"/>
          </p:cNvPicPr>
          <p:nvPr/>
        </p:nvPicPr>
        <p:blipFill>
          <a:blip r:embed="rId6"/>
          <a:stretch>
            <a:fillRect/>
          </a:stretch>
        </p:blipFill>
        <p:spPr>
          <a:xfrm>
            <a:off x="6272213" y="3544193"/>
            <a:ext cx="114300" cy="114300"/>
          </a:xfrm>
          <a:prstGeom prst="rect">
            <a:avLst/>
          </a:prstGeom>
        </p:spPr>
      </p:pic>
      <p:sp>
        <p:nvSpPr>
          <p:cNvPr id="21" name="Text 13"/>
          <p:cNvSpPr/>
          <p:nvPr/>
        </p:nvSpPr>
        <p:spPr>
          <a:xfrm>
            <a:off x="6557963" y="3458468"/>
            <a:ext cx="2157413"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Tunable Priorities</a:t>
            </a:r>
            <a:endParaRPr lang="en-US" sz="885" dirty="0"/>
          </a:p>
        </p:txBody>
      </p:sp>
      <p:sp>
        <p:nvSpPr>
          <p:cNvPr id="22" name="Text 14"/>
          <p:cNvSpPr/>
          <p:nvPr/>
        </p:nvSpPr>
        <p:spPr>
          <a:xfrm>
            <a:off x="6557963" y="3685282"/>
            <a:ext cx="2157413" cy="6858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94A3B8"/>
                </a:solidFill>
                <a:latin typeface="Roboto" pitchFamily="34" charset="0"/>
                <a:ea typeface="Roboto" pitchFamily="34" charset="-122"/>
                <a:cs typeface="Roboto" pitchFamily="34" charset="-120"/>
              </a:rPr>
              <a:t>Increasing the Beta parameter makes these bars even flatter, trading some model-level balance for perfect line-level consistency.</a:t>
            </a:r>
            <a:endParaRPr lang="en-US" sz="834" dirty="0"/>
          </a:p>
        </p:txBody>
      </p:sp>
      <p:sp>
        <p:nvSpPr>
          <p:cNvPr id="23" name="Text 15"/>
          <p:cNvSpPr/>
          <p:nvPr/>
        </p:nvSpPr>
        <p:spPr>
          <a:xfrm>
            <a:off x="428625" y="4816673"/>
            <a:ext cx="8286750" cy="112514"/>
          </a:xfrm>
          <a:prstGeom prst="rect">
            <a:avLst/>
          </a:prstGeom>
          <a:noFill/>
          <a:ln/>
        </p:spPr>
        <p:txBody>
          <a:bodyPr wrap="none" lIns="0" tIns="0" rIns="0" bIns="0" rtlCol="0" anchor="t">
            <a:spAutoFit/>
          </a:bodyPr>
          <a:lstStyle/>
          <a:p>
            <a:pPr algn="r" indent="0" marL="0">
              <a:lnSpc>
                <a:spcPts val="800"/>
              </a:lnSpc>
              <a:buNone/>
            </a:pPr>
            <a:r>
              <a:rPr lang="en-US" sz="621" dirty="0">
                <a:solidFill>
                  <a:srgbClr val="475569"/>
                </a:solidFill>
                <a:latin typeface="Roboto Mono" pitchFamily="34" charset="0"/>
                <a:ea typeface="Roboto Mono" pitchFamily="34" charset="-122"/>
                <a:cs typeface="Roboto Mono" pitchFamily="34" charset="-120"/>
              </a:rPr>
              <a:t>CONFIDENTIAL | INTERNAL DEMO | 2026</a:t>
            </a:r>
            <a:endParaRPr lang="en-US" sz="62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28625" y="428625"/>
            <a:ext cx="8286750" cy="714375"/>
          </a:xfrm>
          <a:prstGeom prst="rect">
            <a:avLst/>
          </a:prstGeom>
          <a:solidFill>
            <a:srgbClr val="000000">
              <a:alpha val="0"/>
            </a:srgbClr>
          </a:solidFill>
          <a:ln/>
        </p:spPr>
      </p:sp>
      <p:sp>
        <p:nvSpPr>
          <p:cNvPr id="4" name="Shape 1"/>
          <p:cNvSpPr/>
          <p:nvPr/>
        </p:nvSpPr>
        <p:spPr>
          <a:xfrm>
            <a:off x="428625" y="1135856"/>
            <a:ext cx="8286750" cy="7144"/>
          </a:xfrm>
          <a:prstGeom prst="rect">
            <a:avLst/>
          </a:prstGeom>
          <a:solidFill>
            <a:srgbClr val="334155"/>
          </a:solidFill>
          <a:ln/>
        </p:spPr>
      </p:sp>
      <p:sp>
        <p:nvSpPr>
          <p:cNvPr id="5" name="Text 2"/>
          <p:cNvSpPr/>
          <p:nvPr/>
        </p:nvSpPr>
        <p:spPr>
          <a:xfrm>
            <a:off x="428625" y="428625"/>
            <a:ext cx="8286750" cy="339328"/>
          </a:xfrm>
          <a:prstGeom prst="rect">
            <a:avLst/>
          </a:prstGeom>
          <a:noFill/>
          <a:ln/>
        </p:spPr>
        <p:txBody>
          <a:bodyPr wrap="none" lIns="0" tIns="0" rIns="0" bIns="0" rtlCol="0" anchor="t">
            <a:spAutoFit/>
          </a:bodyPr>
          <a:lstStyle/>
          <a:p>
            <a:pPr algn="l" indent="0" marL="0">
              <a:lnSpc>
                <a:spcPts val="2400"/>
              </a:lnSpc>
              <a:buNone/>
            </a:pPr>
            <a:r>
              <a:rPr lang="en-US" sz="1808" b="1" dirty="0">
                <a:solidFill>
                  <a:srgbClr val="F8FAFC"/>
                </a:solidFill>
                <a:latin typeface="Roboto Mono" pitchFamily="34" charset="0"/>
                <a:ea typeface="Roboto Mono" pitchFamily="34" charset="-122"/>
                <a:cs typeface="Roboto Mono" pitchFamily="34" charset="-120"/>
              </a:rPr>
              <a:t>The Schedule Heatmap: Proof of Balance</a:t>
            </a:r>
            <a:endParaRPr lang="en-US" sz="1808" dirty="0"/>
          </a:p>
        </p:txBody>
      </p:sp>
      <p:sp>
        <p:nvSpPr>
          <p:cNvPr id="6" name="Text 3"/>
          <p:cNvSpPr/>
          <p:nvPr/>
        </p:nvSpPr>
        <p:spPr>
          <a:xfrm>
            <a:off x="428625" y="825103"/>
            <a:ext cx="8286750" cy="167878"/>
          </a:xfrm>
          <a:prstGeom prst="rect">
            <a:avLst/>
          </a:prstGeom>
          <a:noFill/>
          <a:ln/>
        </p:spPr>
        <p:txBody>
          <a:bodyPr wrap="none" lIns="0" tIns="0" rIns="0" bIns="0" rtlCol="0" anchor="t">
            <a:spAutoFit/>
          </a:bodyPr>
          <a:lstStyle/>
          <a:p>
            <a:pPr algn="l" indent="0" marL="0">
              <a:lnSpc>
                <a:spcPts val="1400"/>
              </a:lnSpc>
              <a:buNone/>
            </a:pPr>
            <a:r>
              <a:rPr lang="en-US" sz="1050" dirty="0">
                <a:solidFill>
                  <a:srgbClr val="94A3B8"/>
                </a:solidFill>
                <a:latin typeface="Roboto" pitchFamily="34" charset="0"/>
                <a:ea typeface="Roboto" pitchFamily="34" charset="-122"/>
                <a:cs typeface="Roboto" pitchFamily="34" charset="-120"/>
              </a:rPr>
              <a:t>The Schedule at a Glance — Color Intensity Reveals the Plan</a:t>
            </a:r>
            <a:endParaRPr lang="en-US" sz="1050" dirty="0"/>
          </a:p>
        </p:txBody>
      </p:sp>
      <p:sp>
        <p:nvSpPr>
          <p:cNvPr id="7" name="Text 4"/>
          <p:cNvSpPr/>
          <p:nvPr/>
        </p:nvSpPr>
        <p:spPr>
          <a:xfrm>
            <a:off x="457200" y="1450181"/>
            <a:ext cx="1562053" cy="303609"/>
          </a:xfrm>
          <a:prstGeom prst="rect">
            <a:avLst/>
          </a:prstGeom>
          <a:noFill/>
          <a:ln/>
        </p:spPr>
        <p:txBody>
          <a:bodyPr wrap="square" lIns="102108" tIns="102108" rIns="102108" bIns="102108" rtlCol="0" anchor="ctr">
            <a:spAutoFit/>
          </a:bodyPr>
          <a:lstStyle/>
          <a:p>
            <a:pPr algn="l" indent="0" marL="0">
              <a:lnSpc>
                <a:spcPts val="900"/>
              </a:lnSpc>
              <a:buNone/>
            </a:pPr>
            <a:r>
              <a:rPr lang="en-US" sz="683" b="1" dirty="0">
                <a:solidFill>
                  <a:srgbClr val="94A3B8"/>
                </a:solidFill>
                <a:latin typeface="Roboto Mono" pitchFamily="34" charset="0"/>
                <a:ea typeface="Roboto Mono" pitchFamily="34" charset="-122"/>
                <a:cs typeface="Roboto Mono" pitchFamily="34" charset="-120"/>
              </a:rPr>
              <a:t>MODEL</a:t>
            </a:r>
            <a:endParaRPr lang="en-US" sz="683" dirty="0"/>
          </a:p>
        </p:txBody>
      </p:sp>
      <p:sp>
        <p:nvSpPr>
          <p:cNvPr id="8" name="Text 5"/>
          <p:cNvSpPr/>
          <p:nvPr/>
        </p:nvSpPr>
        <p:spPr>
          <a:xfrm>
            <a:off x="2047828" y="1450181"/>
            <a:ext cx="543539" cy="303609"/>
          </a:xfrm>
          <a:prstGeom prst="rect">
            <a:avLst/>
          </a:prstGeom>
          <a:noFill/>
          <a:ln/>
        </p:spPr>
        <p:txBody>
          <a:bodyPr wrap="square" lIns="102108" tIns="102108" rIns="102108" bIns="102108" rtlCol="0" anchor="ctr">
            <a:spAutoFit/>
          </a:bodyPr>
          <a:lstStyle/>
          <a:p>
            <a:pPr algn="ctr" indent="0" marL="0">
              <a:lnSpc>
                <a:spcPts val="900"/>
              </a:lnSpc>
              <a:buNone/>
            </a:pPr>
            <a:r>
              <a:rPr lang="en-US" sz="683" b="1" dirty="0">
                <a:solidFill>
                  <a:srgbClr val="94A3B8"/>
                </a:solidFill>
                <a:latin typeface="Roboto Mono" pitchFamily="34" charset="0"/>
                <a:ea typeface="Roboto Mono" pitchFamily="34" charset="-122"/>
                <a:cs typeface="Roboto Mono" pitchFamily="34" charset="-120"/>
              </a:rPr>
              <a:t>MON</a:t>
            </a:r>
            <a:endParaRPr lang="en-US" sz="683" dirty="0"/>
          </a:p>
        </p:txBody>
      </p:sp>
      <p:sp>
        <p:nvSpPr>
          <p:cNvPr id="9" name="Text 6"/>
          <p:cNvSpPr/>
          <p:nvPr/>
        </p:nvSpPr>
        <p:spPr>
          <a:xfrm>
            <a:off x="2619942" y="1450181"/>
            <a:ext cx="543539" cy="303609"/>
          </a:xfrm>
          <a:prstGeom prst="rect">
            <a:avLst/>
          </a:prstGeom>
          <a:noFill/>
          <a:ln/>
        </p:spPr>
        <p:txBody>
          <a:bodyPr wrap="square" lIns="102108" tIns="102108" rIns="102108" bIns="102108" rtlCol="0" anchor="ctr">
            <a:spAutoFit/>
          </a:bodyPr>
          <a:lstStyle/>
          <a:p>
            <a:pPr algn="ctr" indent="0" marL="0">
              <a:lnSpc>
                <a:spcPts val="900"/>
              </a:lnSpc>
              <a:buNone/>
            </a:pPr>
            <a:r>
              <a:rPr lang="en-US" sz="683" b="1" dirty="0">
                <a:solidFill>
                  <a:srgbClr val="94A3B8"/>
                </a:solidFill>
                <a:latin typeface="Roboto Mono" pitchFamily="34" charset="0"/>
                <a:ea typeface="Roboto Mono" pitchFamily="34" charset="-122"/>
                <a:cs typeface="Roboto Mono" pitchFamily="34" charset="-120"/>
              </a:rPr>
              <a:t>TUE</a:t>
            </a:r>
            <a:endParaRPr lang="en-US" sz="683" dirty="0"/>
          </a:p>
        </p:txBody>
      </p:sp>
      <p:sp>
        <p:nvSpPr>
          <p:cNvPr id="10" name="Text 7"/>
          <p:cNvSpPr/>
          <p:nvPr/>
        </p:nvSpPr>
        <p:spPr>
          <a:xfrm>
            <a:off x="3192056" y="1450181"/>
            <a:ext cx="543539" cy="303609"/>
          </a:xfrm>
          <a:prstGeom prst="rect">
            <a:avLst/>
          </a:prstGeom>
          <a:noFill/>
          <a:ln/>
        </p:spPr>
        <p:txBody>
          <a:bodyPr wrap="square" lIns="102108" tIns="102108" rIns="102108" bIns="102108" rtlCol="0" anchor="ctr">
            <a:spAutoFit/>
          </a:bodyPr>
          <a:lstStyle/>
          <a:p>
            <a:pPr algn="ctr" indent="0" marL="0">
              <a:lnSpc>
                <a:spcPts val="900"/>
              </a:lnSpc>
              <a:buNone/>
            </a:pPr>
            <a:r>
              <a:rPr lang="en-US" sz="683" b="1" dirty="0">
                <a:solidFill>
                  <a:srgbClr val="94A3B8"/>
                </a:solidFill>
                <a:latin typeface="Roboto Mono" pitchFamily="34" charset="0"/>
                <a:ea typeface="Roboto Mono" pitchFamily="34" charset="-122"/>
                <a:cs typeface="Roboto Mono" pitchFamily="34" charset="-120"/>
              </a:rPr>
              <a:t>WED</a:t>
            </a:r>
            <a:endParaRPr lang="en-US" sz="683" dirty="0"/>
          </a:p>
        </p:txBody>
      </p:sp>
      <p:sp>
        <p:nvSpPr>
          <p:cNvPr id="11" name="Text 8"/>
          <p:cNvSpPr/>
          <p:nvPr/>
        </p:nvSpPr>
        <p:spPr>
          <a:xfrm>
            <a:off x="3764170" y="1450181"/>
            <a:ext cx="543539" cy="303609"/>
          </a:xfrm>
          <a:prstGeom prst="rect">
            <a:avLst/>
          </a:prstGeom>
          <a:noFill/>
          <a:ln/>
        </p:spPr>
        <p:txBody>
          <a:bodyPr wrap="square" lIns="102108" tIns="102108" rIns="102108" bIns="102108" rtlCol="0" anchor="ctr">
            <a:spAutoFit/>
          </a:bodyPr>
          <a:lstStyle/>
          <a:p>
            <a:pPr algn="ctr" indent="0" marL="0">
              <a:lnSpc>
                <a:spcPts val="900"/>
              </a:lnSpc>
              <a:buNone/>
            </a:pPr>
            <a:r>
              <a:rPr lang="en-US" sz="683" b="1" dirty="0">
                <a:solidFill>
                  <a:srgbClr val="94A3B8"/>
                </a:solidFill>
                <a:latin typeface="Roboto Mono" pitchFamily="34" charset="0"/>
                <a:ea typeface="Roboto Mono" pitchFamily="34" charset="-122"/>
                <a:cs typeface="Roboto Mono" pitchFamily="34" charset="-120"/>
              </a:rPr>
              <a:t>THU</a:t>
            </a:r>
            <a:endParaRPr lang="en-US" sz="683" dirty="0"/>
          </a:p>
        </p:txBody>
      </p:sp>
      <p:sp>
        <p:nvSpPr>
          <p:cNvPr id="12" name="Text 9"/>
          <p:cNvSpPr/>
          <p:nvPr/>
        </p:nvSpPr>
        <p:spPr>
          <a:xfrm>
            <a:off x="4336284" y="1450181"/>
            <a:ext cx="543539" cy="303609"/>
          </a:xfrm>
          <a:prstGeom prst="rect">
            <a:avLst/>
          </a:prstGeom>
          <a:noFill/>
          <a:ln/>
        </p:spPr>
        <p:txBody>
          <a:bodyPr wrap="square" lIns="102108" tIns="102108" rIns="102108" bIns="102108" rtlCol="0" anchor="ctr">
            <a:spAutoFit/>
          </a:bodyPr>
          <a:lstStyle/>
          <a:p>
            <a:pPr algn="ctr" indent="0" marL="0">
              <a:lnSpc>
                <a:spcPts val="900"/>
              </a:lnSpc>
              <a:buNone/>
            </a:pPr>
            <a:r>
              <a:rPr lang="en-US" sz="683" b="1" dirty="0">
                <a:solidFill>
                  <a:srgbClr val="94A3B8"/>
                </a:solidFill>
                <a:latin typeface="Roboto Mono" pitchFamily="34" charset="0"/>
                <a:ea typeface="Roboto Mono" pitchFamily="34" charset="-122"/>
                <a:cs typeface="Roboto Mono" pitchFamily="34" charset="-120"/>
              </a:rPr>
              <a:t>FRI</a:t>
            </a:r>
            <a:endParaRPr lang="en-US" sz="683" dirty="0"/>
          </a:p>
        </p:txBody>
      </p:sp>
      <p:sp>
        <p:nvSpPr>
          <p:cNvPr id="13" name="Text 10"/>
          <p:cNvSpPr/>
          <p:nvPr/>
        </p:nvSpPr>
        <p:spPr>
          <a:xfrm>
            <a:off x="4908398" y="1450181"/>
            <a:ext cx="730393" cy="303609"/>
          </a:xfrm>
          <a:prstGeom prst="rect">
            <a:avLst/>
          </a:prstGeom>
          <a:noFill/>
          <a:ln/>
        </p:spPr>
        <p:txBody>
          <a:bodyPr wrap="square" lIns="102108" tIns="102108" rIns="102108" bIns="102108" rtlCol="0" anchor="ctr">
            <a:spAutoFit/>
          </a:bodyPr>
          <a:lstStyle/>
          <a:p>
            <a:pPr algn="ctr" indent="0" marL="0">
              <a:lnSpc>
                <a:spcPts val="900"/>
              </a:lnSpc>
              <a:buNone/>
            </a:pPr>
            <a:r>
              <a:rPr lang="en-US" sz="683" b="1" dirty="0">
                <a:solidFill>
                  <a:srgbClr val="94A3B8"/>
                </a:solidFill>
                <a:latin typeface="Roboto Mono" pitchFamily="34" charset="0"/>
                <a:ea typeface="Roboto Mono" pitchFamily="34" charset="-122"/>
                <a:cs typeface="Roboto Mono" pitchFamily="34" charset="-120"/>
              </a:rPr>
              <a:t>TOTAL</a:t>
            </a:r>
            <a:endParaRPr lang="en-US" sz="683" dirty="0"/>
          </a:p>
        </p:txBody>
      </p:sp>
      <p:sp>
        <p:nvSpPr>
          <p:cNvPr id="14" name="Text 11"/>
          <p:cNvSpPr/>
          <p:nvPr/>
        </p:nvSpPr>
        <p:spPr>
          <a:xfrm>
            <a:off x="457200" y="1782366"/>
            <a:ext cx="1562053" cy="355402"/>
          </a:xfrm>
          <a:prstGeom prst="rect">
            <a:avLst/>
          </a:prstGeom>
          <a:noFill/>
          <a:ln/>
        </p:spPr>
        <p:txBody>
          <a:bodyPr wrap="square" lIns="102108" tIns="102108" rIns="102108" bIns="102108" rtlCol="0" anchor="ctr">
            <a:spAutoFit/>
          </a:bodyPr>
          <a:lstStyle/>
          <a:p>
            <a:pPr algn="l" indent="0" marL="0">
              <a:lnSpc>
                <a:spcPts val="1200"/>
              </a:lnSpc>
              <a:buNone/>
            </a:pPr>
            <a:r>
              <a:rPr lang="en-US" sz="885" b="1" dirty="0">
                <a:solidFill>
                  <a:srgbClr val="CBD5E1"/>
                </a:solidFill>
                <a:latin typeface="Roboto Mono" pitchFamily="34" charset="0"/>
                <a:ea typeface="Roboto Mono" pitchFamily="34" charset="-122"/>
                <a:cs typeface="Roboto Mono" pitchFamily="34" charset="-120"/>
              </a:rPr>
              <a:t>Model-A</a:t>
            </a:r>
            <a:endParaRPr lang="en-US" sz="885" dirty="0"/>
          </a:p>
        </p:txBody>
      </p:sp>
      <p:sp>
        <p:nvSpPr>
          <p:cNvPr id="15" name="Shape 12"/>
          <p:cNvSpPr/>
          <p:nvPr/>
        </p:nvSpPr>
        <p:spPr>
          <a:xfrm>
            <a:off x="2047828" y="1782366"/>
            <a:ext cx="543539" cy="355402"/>
          </a:xfrm>
          <a:prstGeom prst="rect">
            <a:avLst/>
          </a:prstGeom>
          <a:solidFill>
            <a:srgbClr val="3B82F6">
              <a:alpha val="90000"/>
            </a:srgbClr>
          </a:solidFill>
          <a:ln/>
        </p:spPr>
      </p:sp>
      <p:sp>
        <p:nvSpPr>
          <p:cNvPr id="16" name="Text 13"/>
          <p:cNvSpPr/>
          <p:nvPr/>
        </p:nvSpPr>
        <p:spPr>
          <a:xfrm>
            <a:off x="2047828" y="1782366"/>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FFFFFF"/>
                </a:solidFill>
                <a:latin typeface="Roboto Mono" pitchFamily="34" charset="0"/>
                <a:ea typeface="Roboto Mono" pitchFamily="34" charset="-122"/>
                <a:cs typeface="Roboto Mono" pitchFamily="34" charset="-120"/>
              </a:rPr>
              <a:t>6</a:t>
            </a:r>
            <a:endParaRPr lang="en-US" sz="942" dirty="0"/>
          </a:p>
        </p:txBody>
      </p:sp>
      <p:sp>
        <p:nvSpPr>
          <p:cNvPr id="17" name="Shape 14"/>
          <p:cNvSpPr/>
          <p:nvPr/>
        </p:nvSpPr>
        <p:spPr>
          <a:xfrm>
            <a:off x="2619942" y="1782366"/>
            <a:ext cx="543539" cy="355402"/>
          </a:xfrm>
          <a:prstGeom prst="rect">
            <a:avLst/>
          </a:prstGeom>
          <a:solidFill>
            <a:srgbClr val="3B82F6">
              <a:alpha val="90000"/>
            </a:srgbClr>
          </a:solidFill>
          <a:ln/>
        </p:spPr>
      </p:sp>
      <p:sp>
        <p:nvSpPr>
          <p:cNvPr id="18" name="Text 15"/>
          <p:cNvSpPr/>
          <p:nvPr/>
        </p:nvSpPr>
        <p:spPr>
          <a:xfrm>
            <a:off x="2619942" y="1782366"/>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FFFFFF"/>
                </a:solidFill>
                <a:latin typeface="Roboto Mono" pitchFamily="34" charset="0"/>
                <a:ea typeface="Roboto Mono" pitchFamily="34" charset="-122"/>
                <a:cs typeface="Roboto Mono" pitchFamily="34" charset="-120"/>
              </a:rPr>
              <a:t>6</a:t>
            </a:r>
            <a:endParaRPr lang="en-US" sz="942" dirty="0"/>
          </a:p>
        </p:txBody>
      </p:sp>
      <p:sp>
        <p:nvSpPr>
          <p:cNvPr id="19" name="Shape 16"/>
          <p:cNvSpPr/>
          <p:nvPr/>
        </p:nvSpPr>
        <p:spPr>
          <a:xfrm>
            <a:off x="3192056" y="1782366"/>
            <a:ext cx="543539" cy="355402"/>
          </a:xfrm>
          <a:prstGeom prst="rect">
            <a:avLst/>
          </a:prstGeom>
          <a:solidFill>
            <a:srgbClr val="3B82F6">
              <a:alpha val="90000"/>
            </a:srgbClr>
          </a:solidFill>
          <a:ln/>
        </p:spPr>
      </p:sp>
      <p:sp>
        <p:nvSpPr>
          <p:cNvPr id="20" name="Text 17"/>
          <p:cNvSpPr/>
          <p:nvPr/>
        </p:nvSpPr>
        <p:spPr>
          <a:xfrm>
            <a:off x="3192056" y="1782366"/>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FFFFFF"/>
                </a:solidFill>
                <a:latin typeface="Roboto Mono" pitchFamily="34" charset="0"/>
                <a:ea typeface="Roboto Mono" pitchFamily="34" charset="-122"/>
                <a:cs typeface="Roboto Mono" pitchFamily="34" charset="-120"/>
              </a:rPr>
              <a:t>6</a:t>
            </a:r>
            <a:endParaRPr lang="en-US" sz="942" dirty="0"/>
          </a:p>
        </p:txBody>
      </p:sp>
      <p:sp>
        <p:nvSpPr>
          <p:cNvPr id="21" name="Shape 18"/>
          <p:cNvSpPr/>
          <p:nvPr/>
        </p:nvSpPr>
        <p:spPr>
          <a:xfrm>
            <a:off x="3764170" y="1782366"/>
            <a:ext cx="543539" cy="355402"/>
          </a:xfrm>
          <a:prstGeom prst="rect">
            <a:avLst/>
          </a:prstGeom>
          <a:solidFill>
            <a:srgbClr val="3B82F6">
              <a:alpha val="90000"/>
            </a:srgbClr>
          </a:solidFill>
          <a:ln/>
        </p:spPr>
      </p:sp>
      <p:sp>
        <p:nvSpPr>
          <p:cNvPr id="22" name="Text 19"/>
          <p:cNvSpPr/>
          <p:nvPr/>
        </p:nvSpPr>
        <p:spPr>
          <a:xfrm>
            <a:off x="3764170" y="1782366"/>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FFFFFF"/>
                </a:solidFill>
                <a:latin typeface="Roboto Mono" pitchFamily="34" charset="0"/>
                <a:ea typeface="Roboto Mono" pitchFamily="34" charset="-122"/>
                <a:cs typeface="Roboto Mono" pitchFamily="34" charset="-120"/>
              </a:rPr>
              <a:t>6</a:t>
            </a:r>
            <a:endParaRPr lang="en-US" sz="942" dirty="0"/>
          </a:p>
        </p:txBody>
      </p:sp>
      <p:sp>
        <p:nvSpPr>
          <p:cNvPr id="23" name="Shape 20"/>
          <p:cNvSpPr/>
          <p:nvPr/>
        </p:nvSpPr>
        <p:spPr>
          <a:xfrm>
            <a:off x="4336284" y="1782366"/>
            <a:ext cx="543539" cy="355402"/>
          </a:xfrm>
          <a:prstGeom prst="rect">
            <a:avLst/>
          </a:prstGeom>
          <a:solidFill>
            <a:srgbClr val="3B82F6">
              <a:alpha val="90000"/>
            </a:srgbClr>
          </a:solidFill>
          <a:ln/>
        </p:spPr>
      </p:sp>
      <p:sp>
        <p:nvSpPr>
          <p:cNvPr id="24" name="Text 21"/>
          <p:cNvSpPr/>
          <p:nvPr/>
        </p:nvSpPr>
        <p:spPr>
          <a:xfrm>
            <a:off x="4336284" y="1782366"/>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FFFFFF"/>
                </a:solidFill>
                <a:latin typeface="Roboto Mono" pitchFamily="34" charset="0"/>
                <a:ea typeface="Roboto Mono" pitchFamily="34" charset="-122"/>
                <a:cs typeface="Roboto Mono" pitchFamily="34" charset="-120"/>
              </a:rPr>
              <a:t>6</a:t>
            </a:r>
            <a:endParaRPr lang="en-US" sz="942" dirty="0"/>
          </a:p>
        </p:txBody>
      </p:sp>
      <p:sp>
        <p:nvSpPr>
          <p:cNvPr id="25" name="Shape 22"/>
          <p:cNvSpPr/>
          <p:nvPr/>
        </p:nvSpPr>
        <p:spPr>
          <a:xfrm>
            <a:off x="4908398" y="1782366"/>
            <a:ext cx="730393" cy="355402"/>
          </a:xfrm>
          <a:prstGeom prst="rect">
            <a:avLst/>
          </a:prstGeom>
          <a:solidFill>
            <a:srgbClr val="1E293B">
              <a:alpha val="80000"/>
            </a:srgbClr>
          </a:solidFill>
          <a:ln w="9144">
            <a:solidFill>
              <a:srgbClr val="334155"/>
            </a:solidFill>
            <a:prstDash val="solid"/>
          </a:ln>
        </p:spPr>
      </p:sp>
      <p:sp>
        <p:nvSpPr>
          <p:cNvPr id="26" name="Text 23"/>
          <p:cNvSpPr/>
          <p:nvPr/>
        </p:nvSpPr>
        <p:spPr>
          <a:xfrm>
            <a:off x="4908398" y="1782366"/>
            <a:ext cx="730393"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30</a:t>
            </a:r>
            <a:endParaRPr lang="en-US" sz="885" dirty="0"/>
          </a:p>
        </p:txBody>
      </p:sp>
      <p:sp>
        <p:nvSpPr>
          <p:cNvPr id="27" name="Text 24"/>
          <p:cNvSpPr/>
          <p:nvPr/>
        </p:nvSpPr>
        <p:spPr>
          <a:xfrm>
            <a:off x="457200" y="2152055"/>
            <a:ext cx="1562053" cy="355402"/>
          </a:xfrm>
          <a:prstGeom prst="rect">
            <a:avLst/>
          </a:prstGeom>
          <a:noFill/>
          <a:ln/>
        </p:spPr>
        <p:txBody>
          <a:bodyPr wrap="square" lIns="102108" tIns="102108" rIns="102108" bIns="102108" rtlCol="0" anchor="ctr">
            <a:spAutoFit/>
          </a:bodyPr>
          <a:lstStyle/>
          <a:p>
            <a:pPr algn="l" indent="0" marL="0">
              <a:lnSpc>
                <a:spcPts val="1200"/>
              </a:lnSpc>
              <a:buNone/>
            </a:pPr>
            <a:r>
              <a:rPr lang="en-US" sz="885" b="1" dirty="0">
                <a:solidFill>
                  <a:srgbClr val="CBD5E1"/>
                </a:solidFill>
                <a:latin typeface="Roboto Mono" pitchFamily="34" charset="0"/>
                <a:ea typeface="Roboto Mono" pitchFamily="34" charset="-122"/>
                <a:cs typeface="Roboto Mono" pitchFamily="34" charset="-120"/>
              </a:rPr>
              <a:t>Model-B</a:t>
            </a:r>
            <a:endParaRPr lang="en-US" sz="885" dirty="0"/>
          </a:p>
        </p:txBody>
      </p:sp>
      <p:sp>
        <p:nvSpPr>
          <p:cNvPr id="28" name="Shape 25"/>
          <p:cNvSpPr/>
          <p:nvPr/>
        </p:nvSpPr>
        <p:spPr>
          <a:xfrm>
            <a:off x="2047828" y="2152055"/>
            <a:ext cx="543539" cy="355402"/>
          </a:xfrm>
          <a:prstGeom prst="rect">
            <a:avLst/>
          </a:prstGeom>
          <a:solidFill>
            <a:srgbClr val="3B82F6">
              <a:alpha val="70000"/>
            </a:srgbClr>
          </a:solidFill>
          <a:ln/>
        </p:spPr>
      </p:sp>
      <p:sp>
        <p:nvSpPr>
          <p:cNvPr id="29" name="Text 26"/>
          <p:cNvSpPr/>
          <p:nvPr/>
        </p:nvSpPr>
        <p:spPr>
          <a:xfrm>
            <a:off x="2047828" y="2152055"/>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F8FAFC"/>
                </a:solidFill>
                <a:latin typeface="Roboto Mono" pitchFamily="34" charset="0"/>
                <a:ea typeface="Roboto Mono" pitchFamily="34" charset="-122"/>
                <a:cs typeface="Roboto Mono" pitchFamily="34" charset="-120"/>
              </a:rPr>
              <a:t>5</a:t>
            </a:r>
            <a:endParaRPr lang="en-US" sz="942" dirty="0"/>
          </a:p>
        </p:txBody>
      </p:sp>
      <p:sp>
        <p:nvSpPr>
          <p:cNvPr id="30" name="Shape 27"/>
          <p:cNvSpPr/>
          <p:nvPr/>
        </p:nvSpPr>
        <p:spPr>
          <a:xfrm>
            <a:off x="2619942" y="2152055"/>
            <a:ext cx="543539" cy="355402"/>
          </a:xfrm>
          <a:prstGeom prst="rect">
            <a:avLst/>
          </a:prstGeom>
          <a:solidFill>
            <a:srgbClr val="3B82F6">
              <a:alpha val="70000"/>
            </a:srgbClr>
          </a:solidFill>
          <a:ln/>
        </p:spPr>
      </p:sp>
      <p:sp>
        <p:nvSpPr>
          <p:cNvPr id="31" name="Text 28"/>
          <p:cNvSpPr/>
          <p:nvPr/>
        </p:nvSpPr>
        <p:spPr>
          <a:xfrm>
            <a:off x="2619942" y="2152055"/>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F8FAFC"/>
                </a:solidFill>
                <a:latin typeface="Roboto Mono" pitchFamily="34" charset="0"/>
                <a:ea typeface="Roboto Mono" pitchFamily="34" charset="-122"/>
                <a:cs typeface="Roboto Mono" pitchFamily="34" charset="-120"/>
              </a:rPr>
              <a:t>5</a:t>
            </a:r>
            <a:endParaRPr lang="en-US" sz="942" dirty="0"/>
          </a:p>
        </p:txBody>
      </p:sp>
      <p:sp>
        <p:nvSpPr>
          <p:cNvPr id="32" name="Shape 29"/>
          <p:cNvSpPr/>
          <p:nvPr/>
        </p:nvSpPr>
        <p:spPr>
          <a:xfrm>
            <a:off x="3192056" y="2152055"/>
            <a:ext cx="543539" cy="355402"/>
          </a:xfrm>
          <a:prstGeom prst="rect">
            <a:avLst/>
          </a:prstGeom>
          <a:solidFill>
            <a:srgbClr val="3B82F6">
              <a:alpha val="70000"/>
            </a:srgbClr>
          </a:solidFill>
          <a:ln/>
        </p:spPr>
      </p:sp>
      <p:sp>
        <p:nvSpPr>
          <p:cNvPr id="33" name="Text 30"/>
          <p:cNvSpPr/>
          <p:nvPr/>
        </p:nvSpPr>
        <p:spPr>
          <a:xfrm>
            <a:off x="3192056" y="2152055"/>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F8FAFC"/>
                </a:solidFill>
                <a:latin typeface="Roboto Mono" pitchFamily="34" charset="0"/>
                <a:ea typeface="Roboto Mono" pitchFamily="34" charset="-122"/>
                <a:cs typeface="Roboto Mono" pitchFamily="34" charset="-120"/>
              </a:rPr>
              <a:t>5</a:t>
            </a:r>
            <a:endParaRPr lang="en-US" sz="942" dirty="0"/>
          </a:p>
        </p:txBody>
      </p:sp>
      <p:sp>
        <p:nvSpPr>
          <p:cNvPr id="34" name="Shape 31"/>
          <p:cNvSpPr/>
          <p:nvPr/>
        </p:nvSpPr>
        <p:spPr>
          <a:xfrm>
            <a:off x="3764170" y="2152055"/>
            <a:ext cx="543539" cy="355402"/>
          </a:xfrm>
          <a:prstGeom prst="rect">
            <a:avLst/>
          </a:prstGeom>
          <a:solidFill>
            <a:srgbClr val="3B82F6">
              <a:alpha val="50000"/>
            </a:srgbClr>
          </a:solidFill>
          <a:ln/>
        </p:spPr>
      </p:sp>
      <p:sp>
        <p:nvSpPr>
          <p:cNvPr id="35" name="Text 32"/>
          <p:cNvSpPr/>
          <p:nvPr/>
        </p:nvSpPr>
        <p:spPr>
          <a:xfrm>
            <a:off x="3764170" y="2152055"/>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F8FAFC"/>
                </a:solidFill>
                <a:latin typeface="Roboto Mono" pitchFamily="34" charset="0"/>
                <a:ea typeface="Roboto Mono" pitchFamily="34" charset="-122"/>
                <a:cs typeface="Roboto Mono" pitchFamily="34" charset="-120"/>
              </a:rPr>
              <a:t>4</a:t>
            </a:r>
            <a:endParaRPr lang="en-US" sz="942" dirty="0"/>
          </a:p>
        </p:txBody>
      </p:sp>
      <p:sp>
        <p:nvSpPr>
          <p:cNvPr id="36" name="Shape 33"/>
          <p:cNvSpPr/>
          <p:nvPr/>
        </p:nvSpPr>
        <p:spPr>
          <a:xfrm>
            <a:off x="4336284" y="2152055"/>
            <a:ext cx="543539" cy="355402"/>
          </a:xfrm>
          <a:prstGeom prst="rect">
            <a:avLst/>
          </a:prstGeom>
          <a:solidFill>
            <a:srgbClr val="3B82F6">
              <a:alpha val="50000"/>
            </a:srgbClr>
          </a:solidFill>
          <a:ln/>
        </p:spPr>
      </p:sp>
      <p:sp>
        <p:nvSpPr>
          <p:cNvPr id="37" name="Text 34"/>
          <p:cNvSpPr/>
          <p:nvPr/>
        </p:nvSpPr>
        <p:spPr>
          <a:xfrm>
            <a:off x="4336284" y="2152055"/>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F8FAFC"/>
                </a:solidFill>
                <a:latin typeface="Roboto Mono" pitchFamily="34" charset="0"/>
                <a:ea typeface="Roboto Mono" pitchFamily="34" charset="-122"/>
                <a:cs typeface="Roboto Mono" pitchFamily="34" charset="-120"/>
              </a:rPr>
              <a:t>4</a:t>
            </a:r>
            <a:endParaRPr lang="en-US" sz="942" dirty="0"/>
          </a:p>
        </p:txBody>
      </p:sp>
      <p:sp>
        <p:nvSpPr>
          <p:cNvPr id="38" name="Shape 35"/>
          <p:cNvSpPr/>
          <p:nvPr/>
        </p:nvSpPr>
        <p:spPr>
          <a:xfrm>
            <a:off x="4908398" y="2152055"/>
            <a:ext cx="730393" cy="355402"/>
          </a:xfrm>
          <a:prstGeom prst="rect">
            <a:avLst/>
          </a:prstGeom>
          <a:solidFill>
            <a:srgbClr val="1E293B">
              <a:alpha val="80000"/>
            </a:srgbClr>
          </a:solidFill>
          <a:ln w="9144">
            <a:solidFill>
              <a:srgbClr val="334155"/>
            </a:solidFill>
            <a:prstDash val="solid"/>
          </a:ln>
        </p:spPr>
      </p:sp>
      <p:sp>
        <p:nvSpPr>
          <p:cNvPr id="39" name="Text 36"/>
          <p:cNvSpPr/>
          <p:nvPr/>
        </p:nvSpPr>
        <p:spPr>
          <a:xfrm>
            <a:off x="4908398" y="2152055"/>
            <a:ext cx="730393"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23</a:t>
            </a:r>
            <a:endParaRPr lang="en-US" sz="885" dirty="0"/>
          </a:p>
        </p:txBody>
      </p:sp>
      <p:sp>
        <p:nvSpPr>
          <p:cNvPr id="40" name="Text 37"/>
          <p:cNvSpPr/>
          <p:nvPr/>
        </p:nvSpPr>
        <p:spPr>
          <a:xfrm>
            <a:off x="457200" y="2521744"/>
            <a:ext cx="1562053" cy="355402"/>
          </a:xfrm>
          <a:prstGeom prst="rect">
            <a:avLst/>
          </a:prstGeom>
          <a:noFill/>
          <a:ln/>
        </p:spPr>
        <p:txBody>
          <a:bodyPr wrap="square" lIns="102108" tIns="102108" rIns="102108" bIns="102108" rtlCol="0" anchor="ctr">
            <a:spAutoFit/>
          </a:bodyPr>
          <a:lstStyle/>
          <a:p>
            <a:pPr algn="l" indent="0" marL="0">
              <a:lnSpc>
                <a:spcPts val="1200"/>
              </a:lnSpc>
              <a:buNone/>
            </a:pPr>
            <a:r>
              <a:rPr lang="en-US" sz="885" b="1" dirty="0">
                <a:solidFill>
                  <a:srgbClr val="CBD5E1"/>
                </a:solidFill>
                <a:latin typeface="Roboto Mono" pitchFamily="34" charset="0"/>
                <a:ea typeface="Roboto Mono" pitchFamily="34" charset="-122"/>
                <a:cs typeface="Roboto Mono" pitchFamily="34" charset="-120"/>
              </a:rPr>
              <a:t>Model-C</a:t>
            </a:r>
            <a:endParaRPr lang="en-US" sz="885" dirty="0"/>
          </a:p>
        </p:txBody>
      </p:sp>
      <p:sp>
        <p:nvSpPr>
          <p:cNvPr id="41" name="Shape 38"/>
          <p:cNvSpPr/>
          <p:nvPr/>
        </p:nvSpPr>
        <p:spPr>
          <a:xfrm>
            <a:off x="2047828" y="2521744"/>
            <a:ext cx="543539" cy="355402"/>
          </a:xfrm>
          <a:prstGeom prst="rect">
            <a:avLst/>
          </a:prstGeom>
          <a:solidFill>
            <a:srgbClr val="3B82F6">
              <a:alpha val="50000"/>
            </a:srgbClr>
          </a:solidFill>
          <a:ln/>
        </p:spPr>
      </p:sp>
      <p:sp>
        <p:nvSpPr>
          <p:cNvPr id="42" name="Text 39"/>
          <p:cNvSpPr/>
          <p:nvPr/>
        </p:nvSpPr>
        <p:spPr>
          <a:xfrm>
            <a:off x="2047828" y="2521744"/>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F8FAFC"/>
                </a:solidFill>
                <a:latin typeface="Roboto Mono" pitchFamily="34" charset="0"/>
                <a:ea typeface="Roboto Mono" pitchFamily="34" charset="-122"/>
                <a:cs typeface="Roboto Mono" pitchFamily="34" charset="-120"/>
              </a:rPr>
              <a:t>4</a:t>
            </a:r>
            <a:endParaRPr lang="en-US" sz="942" dirty="0"/>
          </a:p>
        </p:txBody>
      </p:sp>
      <p:sp>
        <p:nvSpPr>
          <p:cNvPr id="43" name="Shape 40"/>
          <p:cNvSpPr/>
          <p:nvPr/>
        </p:nvSpPr>
        <p:spPr>
          <a:xfrm>
            <a:off x="2619942" y="2521744"/>
            <a:ext cx="543539" cy="355402"/>
          </a:xfrm>
          <a:prstGeom prst="rect">
            <a:avLst/>
          </a:prstGeom>
          <a:solidFill>
            <a:srgbClr val="3B82F6">
              <a:alpha val="30000"/>
            </a:srgbClr>
          </a:solidFill>
          <a:ln/>
        </p:spPr>
      </p:sp>
      <p:sp>
        <p:nvSpPr>
          <p:cNvPr id="44" name="Text 41"/>
          <p:cNvSpPr/>
          <p:nvPr/>
        </p:nvSpPr>
        <p:spPr>
          <a:xfrm>
            <a:off x="2619942" y="2521744"/>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F8FAFC"/>
                </a:solidFill>
                <a:latin typeface="Roboto Mono" pitchFamily="34" charset="0"/>
                <a:ea typeface="Roboto Mono" pitchFamily="34" charset="-122"/>
                <a:cs typeface="Roboto Mono" pitchFamily="34" charset="-120"/>
              </a:rPr>
              <a:t>3</a:t>
            </a:r>
            <a:endParaRPr lang="en-US" sz="942" dirty="0"/>
          </a:p>
        </p:txBody>
      </p:sp>
      <p:sp>
        <p:nvSpPr>
          <p:cNvPr id="45" name="Shape 42"/>
          <p:cNvSpPr/>
          <p:nvPr/>
        </p:nvSpPr>
        <p:spPr>
          <a:xfrm>
            <a:off x="3192056" y="2521744"/>
            <a:ext cx="543539" cy="355402"/>
          </a:xfrm>
          <a:prstGeom prst="rect">
            <a:avLst/>
          </a:prstGeom>
          <a:solidFill>
            <a:srgbClr val="3B82F6">
              <a:alpha val="50000"/>
            </a:srgbClr>
          </a:solidFill>
          <a:ln/>
        </p:spPr>
      </p:sp>
      <p:sp>
        <p:nvSpPr>
          <p:cNvPr id="46" name="Text 43"/>
          <p:cNvSpPr/>
          <p:nvPr/>
        </p:nvSpPr>
        <p:spPr>
          <a:xfrm>
            <a:off x="3192056" y="2521744"/>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F8FAFC"/>
                </a:solidFill>
                <a:latin typeface="Roboto Mono" pitchFamily="34" charset="0"/>
                <a:ea typeface="Roboto Mono" pitchFamily="34" charset="-122"/>
                <a:cs typeface="Roboto Mono" pitchFamily="34" charset="-120"/>
              </a:rPr>
              <a:t>4</a:t>
            </a:r>
            <a:endParaRPr lang="en-US" sz="942" dirty="0"/>
          </a:p>
        </p:txBody>
      </p:sp>
      <p:sp>
        <p:nvSpPr>
          <p:cNvPr id="47" name="Shape 44"/>
          <p:cNvSpPr/>
          <p:nvPr/>
        </p:nvSpPr>
        <p:spPr>
          <a:xfrm>
            <a:off x="3764170" y="2521744"/>
            <a:ext cx="543539" cy="355402"/>
          </a:xfrm>
          <a:prstGeom prst="rect">
            <a:avLst/>
          </a:prstGeom>
          <a:solidFill>
            <a:srgbClr val="3B82F6">
              <a:alpha val="50000"/>
            </a:srgbClr>
          </a:solidFill>
          <a:ln/>
        </p:spPr>
      </p:sp>
      <p:sp>
        <p:nvSpPr>
          <p:cNvPr id="48" name="Text 45"/>
          <p:cNvSpPr/>
          <p:nvPr/>
        </p:nvSpPr>
        <p:spPr>
          <a:xfrm>
            <a:off x="3764170" y="2521744"/>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F8FAFC"/>
                </a:solidFill>
                <a:latin typeface="Roboto Mono" pitchFamily="34" charset="0"/>
                <a:ea typeface="Roboto Mono" pitchFamily="34" charset="-122"/>
                <a:cs typeface="Roboto Mono" pitchFamily="34" charset="-120"/>
              </a:rPr>
              <a:t>4</a:t>
            </a:r>
            <a:endParaRPr lang="en-US" sz="942" dirty="0"/>
          </a:p>
        </p:txBody>
      </p:sp>
      <p:sp>
        <p:nvSpPr>
          <p:cNvPr id="49" name="Shape 46"/>
          <p:cNvSpPr/>
          <p:nvPr/>
        </p:nvSpPr>
        <p:spPr>
          <a:xfrm>
            <a:off x="4336284" y="2521744"/>
            <a:ext cx="543539" cy="355402"/>
          </a:xfrm>
          <a:prstGeom prst="rect">
            <a:avLst/>
          </a:prstGeom>
          <a:solidFill>
            <a:srgbClr val="3B82F6">
              <a:alpha val="30000"/>
            </a:srgbClr>
          </a:solidFill>
          <a:ln/>
        </p:spPr>
      </p:sp>
      <p:sp>
        <p:nvSpPr>
          <p:cNvPr id="50" name="Text 47"/>
          <p:cNvSpPr/>
          <p:nvPr/>
        </p:nvSpPr>
        <p:spPr>
          <a:xfrm>
            <a:off x="4336284" y="2521744"/>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F8FAFC"/>
                </a:solidFill>
                <a:latin typeface="Roboto Mono" pitchFamily="34" charset="0"/>
                <a:ea typeface="Roboto Mono" pitchFamily="34" charset="-122"/>
                <a:cs typeface="Roboto Mono" pitchFamily="34" charset="-120"/>
              </a:rPr>
              <a:t>3</a:t>
            </a:r>
            <a:endParaRPr lang="en-US" sz="942" dirty="0"/>
          </a:p>
        </p:txBody>
      </p:sp>
      <p:sp>
        <p:nvSpPr>
          <p:cNvPr id="51" name="Shape 48"/>
          <p:cNvSpPr/>
          <p:nvPr/>
        </p:nvSpPr>
        <p:spPr>
          <a:xfrm>
            <a:off x="4908398" y="2521744"/>
            <a:ext cx="730393" cy="355402"/>
          </a:xfrm>
          <a:prstGeom prst="rect">
            <a:avLst/>
          </a:prstGeom>
          <a:solidFill>
            <a:srgbClr val="1E293B">
              <a:alpha val="80000"/>
            </a:srgbClr>
          </a:solidFill>
          <a:ln w="9144">
            <a:solidFill>
              <a:srgbClr val="334155"/>
            </a:solidFill>
            <a:prstDash val="solid"/>
          </a:ln>
        </p:spPr>
      </p:sp>
      <p:sp>
        <p:nvSpPr>
          <p:cNvPr id="52" name="Text 49"/>
          <p:cNvSpPr/>
          <p:nvPr/>
        </p:nvSpPr>
        <p:spPr>
          <a:xfrm>
            <a:off x="4908398" y="2521744"/>
            <a:ext cx="730393"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18</a:t>
            </a:r>
            <a:endParaRPr lang="en-US" sz="885" dirty="0"/>
          </a:p>
        </p:txBody>
      </p:sp>
      <p:sp>
        <p:nvSpPr>
          <p:cNvPr id="53" name="Text 50"/>
          <p:cNvSpPr/>
          <p:nvPr/>
        </p:nvSpPr>
        <p:spPr>
          <a:xfrm>
            <a:off x="457200" y="2891433"/>
            <a:ext cx="1562053" cy="355402"/>
          </a:xfrm>
          <a:prstGeom prst="rect">
            <a:avLst/>
          </a:prstGeom>
          <a:noFill/>
          <a:ln/>
        </p:spPr>
        <p:txBody>
          <a:bodyPr wrap="square" lIns="102108" tIns="102108" rIns="102108" bIns="102108" rtlCol="0" anchor="ctr">
            <a:spAutoFit/>
          </a:bodyPr>
          <a:lstStyle/>
          <a:p>
            <a:pPr algn="l" indent="0" marL="0">
              <a:lnSpc>
                <a:spcPts val="1200"/>
              </a:lnSpc>
              <a:buNone/>
            </a:pPr>
            <a:r>
              <a:rPr lang="en-US" sz="885" b="1" dirty="0">
                <a:solidFill>
                  <a:srgbClr val="CBD5E1"/>
                </a:solidFill>
                <a:latin typeface="Roboto Mono" pitchFamily="34" charset="0"/>
                <a:ea typeface="Roboto Mono" pitchFamily="34" charset="-122"/>
                <a:cs typeface="Roboto Mono" pitchFamily="34" charset="-120"/>
              </a:rPr>
              <a:t>Model-D</a:t>
            </a:r>
            <a:endParaRPr lang="en-US" sz="885" dirty="0"/>
          </a:p>
        </p:txBody>
      </p:sp>
      <p:sp>
        <p:nvSpPr>
          <p:cNvPr id="54" name="Shape 51"/>
          <p:cNvSpPr/>
          <p:nvPr/>
        </p:nvSpPr>
        <p:spPr>
          <a:xfrm>
            <a:off x="2047828" y="2891433"/>
            <a:ext cx="543539" cy="355402"/>
          </a:xfrm>
          <a:prstGeom prst="rect">
            <a:avLst/>
          </a:prstGeom>
          <a:solidFill>
            <a:srgbClr val="3B82F6">
              <a:alpha val="15000"/>
            </a:srgbClr>
          </a:solidFill>
          <a:ln/>
        </p:spPr>
      </p:sp>
      <p:sp>
        <p:nvSpPr>
          <p:cNvPr id="55" name="Text 52"/>
          <p:cNvSpPr/>
          <p:nvPr/>
        </p:nvSpPr>
        <p:spPr>
          <a:xfrm>
            <a:off x="2047828" y="2891433"/>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94A3B8"/>
                </a:solidFill>
                <a:latin typeface="Roboto Mono" pitchFamily="34" charset="0"/>
                <a:ea typeface="Roboto Mono" pitchFamily="34" charset="-122"/>
                <a:cs typeface="Roboto Mono" pitchFamily="34" charset="-120"/>
              </a:rPr>
              <a:t>1</a:t>
            </a:r>
            <a:endParaRPr lang="en-US" sz="942" dirty="0"/>
          </a:p>
        </p:txBody>
      </p:sp>
      <p:sp>
        <p:nvSpPr>
          <p:cNvPr id="56" name="Shape 53"/>
          <p:cNvSpPr/>
          <p:nvPr/>
        </p:nvSpPr>
        <p:spPr>
          <a:xfrm>
            <a:off x="2619942" y="2891433"/>
            <a:ext cx="543539" cy="355402"/>
          </a:xfrm>
          <a:prstGeom prst="rect">
            <a:avLst/>
          </a:prstGeom>
          <a:solidFill>
            <a:srgbClr val="3B82F6">
              <a:alpha val="15000"/>
            </a:srgbClr>
          </a:solidFill>
          <a:ln/>
        </p:spPr>
      </p:sp>
      <p:sp>
        <p:nvSpPr>
          <p:cNvPr id="57" name="Text 54"/>
          <p:cNvSpPr/>
          <p:nvPr/>
        </p:nvSpPr>
        <p:spPr>
          <a:xfrm>
            <a:off x="2619942" y="2891433"/>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94A3B8"/>
                </a:solidFill>
                <a:latin typeface="Roboto Mono" pitchFamily="34" charset="0"/>
                <a:ea typeface="Roboto Mono" pitchFamily="34" charset="-122"/>
                <a:cs typeface="Roboto Mono" pitchFamily="34" charset="-120"/>
              </a:rPr>
              <a:t>1</a:t>
            </a:r>
            <a:endParaRPr lang="en-US" sz="942" dirty="0"/>
          </a:p>
        </p:txBody>
      </p:sp>
      <p:sp>
        <p:nvSpPr>
          <p:cNvPr id="58" name="Shape 55"/>
          <p:cNvSpPr/>
          <p:nvPr/>
        </p:nvSpPr>
        <p:spPr>
          <a:xfrm>
            <a:off x="3192056" y="2891433"/>
            <a:ext cx="543539" cy="355402"/>
          </a:xfrm>
          <a:prstGeom prst="rect">
            <a:avLst/>
          </a:prstGeom>
          <a:solidFill>
            <a:srgbClr val="1E293B">
              <a:alpha val="30000"/>
            </a:srgbClr>
          </a:solidFill>
          <a:ln/>
        </p:spPr>
      </p:sp>
      <p:sp>
        <p:nvSpPr>
          <p:cNvPr id="59" name="Text 56"/>
          <p:cNvSpPr/>
          <p:nvPr/>
        </p:nvSpPr>
        <p:spPr>
          <a:xfrm>
            <a:off x="3192056" y="2891433"/>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475569"/>
                </a:solidFill>
                <a:latin typeface="Roboto Mono" pitchFamily="34" charset="0"/>
                <a:ea typeface="Roboto Mono" pitchFamily="34" charset="-122"/>
                <a:cs typeface="Roboto Mono" pitchFamily="34" charset="-120"/>
              </a:rPr>
              <a:t>—</a:t>
            </a:r>
            <a:endParaRPr lang="en-US" sz="942" dirty="0"/>
          </a:p>
        </p:txBody>
      </p:sp>
      <p:sp>
        <p:nvSpPr>
          <p:cNvPr id="60" name="Shape 57"/>
          <p:cNvSpPr/>
          <p:nvPr/>
        </p:nvSpPr>
        <p:spPr>
          <a:xfrm>
            <a:off x="3764170" y="2891433"/>
            <a:ext cx="543539" cy="355402"/>
          </a:xfrm>
          <a:prstGeom prst="rect">
            <a:avLst/>
          </a:prstGeom>
          <a:solidFill>
            <a:srgbClr val="3B82F6">
              <a:alpha val="15000"/>
            </a:srgbClr>
          </a:solidFill>
          <a:ln/>
        </p:spPr>
      </p:sp>
      <p:sp>
        <p:nvSpPr>
          <p:cNvPr id="61" name="Text 58"/>
          <p:cNvSpPr/>
          <p:nvPr/>
        </p:nvSpPr>
        <p:spPr>
          <a:xfrm>
            <a:off x="3764170" y="2891433"/>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94A3B8"/>
                </a:solidFill>
                <a:latin typeface="Roboto Mono" pitchFamily="34" charset="0"/>
                <a:ea typeface="Roboto Mono" pitchFamily="34" charset="-122"/>
                <a:cs typeface="Roboto Mono" pitchFamily="34" charset="-120"/>
              </a:rPr>
              <a:t>1</a:t>
            </a:r>
            <a:endParaRPr lang="en-US" sz="942" dirty="0"/>
          </a:p>
        </p:txBody>
      </p:sp>
      <p:sp>
        <p:nvSpPr>
          <p:cNvPr id="62" name="Shape 59"/>
          <p:cNvSpPr/>
          <p:nvPr/>
        </p:nvSpPr>
        <p:spPr>
          <a:xfrm>
            <a:off x="4336284" y="2891433"/>
            <a:ext cx="543539" cy="355402"/>
          </a:xfrm>
          <a:prstGeom prst="rect">
            <a:avLst/>
          </a:prstGeom>
          <a:solidFill>
            <a:srgbClr val="1E293B">
              <a:alpha val="30000"/>
            </a:srgbClr>
          </a:solidFill>
          <a:ln/>
        </p:spPr>
      </p:sp>
      <p:sp>
        <p:nvSpPr>
          <p:cNvPr id="63" name="Text 60"/>
          <p:cNvSpPr/>
          <p:nvPr/>
        </p:nvSpPr>
        <p:spPr>
          <a:xfrm>
            <a:off x="4336284" y="2891433"/>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475569"/>
                </a:solidFill>
                <a:latin typeface="Roboto Mono" pitchFamily="34" charset="0"/>
                <a:ea typeface="Roboto Mono" pitchFamily="34" charset="-122"/>
                <a:cs typeface="Roboto Mono" pitchFamily="34" charset="-120"/>
              </a:rPr>
              <a:t>—</a:t>
            </a:r>
            <a:endParaRPr lang="en-US" sz="942" dirty="0"/>
          </a:p>
        </p:txBody>
      </p:sp>
      <p:sp>
        <p:nvSpPr>
          <p:cNvPr id="64" name="Shape 61"/>
          <p:cNvSpPr/>
          <p:nvPr/>
        </p:nvSpPr>
        <p:spPr>
          <a:xfrm>
            <a:off x="4908398" y="2891433"/>
            <a:ext cx="730393" cy="355402"/>
          </a:xfrm>
          <a:prstGeom prst="rect">
            <a:avLst/>
          </a:prstGeom>
          <a:solidFill>
            <a:srgbClr val="1E293B">
              <a:alpha val="80000"/>
            </a:srgbClr>
          </a:solidFill>
          <a:ln w="9144">
            <a:solidFill>
              <a:srgbClr val="334155"/>
            </a:solidFill>
            <a:prstDash val="solid"/>
          </a:ln>
        </p:spPr>
      </p:sp>
      <p:sp>
        <p:nvSpPr>
          <p:cNvPr id="65" name="Text 62"/>
          <p:cNvSpPr/>
          <p:nvPr/>
        </p:nvSpPr>
        <p:spPr>
          <a:xfrm>
            <a:off x="4908398" y="2891433"/>
            <a:ext cx="730393"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3</a:t>
            </a:r>
            <a:endParaRPr lang="en-US" sz="885" dirty="0"/>
          </a:p>
        </p:txBody>
      </p:sp>
      <p:sp>
        <p:nvSpPr>
          <p:cNvPr id="66" name="Text 63"/>
          <p:cNvSpPr/>
          <p:nvPr/>
        </p:nvSpPr>
        <p:spPr>
          <a:xfrm>
            <a:off x="457200" y="3261122"/>
            <a:ext cx="1562053" cy="355402"/>
          </a:xfrm>
          <a:prstGeom prst="rect">
            <a:avLst/>
          </a:prstGeom>
          <a:noFill/>
          <a:ln/>
        </p:spPr>
        <p:txBody>
          <a:bodyPr wrap="square" lIns="102108" tIns="102108" rIns="102108" bIns="102108" rtlCol="0" anchor="ctr">
            <a:spAutoFit/>
          </a:bodyPr>
          <a:lstStyle/>
          <a:p>
            <a:pPr algn="l" indent="0" marL="0">
              <a:lnSpc>
                <a:spcPts val="1200"/>
              </a:lnSpc>
              <a:buNone/>
            </a:pPr>
            <a:r>
              <a:rPr lang="en-US" sz="885" b="1" dirty="0">
                <a:solidFill>
                  <a:srgbClr val="CBD5E1"/>
                </a:solidFill>
                <a:latin typeface="Roboto Mono" pitchFamily="34" charset="0"/>
                <a:ea typeface="Roboto Mono" pitchFamily="34" charset="-122"/>
                <a:cs typeface="Roboto Mono" pitchFamily="34" charset="-120"/>
              </a:rPr>
              <a:t>Model-E</a:t>
            </a:r>
            <a:endParaRPr lang="en-US" sz="885" dirty="0"/>
          </a:p>
        </p:txBody>
      </p:sp>
      <p:sp>
        <p:nvSpPr>
          <p:cNvPr id="67" name="Shape 64"/>
          <p:cNvSpPr/>
          <p:nvPr/>
        </p:nvSpPr>
        <p:spPr>
          <a:xfrm>
            <a:off x="2047828" y="3261122"/>
            <a:ext cx="543539" cy="355402"/>
          </a:xfrm>
          <a:prstGeom prst="rect">
            <a:avLst/>
          </a:prstGeom>
          <a:solidFill>
            <a:srgbClr val="3B82F6">
              <a:alpha val="30000"/>
            </a:srgbClr>
          </a:solidFill>
          <a:ln/>
        </p:spPr>
      </p:sp>
      <p:sp>
        <p:nvSpPr>
          <p:cNvPr id="68" name="Text 65"/>
          <p:cNvSpPr/>
          <p:nvPr/>
        </p:nvSpPr>
        <p:spPr>
          <a:xfrm>
            <a:off x="2047828" y="3261122"/>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F8FAFC"/>
                </a:solidFill>
                <a:latin typeface="Roboto Mono" pitchFamily="34" charset="0"/>
                <a:ea typeface="Roboto Mono" pitchFamily="34" charset="-122"/>
                <a:cs typeface="Roboto Mono" pitchFamily="34" charset="-120"/>
              </a:rPr>
              <a:t>3</a:t>
            </a:r>
            <a:endParaRPr lang="en-US" sz="942" dirty="0"/>
          </a:p>
        </p:txBody>
      </p:sp>
      <p:sp>
        <p:nvSpPr>
          <p:cNvPr id="69" name="Shape 66"/>
          <p:cNvSpPr/>
          <p:nvPr/>
        </p:nvSpPr>
        <p:spPr>
          <a:xfrm>
            <a:off x="2619942" y="3261122"/>
            <a:ext cx="543539" cy="355402"/>
          </a:xfrm>
          <a:prstGeom prst="rect">
            <a:avLst/>
          </a:prstGeom>
          <a:solidFill>
            <a:srgbClr val="3B82F6">
              <a:alpha val="50000"/>
            </a:srgbClr>
          </a:solidFill>
          <a:ln/>
        </p:spPr>
      </p:sp>
      <p:sp>
        <p:nvSpPr>
          <p:cNvPr id="70" name="Text 67"/>
          <p:cNvSpPr/>
          <p:nvPr/>
        </p:nvSpPr>
        <p:spPr>
          <a:xfrm>
            <a:off x="2619942" y="3261122"/>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F8FAFC"/>
                </a:solidFill>
                <a:latin typeface="Roboto Mono" pitchFamily="34" charset="0"/>
                <a:ea typeface="Roboto Mono" pitchFamily="34" charset="-122"/>
                <a:cs typeface="Roboto Mono" pitchFamily="34" charset="-120"/>
              </a:rPr>
              <a:t>4</a:t>
            </a:r>
            <a:endParaRPr lang="en-US" sz="942" dirty="0"/>
          </a:p>
        </p:txBody>
      </p:sp>
      <p:sp>
        <p:nvSpPr>
          <p:cNvPr id="71" name="Shape 68"/>
          <p:cNvSpPr/>
          <p:nvPr/>
        </p:nvSpPr>
        <p:spPr>
          <a:xfrm>
            <a:off x="3192056" y="3261122"/>
            <a:ext cx="543539" cy="355402"/>
          </a:xfrm>
          <a:prstGeom prst="rect">
            <a:avLst/>
          </a:prstGeom>
          <a:solidFill>
            <a:srgbClr val="3B82F6">
              <a:alpha val="30000"/>
            </a:srgbClr>
          </a:solidFill>
          <a:ln/>
        </p:spPr>
      </p:sp>
      <p:sp>
        <p:nvSpPr>
          <p:cNvPr id="72" name="Text 69"/>
          <p:cNvSpPr/>
          <p:nvPr/>
        </p:nvSpPr>
        <p:spPr>
          <a:xfrm>
            <a:off x="3192056" y="3261122"/>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F8FAFC"/>
                </a:solidFill>
                <a:latin typeface="Roboto Mono" pitchFamily="34" charset="0"/>
                <a:ea typeface="Roboto Mono" pitchFamily="34" charset="-122"/>
                <a:cs typeface="Roboto Mono" pitchFamily="34" charset="-120"/>
              </a:rPr>
              <a:t>3</a:t>
            </a:r>
            <a:endParaRPr lang="en-US" sz="942" dirty="0"/>
          </a:p>
        </p:txBody>
      </p:sp>
      <p:sp>
        <p:nvSpPr>
          <p:cNvPr id="73" name="Shape 70"/>
          <p:cNvSpPr/>
          <p:nvPr/>
        </p:nvSpPr>
        <p:spPr>
          <a:xfrm>
            <a:off x="3764170" y="3261122"/>
            <a:ext cx="543539" cy="355402"/>
          </a:xfrm>
          <a:prstGeom prst="rect">
            <a:avLst/>
          </a:prstGeom>
          <a:solidFill>
            <a:srgbClr val="3B82F6">
              <a:alpha val="50000"/>
            </a:srgbClr>
          </a:solidFill>
          <a:ln/>
        </p:spPr>
      </p:sp>
      <p:sp>
        <p:nvSpPr>
          <p:cNvPr id="74" name="Text 71"/>
          <p:cNvSpPr/>
          <p:nvPr/>
        </p:nvSpPr>
        <p:spPr>
          <a:xfrm>
            <a:off x="3764170" y="3261122"/>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F8FAFC"/>
                </a:solidFill>
                <a:latin typeface="Roboto Mono" pitchFamily="34" charset="0"/>
                <a:ea typeface="Roboto Mono" pitchFamily="34" charset="-122"/>
                <a:cs typeface="Roboto Mono" pitchFamily="34" charset="-120"/>
              </a:rPr>
              <a:t>4</a:t>
            </a:r>
            <a:endParaRPr lang="en-US" sz="942" dirty="0"/>
          </a:p>
        </p:txBody>
      </p:sp>
      <p:sp>
        <p:nvSpPr>
          <p:cNvPr id="75" name="Shape 72"/>
          <p:cNvSpPr/>
          <p:nvPr/>
        </p:nvSpPr>
        <p:spPr>
          <a:xfrm>
            <a:off x="4336284" y="3261122"/>
            <a:ext cx="543539" cy="355402"/>
          </a:xfrm>
          <a:prstGeom prst="rect">
            <a:avLst/>
          </a:prstGeom>
          <a:solidFill>
            <a:srgbClr val="3B82F6">
              <a:alpha val="50000"/>
            </a:srgbClr>
          </a:solidFill>
          <a:ln/>
        </p:spPr>
      </p:sp>
      <p:sp>
        <p:nvSpPr>
          <p:cNvPr id="76" name="Text 73"/>
          <p:cNvSpPr/>
          <p:nvPr/>
        </p:nvSpPr>
        <p:spPr>
          <a:xfrm>
            <a:off x="4336284" y="3261122"/>
            <a:ext cx="543539"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942" dirty="0">
                <a:solidFill>
                  <a:srgbClr val="F8FAFC"/>
                </a:solidFill>
                <a:latin typeface="Roboto Mono" pitchFamily="34" charset="0"/>
                <a:ea typeface="Roboto Mono" pitchFamily="34" charset="-122"/>
                <a:cs typeface="Roboto Mono" pitchFamily="34" charset="-120"/>
              </a:rPr>
              <a:t>4</a:t>
            </a:r>
            <a:endParaRPr lang="en-US" sz="942" dirty="0"/>
          </a:p>
        </p:txBody>
      </p:sp>
      <p:sp>
        <p:nvSpPr>
          <p:cNvPr id="77" name="Shape 74"/>
          <p:cNvSpPr/>
          <p:nvPr/>
        </p:nvSpPr>
        <p:spPr>
          <a:xfrm>
            <a:off x="4908398" y="3261122"/>
            <a:ext cx="730393" cy="355402"/>
          </a:xfrm>
          <a:prstGeom prst="rect">
            <a:avLst/>
          </a:prstGeom>
          <a:solidFill>
            <a:srgbClr val="1E293B">
              <a:alpha val="80000"/>
            </a:srgbClr>
          </a:solidFill>
          <a:ln w="9144">
            <a:solidFill>
              <a:srgbClr val="334155"/>
            </a:solidFill>
            <a:prstDash val="solid"/>
          </a:ln>
        </p:spPr>
      </p:sp>
      <p:sp>
        <p:nvSpPr>
          <p:cNvPr id="78" name="Text 75"/>
          <p:cNvSpPr/>
          <p:nvPr/>
        </p:nvSpPr>
        <p:spPr>
          <a:xfrm>
            <a:off x="4908398" y="3261122"/>
            <a:ext cx="730393" cy="355402"/>
          </a:xfrm>
          <a:prstGeom prst="rect">
            <a:avLst/>
          </a:prstGeom>
          <a:noFill/>
          <a:ln/>
        </p:spPr>
        <p:txBody>
          <a:bodyPr wrap="square" lIns="102108" tIns="102108" rIns="102108" bIns="102108" rtlCol="0" anchor="ctr">
            <a:spAutoFit/>
          </a:bodyPr>
          <a:lstStyle/>
          <a:p>
            <a:pPr algn="ctr"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18</a:t>
            </a:r>
            <a:endParaRPr lang="en-US" sz="885" dirty="0"/>
          </a:p>
        </p:txBody>
      </p:sp>
      <p:sp>
        <p:nvSpPr>
          <p:cNvPr id="79" name="Text 76"/>
          <p:cNvSpPr/>
          <p:nvPr/>
        </p:nvSpPr>
        <p:spPr>
          <a:xfrm>
            <a:off x="457200" y="3630811"/>
            <a:ext cx="1562053" cy="419695"/>
          </a:xfrm>
          <a:prstGeom prst="rect">
            <a:avLst/>
          </a:prstGeom>
          <a:noFill/>
          <a:ln/>
        </p:spPr>
        <p:txBody>
          <a:bodyPr wrap="square" lIns="102108" tIns="170053" rIns="102108" bIns="102108" rtlCol="0" anchor="ctr">
            <a:spAutoFit/>
          </a:bodyPr>
          <a:lstStyle/>
          <a:p>
            <a:pPr algn="l" indent="0" marL="0">
              <a:lnSpc>
                <a:spcPts val="1200"/>
              </a:lnSpc>
              <a:buNone/>
            </a:pPr>
            <a:r>
              <a:rPr lang="en-US" sz="885" b="1" dirty="0">
                <a:solidFill>
                  <a:srgbClr val="CBD5E1"/>
                </a:solidFill>
                <a:latin typeface="Roboto Mono" pitchFamily="34" charset="0"/>
                <a:ea typeface="Roboto Mono" pitchFamily="34" charset="-122"/>
                <a:cs typeface="Roboto Mono" pitchFamily="34" charset="-120"/>
              </a:rPr>
              <a:t>Daily Total</a:t>
            </a:r>
            <a:endParaRPr lang="en-US" sz="885" dirty="0"/>
          </a:p>
        </p:txBody>
      </p:sp>
      <p:sp>
        <p:nvSpPr>
          <p:cNvPr id="80" name="Shape 77"/>
          <p:cNvSpPr/>
          <p:nvPr/>
        </p:nvSpPr>
        <p:spPr>
          <a:xfrm>
            <a:off x="2047828" y="3630811"/>
            <a:ext cx="543539" cy="419695"/>
          </a:xfrm>
          <a:prstGeom prst="rect">
            <a:avLst/>
          </a:prstGeom>
          <a:solidFill>
            <a:srgbClr val="1E293B">
              <a:alpha val="30000"/>
            </a:srgbClr>
          </a:solidFill>
          <a:ln/>
        </p:spPr>
      </p:sp>
      <p:sp>
        <p:nvSpPr>
          <p:cNvPr id="81" name="Shape 78"/>
          <p:cNvSpPr/>
          <p:nvPr/>
        </p:nvSpPr>
        <p:spPr>
          <a:xfrm>
            <a:off x="2047828" y="3630811"/>
            <a:ext cx="543539" cy="14288"/>
          </a:xfrm>
          <a:prstGeom prst="rect">
            <a:avLst/>
          </a:prstGeom>
          <a:solidFill>
            <a:srgbClr val="475569"/>
          </a:solidFill>
          <a:ln/>
        </p:spPr>
      </p:sp>
      <p:sp>
        <p:nvSpPr>
          <p:cNvPr id="82" name="Text 79"/>
          <p:cNvSpPr/>
          <p:nvPr/>
        </p:nvSpPr>
        <p:spPr>
          <a:xfrm>
            <a:off x="2047828" y="3630811"/>
            <a:ext cx="543539" cy="419695"/>
          </a:xfrm>
          <a:prstGeom prst="rect">
            <a:avLst/>
          </a:prstGeom>
          <a:noFill/>
          <a:ln/>
        </p:spPr>
        <p:txBody>
          <a:bodyPr wrap="square" lIns="102108" tIns="170053" rIns="102108" bIns="102108" rtlCol="0" anchor="ctr">
            <a:spAutoFit/>
          </a:bodyPr>
          <a:lstStyle/>
          <a:p>
            <a:pPr algn="ctr"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19</a:t>
            </a:r>
            <a:endParaRPr lang="en-US" sz="885" dirty="0"/>
          </a:p>
        </p:txBody>
      </p:sp>
      <p:sp>
        <p:nvSpPr>
          <p:cNvPr id="83" name="Shape 80"/>
          <p:cNvSpPr/>
          <p:nvPr/>
        </p:nvSpPr>
        <p:spPr>
          <a:xfrm>
            <a:off x="2619942" y="3630811"/>
            <a:ext cx="543539" cy="419695"/>
          </a:xfrm>
          <a:prstGeom prst="rect">
            <a:avLst/>
          </a:prstGeom>
          <a:solidFill>
            <a:srgbClr val="1E293B">
              <a:alpha val="30000"/>
            </a:srgbClr>
          </a:solidFill>
          <a:ln/>
        </p:spPr>
      </p:sp>
      <p:sp>
        <p:nvSpPr>
          <p:cNvPr id="84" name="Shape 81"/>
          <p:cNvSpPr/>
          <p:nvPr/>
        </p:nvSpPr>
        <p:spPr>
          <a:xfrm>
            <a:off x="2619942" y="3630811"/>
            <a:ext cx="543539" cy="14288"/>
          </a:xfrm>
          <a:prstGeom prst="rect">
            <a:avLst/>
          </a:prstGeom>
          <a:solidFill>
            <a:srgbClr val="475569"/>
          </a:solidFill>
          <a:ln/>
        </p:spPr>
      </p:sp>
      <p:sp>
        <p:nvSpPr>
          <p:cNvPr id="85" name="Text 82"/>
          <p:cNvSpPr/>
          <p:nvPr/>
        </p:nvSpPr>
        <p:spPr>
          <a:xfrm>
            <a:off x="2619942" y="3630811"/>
            <a:ext cx="543539" cy="419695"/>
          </a:xfrm>
          <a:prstGeom prst="rect">
            <a:avLst/>
          </a:prstGeom>
          <a:noFill/>
          <a:ln/>
        </p:spPr>
        <p:txBody>
          <a:bodyPr wrap="square" lIns="102108" tIns="170053" rIns="102108" bIns="102108" rtlCol="0" anchor="ctr">
            <a:spAutoFit/>
          </a:bodyPr>
          <a:lstStyle/>
          <a:p>
            <a:pPr algn="ctr"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19</a:t>
            </a:r>
            <a:endParaRPr lang="en-US" sz="885" dirty="0"/>
          </a:p>
        </p:txBody>
      </p:sp>
      <p:sp>
        <p:nvSpPr>
          <p:cNvPr id="86" name="Shape 83"/>
          <p:cNvSpPr/>
          <p:nvPr/>
        </p:nvSpPr>
        <p:spPr>
          <a:xfrm>
            <a:off x="3192056" y="3630811"/>
            <a:ext cx="543539" cy="419695"/>
          </a:xfrm>
          <a:prstGeom prst="rect">
            <a:avLst/>
          </a:prstGeom>
          <a:solidFill>
            <a:srgbClr val="1E293B">
              <a:alpha val="30000"/>
            </a:srgbClr>
          </a:solidFill>
          <a:ln/>
        </p:spPr>
      </p:sp>
      <p:sp>
        <p:nvSpPr>
          <p:cNvPr id="87" name="Shape 84"/>
          <p:cNvSpPr/>
          <p:nvPr/>
        </p:nvSpPr>
        <p:spPr>
          <a:xfrm>
            <a:off x="3192056" y="3630811"/>
            <a:ext cx="543539" cy="14288"/>
          </a:xfrm>
          <a:prstGeom prst="rect">
            <a:avLst/>
          </a:prstGeom>
          <a:solidFill>
            <a:srgbClr val="475569"/>
          </a:solidFill>
          <a:ln/>
        </p:spPr>
      </p:sp>
      <p:sp>
        <p:nvSpPr>
          <p:cNvPr id="88" name="Text 85"/>
          <p:cNvSpPr/>
          <p:nvPr/>
        </p:nvSpPr>
        <p:spPr>
          <a:xfrm>
            <a:off x="3192056" y="3630811"/>
            <a:ext cx="543539" cy="419695"/>
          </a:xfrm>
          <a:prstGeom prst="rect">
            <a:avLst/>
          </a:prstGeom>
          <a:noFill/>
          <a:ln/>
        </p:spPr>
        <p:txBody>
          <a:bodyPr wrap="square" lIns="102108" tIns="170053" rIns="102108" bIns="102108" rtlCol="0" anchor="ctr">
            <a:spAutoFit/>
          </a:bodyPr>
          <a:lstStyle/>
          <a:p>
            <a:pPr algn="ctr"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18</a:t>
            </a:r>
            <a:endParaRPr lang="en-US" sz="885" dirty="0"/>
          </a:p>
        </p:txBody>
      </p:sp>
      <p:sp>
        <p:nvSpPr>
          <p:cNvPr id="89" name="Shape 86"/>
          <p:cNvSpPr/>
          <p:nvPr/>
        </p:nvSpPr>
        <p:spPr>
          <a:xfrm>
            <a:off x="3764170" y="3630811"/>
            <a:ext cx="543539" cy="419695"/>
          </a:xfrm>
          <a:prstGeom prst="rect">
            <a:avLst/>
          </a:prstGeom>
          <a:solidFill>
            <a:srgbClr val="1E293B">
              <a:alpha val="30000"/>
            </a:srgbClr>
          </a:solidFill>
          <a:ln/>
        </p:spPr>
      </p:sp>
      <p:sp>
        <p:nvSpPr>
          <p:cNvPr id="90" name="Shape 87"/>
          <p:cNvSpPr/>
          <p:nvPr/>
        </p:nvSpPr>
        <p:spPr>
          <a:xfrm>
            <a:off x="3764170" y="3630811"/>
            <a:ext cx="543539" cy="14288"/>
          </a:xfrm>
          <a:prstGeom prst="rect">
            <a:avLst/>
          </a:prstGeom>
          <a:solidFill>
            <a:srgbClr val="475569"/>
          </a:solidFill>
          <a:ln/>
        </p:spPr>
      </p:sp>
      <p:sp>
        <p:nvSpPr>
          <p:cNvPr id="91" name="Text 88"/>
          <p:cNvSpPr/>
          <p:nvPr/>
        </p:nvSpPr>
        <p:spPr>
          <a:xfrm>
            <a:off x="3764170" y="3630811"/>
            <a:ext cx="543539" cy="419695"/>
          </a:xfrm>
          <a:prstGeom prst="rect">
            <a:avLst/>
          </a:prstGeom>
          <a:noFill/>
          <a:ln/>
        </p:spPr>
        <p:txBody>
          <a:bodyPr wrap="square" lIns="102108" tIns="170053" rIns="102108" bIns="102108" rtlCol="0" anchor="ctr">
            <a:spAutoFit/>
          </a:bodyPr>
          <a:lstStyle/>
          <a:p>
            <a:pPr algn="ctr"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19</a:t>
            </a:r>
            <a:endParaRPr lang="en-US" sz="885" dirty="0"/>
          </a:p>
        </p:txBody>
      </p:sp>
      <p:sp>
        <p:nvSpPr>
          <p:cNvPr id="92" name="Shape 89"/>
          <p:cNvSpPr/>
          <p:nvPr/>
        </p:nvSpPr>
        <p:spPr>
          <a:xfrm>
            <a:off x="4336284" y="3630811"/>
            <a:ext cx="543539" cy="419695"/>
          </a:xfrm>
          <a:prstGeom prst="rect">
            <a:avLst/>
          </a:prstGeom>
          <a:solidFill>
            <a:srgbClr val="1E293B">
              <a:alpha val="30000"/>
            </a:srgbClr>
          </a:solidFill>
          <a:ln/>
        </p:spPr>
      </p:sp>
      <p:sp>
        <p:nvSpPr>
          <p:cNvPr id="93" name="Shape 90"/>
          <p:cNvSpPr/>
          <p:nvPr/>
        </p:nvSpPr>
        <p:spPr>
          <a:xfrm>
            <a:off x="4336284" y="3630811"/>
            <a:ext cx="543539" cy="14288"/>
          </a:xfrm>
          <a:prstGeom prst="rect">
            <a:avLst/>
          </a:prstGeom>
          <a:solidFill>
            <a:srgbClr val="475569"/>
          </a:solidFill>
          <a:ln/>
        </p:spPr>
      </p:sp>
      <p:sp>
        <p:nvSpPr>
          <p:cNvPr id="94" name="Text 91"/>
          <p:cNvSpPr/>
          <p:nvPr/>
        </p:nvSpPr>
        <p:spPr>
          <a:xfrm>
            <a:off x="4336284" y="3630811"/>
            <a:ext cx="543539" cy="419695"/>
          </a:xfrm>
          <a:prstGeom prst="rect">
            <a:avLst/>
          </a:prstGeom>
          <a:noFill/>
          <a:ln/>
        </p:spPr>
        <p:txBody>
          <a:bodyPr wrap="square" lIns="102108" tIns="170053" rIns="102108" bIns="102108" rtlCol="0" anchor="ctr">
            <a:spAutoFit/>
          </a:bodyPr>
          <a:lstStyle/>
          <a:p>
            <a:pPr algn="ctr"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17</a:t>
            </a:r>
            <a:endParaRPr lang="en-US" sz="885" dirty="0"/>
          </a:p>
        </p:txBody>
      </p:sp>
      <p:sp>
        <p:nvSpPr>
          <p:cNvPr id="95" name="Shape 92"/>
          <p:cNvSpPr/>
          <p:nvPr/>
        </p:nvSpPr>
        <p:spPr>
          <a:xfrm>
            <a:off x="4908398" y="3630811"/>
            <a:ext cx="730393" cy="419695"/>
          </a:xfrm>
          <a:prstGeom prst="rect">
            <a:avLst/>
          </a:prstGeom>
          <a:solidFill>
            <a:srgbClr val="1E293B">
              <a:alpha val="80000"/>
            </a:srgbClr>
          </a:solidFill>
          <a:ln/>
        </p:spPr>
      </p:sp>
      <p:sp>
        <p:nvSpPr>
          <p:cNvPr id="96" name="Shape 93"/>
          <p:cNvSpPr/>
          <p:nvPr/>
        </p:nvSpPr>
        <p:spPr>
          <a:xfrm>
            <a:off x="4908398" y="3630811"/>
            <a:ext cx="730393" cy="14288"/>
          </a:xfrm>
          <a:prstGeom prst="rect">
            <a:avLst/>
          </a:prstGeom>
          <a:solidFill>
            <a:srgbClr val="475569"/>
          </a:solidFill>
          <a:ln/>
        </p:spPr>
      </p:sp>
      <p:sp>
        <p:nvSpPr>
          <p:cNvPr id="97" name="Shape 94"/>
          <p:cNvSpPr/>
          <p:nvPr/>
        </p:nvSpPr>
        <p:spPr>
          <a:xfrm>
            <a:off x="5631647" y="3630811"/>
            <a:ext cx="7144" cy="419695"/>
          </a:xfrm>
          <a:prstGeom prst="rect">
            <a:avLst/>
          </a:prstGeom>
          <a:solidFill>
            <a:srgbClr val="334155"/>
          </a:solidFill>
          <a:ln/>
        </p:spPr>
      </p:sp>
      <p:sp>
        <p:nvSpPr>
          <p:cNvPr id="98" name="Shape 95"/>
          <p:cNvSpPr/>
          <p:nvPr/>
        </p:nvSpPr>
        <p:spPr>
          <a:xfrm>
            <a:off x="4908398" y="4043363"/>
            <a:ext cx="730393" cy="7144"/>
          </a:xfrm>
          <a:prstGeom prst="rect">
            <a:avLst/>
          </a:prstGeom>
          <a:solidFill>
            <a:srgbClr val="334155"/>
          </a:solidFill>
          <a:ln/>
        </p:spPr>
      </p:sp>
      <p:sp>
        <p:nvSpPr>
          <p:cNvPr id="99" name="Shape 96"/>
          <p:cNvSpPr/>
          <p:nvPr/>
        </p:nvSpPr>
        <p:spPr>
          <a:xfrm>
            <a:off x="4908398" y="3630811"/>
            <a:ext cx="7144" cy="419695"/>
          </a:xfrm>
          <a:prstGeom prst="rect">
            <a:avLst/>
          </a:prstGeom>
          <a:solidFill>
            <a:srgbClr val="334155"/>
          </a:solidFill>
          <a:ln/>
        </p:spPr>
      </p:sp>
      <p:sp>
        <p:nvSpPr>
          <p:cNvPr id="100" name="Text 97"/>
          <p:cNvSpPr/>
          <p:nvPr/>
        </p:nvSpPr>
        <p:spPr>
          <a:xfrm>
            <a:off x="4908398" y="3630811"/>
            <a:ext cx="730393" cy="419695"/>
          </a:xfrm>
          <a:prstGeom prst="rect">
            <a:avLst/>
          </a:prstGeom>
          <a:noFill/>
          <a:ln/>
        </p:spPr>
        <p:txBody>
          <a:bodyPr wrap="square" lIns="102108" tIns="170053" rIns="102108" bIns="102108" rtlCol="0" anchor="ctr">
            <a:spAutoFit/>
          </a:bodyPr>
          <a:lstStyle/>
          <a:p>
            <a:pPr algn="ctr" indent="0" marL="0">
              <a:lnSpc>
                <a:spcPts val="1200"/>
              </a:lnSpc>
              <a:buNone/>
            </a:pPr>
            <a:r>
              <a:rPr lang="en-US" sz="885" b="1" dirty="0">
                <a:solidFill>
                  <a:srgbClr val="10B981"/>
                </a:solidFill>
                <a:latin typeface="Roboto Mono" pitchFamily="34" charset="0"/>
                <a:ea typeface="Roboto Mono" pitchFamily="34" charset="-122"/>
                <a:cs typeface="Roboto Mono" pitchFamily="34" charset="-120"/>
              </a:rPr>
              <a:t>92</a:t>
            </a:r>
            <a:endParaRPr lang="en-US" sz="885" dirty="0"/>
          </a:p>
        </p:txBody>
      </p:sp>
      <p:sp>
        <p:nvSpPr>
          <p:cNvPr id="101" name="Shape 98"/>
          <p:cNvSpPr/>
          <p:nvPr/>
        </p:nvSpPr>
        <p:spPr>
          <a:xfrm>
            <a:off x="6095991" y="1707356"/>
            <a:ext cx="2619384" cy="604345"/>
          </a:xfrm>
          <a:prstGeom prst="rect">
            <a:avLst/>
          </a:prstGeom>
          <a:solidFill>
            <a:srgbClr val="0F172A">
              <a:alpha val="60000"/>
            </a:srgbClr>
          </a:solidFill>
          <a:ln/>
        </p:spPr>
      </p:sp>
      <p:sp>
        <p:nvSpPr>
          <p:cNvPr id="102" name="Shape 99"/>
          <p:cNvSpPr/>
          <p:nvPr/>
        </p:nvSpPr>
        <p:spPr>
          <a:xfrm>
            <a:off x="6095991" y="1707356"/>
            <a:ext cx="28575" cy="604345"/>
          </a:xfrm>
          <a:prstGeom prst="rect">
            <a:avLst/>
          </a:prstGeom>
          <a:solidFill>
            <a:srgbClr val="10B981"/>
          </a:solidFill>
          <a:ln/>
        </p:spPr>
      </p:sp>
      <p:sp>
        <p:nvSpPr>
          <p:cNvPr id="103" name="Shape 100"/>
          <p:cNvSpPr/>
          <p:nvPr/>
        </p:nvSpPr>
        <p:spPr>
          <a:xfrm>
            <a:off x="5781666" y="2009515"/>
            <a:ext cx="285750" cy="7144"/>
          </a:xfrm>
          <a:prstGeom prst="rect">
            <a:avLst/>
          </a:prstGeom>
          <a:solidFill>
            <a:srgbClr val="0F172A">
              <a:alpha val="30000"/>
            </a:srgbClr>
          </a:solidFill>
          <a:ln/>
        </p:spPr>
      </p:sp>
      <p:pic>
        <p:nvPicPr>
          <p:cNvPr id="104" name="Image 1" descr="preencoded.png">    </p:cNvPr>
          <p:cNvPicPr>
            <a:picLocks noChangeAspect="1"/>
          </p:cNvPicPr>
          <p:nvPr/>
        </p:nvPicPr>
        <p:blipFill>
          <a:blip r:embed="rId2"/>
          <a:stretch>
            <a:fillRect/>
          </a:stretch>
        </p:blipFill>
        <p:spPr>
          <a:xfrm>
            <a:off x="6224578" y="1853803"/>
            <a:ext cx="114300" cy="114300"/>
          </a:xfrm>
          <a:prstGeom prst="rect">
            <a:avLst/>
          </a:prstGeom>
        </p:spPr>
      </p:pic>
      <p:sp>
        <p:nvSpPr>
          <p:cNvPr id="105" name="Text 101"/>
          <p:cNvSpPr/>
          <p:nvPr/>
        </p:nvSpPr>
        <p:spPr>
          <a:xfrm>
            <a:off x="6396028" y="1835944"/>
            <a:ext cx="1085850" cy="150019"/>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10B981"/>
                </a:solidFill>
                <a:latin typeface="Roboto Mono" pitchFamily="34" charset="0"/>
                <a:ea typeface="Roboto Mono" pitchFamily="34" charset="-122"/>
                <a:cs typeface="Roboto Mono" pitchFamily="34" charset="-120"/>
              </a:rPr>
              <a:t>Model-A: Perfect</a:t>
            </a:r>
            <a:endParaRPr lang="en-US" sz="784" dirty="0"/>
          </a:p>
        </p:txBody>
      </p:sp>
      <p:sp>
        <p:nvSpPr>
          <p:cNvPr id="106" name="Text 102"/>
          <p:cNvSpPr/>
          <p:nvPr/>
        </p:nvSpPr>
        <p:spPr>
          <a:xfrm>
            <a:off x="6224578" y="2043113"/>
            <a:ext cx="2362209" cy="14000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CBD5E1"/>
                </a:solidFill>
                <a:latin typeface="Roboto" pitchFamily="34" charset="0"/>
                <a:ea typeface="Roboto" pitchFamily="34" charset="-122"/>
                <a:cs typeface="Roboto" pitchFamily="34" charset="-120"/>
              </a:rPr>
              <a:t>6 units every single day. Zero variance.</a:t>
            </a:r>
            <a:endParaRPr lang="en-US" sz="727" dirty="0"/>
          </a:p>
        </p:txBody>
      </p:sp>
      <p:sp>
        <p:nvSpPr>
          <p:cNvPr id="107" name="Shape 103"/>
          <p:cNvSpPr/>
          <p:nvPr/>
        </p:nvSpPr>
        <p:spPr>
          <a:xfrm>
            <a:off x="6095991" y="2483151"/>
            <a:ext cx="2619384" cy="744345"/>
          </a:xfrm>
          <a:prstGeom prst="rect">
            <a:avLst/>
          </a:prstGeom>
          <a:solidFill>
            <a:srgbClr val="0F172A">
              <a:alpha val="60000"/>
            </a:srgbClr>
          </a:solidFill>
          <a:ln/>
        </p:spPr>
      </p:sp>
      <p:sp>
        <p:nvSpPr>
          <p:cNvPr id="108" name="Shape 104"/>
          <p:cNvSpPr/>
          <p:nvPr/>
        </p:nvSpPr>
        <p:spPr>
          <a:xfrm>
            <a:off x="6095991" y="2483151"/>
            <a:ext cx="28575" cy="744345"/>
          </a:xfrm>
          <a:prstGeom prst="rect">
            <a:avLst/>
          </a:prstGeom>
          <a:solidFill>
            <a:srgbClr val="F59E0B"/>
          </a:solidFill>
          <a:ln/>
        </p:spPr>
      </p:sp>
      <p:sp>
        <p:nvSpPr>
          <p:cNvPr id="109" name="Shape 105"/>
          <p:cNvSpPr/>
          <p:nvPr/>
        </p:nvSpPr>
        <p:spPr>
          <a:xfrm>
            <a:off x="5781666" y="2855323"/>
            <a:ext cx="285750" cy="7144"/>
          </a:xfrm>
          <a:prstGeom prst="rect">
            <a:avLst/>
          </a:prstGeom>
          <a:solidFill>
            <a:srgbClr val="0F172A">
              <a:alpha val="30000"/>
            </a:srgbClr>
          </a:solidFill>
          <a:ln/>
        </p:spPr>
      </p:sp>
      <p:pic>
        <p:nvPicPr>
          <p:cNvPr id="110" name="Image 2" descr="preencoded.png">    </p:cNvPr>
          <p:cNvPicPr>
            <a:picLocks noChangeAspect="1"/>
          </p:cNvPicPr>
          <p:nvPr/>
        </p:nvPicPr>
        <p:blipFill>
          <a:blip r:embed="rId3"/>
          <a:stretch>
            <a:fillRect/>
          </a:stretch>
        </p:blipFill>
        <p:spPr>
          <a:xfrm>
            <a:off x="6224578" y="2629598"/>
            <a:ext cx="142875" cy="114300"/>
          </a:xfrm>
          <a:prstGeom prst="rect">
            <a:avLst/>
          </a:prstGeom>
        </p:spPr>
      </p:pic>
      <p:sp>
        <p:nvSpPr>
          <p:cNvPr id="111" name="Text 106"/>
          <p:cNvSpPr/>
          <p:nvPr/>
        </p:nvSpPr>
        <p:spPr>
          <a:xfrm>
            <a:off x="6424603" y="2611738"/>
            <a:ext cx="1560909" cy="150019"/>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59E0B"/>
                </a:solidFill>
                <a:latin typeface="Roboto Mono" pitchFamily="34" charset="0"/>
                <a:ea typeface="Roboto Mono" pitchFamily="34" charset="-122"/>
                <a:cs typeface="Roboto Mono" pitchFamily="34" charset="-120"/>
              </a:rPr>
              <a:t>Model-D: Optimal Spread</a:t>
            </a:r>
            <a:endParaRPr lang="en-US" sz="784" dirty="0"/>
          </a:p>
        </p:txBody>
      </p:sp>
      <p:sp>
        <p:nvSpPr>
          <p:cNvPr id="112" name="Text 107"/>
          <p:cNvSpPr/>
          <p:nvPr/>
        </p:nvSpPr>
        <p:spPr>
          <a:xfrm>
            <a:off x="6224578" y="2818907"/>
            <a:ext cx="2362209" cy="280002"/>
          </a:xfrm>
          <a:prstGeom prst="rect">
            <a:avLst/>
          </a:prstGeom>
          <a:noFill/>
          <a:ln/>
        </p:spPr>
        <p:txBody>
          <a:bodyPr wrap="square" lIns="0" tIns="0" rIns="0" bIns="0" rtlCol="0" anchor="t">
            <a:spAutoFit/>
          </a:bodyPr>
          <a:lstStyle/>
          <a:p>
            <a:pPr algn="l" indent="0" marL="0">
              <a:lnSpc>
                <a:spcPts val="1100"/>
              </a:lnSpc>
              <a:buNone/>
            </a:pPr>
            <a:r>
              <a:rPr lang="en-US" sz="727" dirty="0">
                <a:solidFill>
                  <a:srgbClr val="CBD5E1"/>
                </a:solidFill>
                <a:latin typeface="Roboto" pitchFamily="34" charset="0"/>
                <a:ea typeface="Roboto" pitchFamily="34" charset="-122"/>
                <a:cs typeface="Roboto" pitchFamily="34" charset="-120"/>
              </a:rPr>
              <a:t>3 units across 5 days — mathematically best possible distribution (1-1-0-1-0).</a:t>
            </a:r>
            <a:endParaRPr lang="en-US" sz="727" dirty="0"/>
          </a:p>
        </p:txBody>
      </p:sp>
      <p:sp>
        <p:nvSpPr>
          <p:cNvPr id="113" name="Shape 108"/>
          <p:cNvSpPr/>
          <p:nvPr/>
        </p:nvSpPr>
        <p:spPr>
          <a:xfrm>
            <a:off x="6095991" y="3398946"/>
            <a:ext cx="2619384" cy="744345"/>
          </a:xfrm>
          <a:prstGeom prst="rect">
            <a:avLst/>
          </a:prstGeom>
          <a:solidFill>
            <a:srgbClr val="0F172A">
              <a:alpha val="60000"/>
            </a:srgbClr>
          </a:solidFill>
          <a:ln/>
        </p:spPr>
      </p:sp>
      <p:sp>
        <p:nvSpPr>
          <p:cNvPr id="114" name="Shape 109"/>
          <p:cNvSpPr/>
          <p:nvPr/>
        </p:nvSpPr>
        <p:spPr>
          <a:xfrm>
            <a:off x="6095991" y="3398946"/>
            <a:ext cx="28575" cy="744345"/>
          </a:xfrm>
          <a:prstGeom prst="rect">
            <a:avLst/>
          </a:prstGeom>
          <a:solidFill>
            <a:srgbClr val="3B82F6"/>
          </a:solidFill>
          <a:ln/>
        </p:spPr>
      </p:sp>
      <p:sp>
        <p:nvSpPr>
          <p:cNvPr id="115" name="Shape 110"/>
          <p:cNvSpPr/>
          <p:nvPr/>
        </p:nvSpPr>
        <p:spPr>
          <a:xfrm>
            <a:off x="5781666" y="3771119"/>
            <a:ext cx="285750" cy="7144"/>
          </a:xfrm>
          <a:prstGeom prst="rect">
            <a:avLst/>
          </a:prstGeom>
          <a:solidFill>
            <a:srgbClr val="0F172A">
              <a:alpha val="30000"/>
            </a:srgbClr>
          </a:solidFill>
          <a:ln/>
        </p:spPr>
      </p:sp>
      <p:pic>
        <p:nvPicPr>
          <p:cNvPr id="116" name="Image 3" descr="preencoded.png">    </p:cNvPr>
          <p:cNvPicPr>
            <a:picLocks noChangeAspect="1"/>
          </p:cNvPicPr>
          <p:nvPr/>
        </p:nvPicPr>
        <p:blipFill>
          <a:blip r:embed="rId4"/>
          <a:stretch>
            <a:fillRect/>
          </a:stretch>
        </p:blipFill>
        <p:spPr>
          <a:xfrm>
            <a:off x="6224578" y="3545393"/>
            <a:ext cx="142875" cy="114300"/>
          </a:xfrm>
          <a:prstGeom prst="rect">
            <a:avLst/>
          </a:prstGeom>
        </p:spPr>
      </p:pic>
      <p:sp>
        <p:nvSpPr>
          <p:cNvPr id="117" name="Text 111"/>
          <p:cNvSpPr/>
          <p:nvPr/>
        </p:nvSpPr>
        <p:spPr>
          <a:xfrm>
            <a:off x="6424603" y="3527534"/>
            <a:ext cx="1153716" cy="150019"/>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3B82F6"/>
                </a:solidFill>
                <a:latin typeface="Roboto Mono" pitchFamily="34" charset="0"/>
                <a:ea typeface="Roboto Mono" pitchFamily="34" charset="-122"/>
                <a:cs typeface="Roboto Mono" pitchFamily="34" charset="-120"/>
              </a:rPr>
              <a:t>Daily Consistency</a:t>
            </a:r>
            <a:endParaRPr lang="en-US" sz="784" dirty="0"/>
          </a:p>
        </p:txBody>
      </p:sp>
      <p:sp>
        <p:nvSpPr>
          <p:cNvPr id="118" name="Text 112"/>
          <p:cNvSpPr/>
          <p:nvPr/>
        </p:nvSpPr>
        <p:spPr>
          <a:xfrm>
            <a:off x="6224578" y="3734702"/>
            <a:ext cx="2362209" cy="280002"/>
          </a:xfrm>
          <a:prstGeom prst="rect">
            <a:avLst/>
          </a:prstGeom>
          <a:noFill/>
          <a:ln/>
        </p:spPr>
        <p:txBody>
          <a:bodyPr wrap="square" lIns="0" tIns="0" rIns="0" bIns="0" rtlCol="0" anchor="t">
            <a:spAutoFit/>
          </a:bodyPr>
          <a:lstStyle/>
          <a:p>
            <a:pPr algn="l" indent="0" marL="0">
              <a:lnSpc>
                <a:spcPts val="1100"/>
              </a:lnSpc>
              <a:buNone/>
            </a:pPr>
            <a:r>
              <a:rPr lang="en-US" sz="727" dirty="0">
                <a:solidFill>
                  <a:srgbClr val="CBD5E1"/>
                </a:solidFill>
                <a:latin typeface="Roboto" pitchFamily="34" charset="0"/>
                <a:ea typeface="Roboto" pitchFamily="34" charset="-122"/>
                <a:cs typeface="Roboto" pitchFamily="34" charset="-120"/>
              </a:rPr>
              <a:t>17–19 units/day across the entire factory. Max variance of just 2 units.</a:t>
            </a:r>
            <a:endParaRPr lang="en-US" sz="727" dirty="0"/>
          </a:p>
        </p:txBody>
      </p:sp>
      <p:sp>
        <p:nvSpPr>
          <p:cNvPr id="119" name="Text 113"/>
          <p:cNvSpPr/>
          <p:nvPr/>
        </p:nvSpPr>
        <p:spPr>
          <a:xfrm>
            <a:off x="6902648" y="4816673"/>
            <a:ext cx="1812727" cy="112514"/>
          </a:xfrm>
          <a:prstGeom prst="rect">
            <a:avLst/>
          </a:prstGeom>
          <a:noFill/>
          <a:ln/>
        </p:spPr>
        <p:txBody>
          <a:bodyPr wrap="none" lIns="0" tIns="0" rIns="0" bIns="0" rtlCol="0" anchor="t">
            <a:spAutoFit/>
          </a:bodyPr>
          <a:lstStyle/>
          <a:p>
            <a:pPr algn="l" indent="0" marL="0">
              <a:lnSpc>
                <a:spcPts val="800"/>
              </a:lnSpc>
              <a:buNone/>
            </a:pPr>
            <a:r>
              <a:rPr lang="en-US" sz="621" dirty="0">
                <a:solidFill>
                  <a:srgbClr val="475569"/>
                </a:solidFill>
                <a:latin typeface="Roboto Mono" pitchFamily="34" charset="0"/>
                <a:ea typeface="Roboto Mono" pitchFamily="34" charset="-122"/>
                <a:cs typeface="Roboto Mono" pitchFamily="34" charset="-120"/>
              </a:rPr>
              <a:t>CONFIDENTIAL | INTERNAL DEMO | 2026</a:t>
            </a:r>
            <a:endParaRPr lang="en-US" sz="62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28625" y="428625"/>
            <a:ext cx="8286750" cy="489347"/>
          </a:xfrm>
          <a:prstGeom prst="rect">
            <a:avLst/>
          </a:prstGeom>
          <a:solidFill>
            <a:srgbClr val="000000">
              <a:alpha val="0"/>
            </a:srgbClr>
          </a:solidFill>
          <a:ln/>
        </p:spPr>
      </p:sp>
      <p:sp>
        <p:nvSpPr>
          <p:cNvPr id="4" name="Shape 1"/>
          <p:cNvSpPr/>
          <p:nvPr/>
        </p:nvSpPr>
        <p:spPr>
          <a:xfrm>
            <a:off x="428625" y="910828"/>
            <a:ext cx="8286750" cy="7144"/>
          </a:xfrm>
          <a:prstGeom prst="rect">
            <a:avLst/>
          </a:prstGeom>
          <a:solidFill>
            <a:srgbClr val="334155"/>
          </a:solidFill>
          <a:ln/>
        </p:spPr>
      </p:sp>
      <p:sp>
        <p:nvSpPr>
          <p:cNvPr id="5" name="Text 2"/>
          <p:cNvSpPr/>
          <p:nvPr/>
        </p:nvSpPr>
        <p:spPr>
          <a:xfrm>
            <a:off x="428625" y="428625"/>
            <a:ext cx="8286750" cy="339328"/>
          </a:xfrm>
          <a:prstGeom prst="rect">
            <a:avLst/>
          </a:prstGeom>
          <a:noFill/>
          <a:ln/>
        </p:spPr>
        <p:txBody>
          <a:bodyPr wrap="none" lIns="0" tIns="0" rIns="0" bIns="0" rtlCol="0" anchor="t">
            <a:spAutoFit/>
          </a:bodyPr>
          <a:lstStyle/>
          <a:p>
            <a:pPr algn="l" indent="0" marL="0">
              <a:lnSpc>
                <a:spcPts val="2400"/>
              </a:lnSpc>
              <a:buNone/>
            </a:pPr>
            <a:r>
              <a:rPr lang="en-US" sz="1808" b="1" dirty="0">
                <a:solidFill>
                  <a:srgbClr val="F8FAFC"/>
                </a:solidFill>
                <a:latin typeface="Roboto Mono" pitchFamily="34" charset="0"/>
                <a:ea typeface="Roboto Mono" pitchFamily="34" charset="-122"/>
                <a:cs typeface="Roboto Mono" pitchFamily="34" charset="-120"/>
              </a:rPr>
              <a:t>Mid-Week Disruption? Re-Optimized in 4 Seconds.</a:t>
            </a:r>
            <a:endParaRPr lang="en-US" sz="1808" dirty="0"/>
          </a:p>
        </p:txBody>
      </p:sp>
      <p:sp>
        <p:nvSpPr>
          <p:cNvPr id="6" name="Shape 3"/>
          <p:cNvSpPr/>
          <p:nvPr/>
        </p:nvSpPr>
        <p:spPr>
          <a:xfrm>
            <a:off x="428625" y="1125141"/>
            <a:ext cx="8286750" cy="428625"/>
          </a:xfrm>
          <a:prstGeom prst="rect">
            <a:avLst/>
          </a:prstGeom>
          <a:solidFill>
            <a:srgbClr val="334155">
              <a:alpha val="50000"/>
            </a:srgbClr>
          </a:solidFill>
          <a:ln/>
        </p:spPr>
      </p:sp>
      <p:sp>
        <p:nvSpPr>
          <p:cNvPr id="7" name="Shape 4"/>
          <p:cNvSpPr/>
          <p:nvPr/>
        </p:nvSpPr>
        <p:spPr>
          <a:xfrm>
            <a:off x="428625" y="1125141"/>
            <a:ext cx="28575" cy="428625"/>
          </a:xfrm>
          <a:prstGeom prst="rect">
            <a:avLst/>
          </a:prstGeom>
          <a:solidFill>
            <a:srgbClr val="3B82F6"/>
          </a:solidFill>
          <a:ln/>
        </p:spPr>
      </p:sp>
      <p:pic>
        <p:nvPicPr>
          <p:cNvPr id="8" name="Image 1" descr="preencoded.png">    </p:cNvPr>
          <p:cNvPicPr>
            <a:picLocks noChangeAspect="1"/>
          </p:cNvPicPr>
          <p:nvPr/>
        </p:nvPicPr>
        <p:blipFill>
          <a:blip r:embed="rId2"/>
          <a:stretch>
            <a:fillRect/>
          </a:stretch>
        </p:blipFill>
        <p:spPr>
          <a:xfrm>
            <a:off x="600075" y="1248370"/>
            <a:ext cx="128588" cy="171450"/>
          </a:xfrm>
          <a:prstGeom prst="rect">
            <a:avLst/>
          </a:prstGeom>
        </p:spPr>
      </p:pic>
      <p:sp>
        <p:nvSpPr>
          <p:cNvPr id="9" name="Text 5"/>
          <p:cNvSpPr/>
          <p:nvPr/>
        </p:nvSpPr>
        <p:spPr>
          <a:xfrm>
            <a:off x="842963" y="1254621"/>
            <a:ext cx="5222081" cy="169664"/>
          </a:xfrm>
          <a:prstGeom prst="rect">
            <a:avLst/>
          </a:prstGeom>
          <a:noFill/>
          <a:ln/>
        </p:spPr>
        <p:txBody>
          <a:bodyPr wrap="none" lIns="0" tIns="0" rIns="0" bIns="0" rtlCol="0" anchor="t">
            <a:spAutoFit/>
          </a:bodyPr>
          <a:lstStyle/>
          <a:p>
            <a:pPr algn="l" indent="0" marL="0">
              <a:lnSpc>
                <a:spcPts val="1200"/>
              </a:lnSpc>
              <a:buNone/>
            </a:pPr>
            <a:r>
              <a:rPr lang="en-US" sz="942" dirty="0">
                <a:solidFill>
                  <a:srgbClr val="CBD5E1"/>
                </a:solidFill>
                <a:latin typeface="Roboto Mono" pitchFamily="34" charset="0"/>
                <a:ea typeface="Roboto Mono" pitchFamily="34" charset="-122"/>
                <a:cs typeface="Roboto Mono" pitchFamily="34" charset="-120"/>
              </a:rPr>
              <a:t>SCENARIO: Urgent Order (+15 Units) + Stricter Line Balance Requested</a:t>
            </a:r>
            <a:endParaRPr lang="en-US" sz="942" dirty="0"/>
          </a:p>
        </p:txBody>
      </p:sp>
      <p:sp>
        <p:nvSpPr>
          <p:cNvPr id="10" name="Shape 6"/>
          <p:cNvSpPr/>
          <p:nvPr/>
        </p:nvSpPr>
        <p:spPr>
          <a:xfrm>
            <a:off x="428625" y="1839516"/>
            <a:ext cx="3757613" cy="2571750"/>
          </a:xfrm>
          <a:prstGeom prst="rect">
            <a:avLst/>
          </a:prstGeom>
          <a:solidFill>
            <a:srgbClr val="1E293B">
              <a:alpha val="60000"/>
            </a:srgbClr>
          </a:solidFill>
          <a:ln/>
        </p:spPr>
      </p:sp>
      <p:sp>
        <p:nvSpPr>
          <p:cNvPr id="11" name="Shape 7"/>
          <p:cNvSpPr/>
          <p:nvPr/>
        </p:nvSpPr>
        <p:spPr>
          <a:xfrm>
            <a:off x="428625" y="1839516"/>
            <a:ext cx="3757613" cy="28575"/>
          </a:xfrm>
          <a:prstGeom prst="rect">
            <a:avLst/>
          </a:prstGeom>
          <a:solidFill>
            <a:srgbClr val="F59E0B"/>
          </a:solidFill>
          <a:ln/>
        </p:spPr>
      </p:sp>
      <p:sp>
        <p:nvSpPr>
          <p:cNvPr id="12" name="Shape 8"/>
          <p:cNvSpPr/>
          <p:nvPr/>
        </p:nvSpPr>
        <p:spPr>
          <a:xfrm>
            <a:off x="4179094" y="1839516"/>
            <a:ext cx="7144" cy="2571750"/>
          </a:xfrm>
          <a:prstGeom prst="rect">
            <a:avLst/>
          </a:prstGeom>
          <a:solidFill>
            <a:srgbClr val="334155"/>
          </a:solidFill>
          <a:ln/>
        </p:spPr>
      </p:sp>
      <p:sp>
        <p:nvSpPr>
          <p:cNvPr id="13" name="Shape 9"/>
          <p:cNvSpPr/>
          <p:nvPr/>
        </p:nvSpPr>
        <p:spPr>
          <a:xfrm>
            <a:off x="428625" y="4404122"/>
            <a:ext cx="3757613" cy="7144"/>
          </a:xfrm>
          <a:prstGeom prst="rect">
            <a:avLst/>
          </a:prstGeom>
          <a:solidFill>
            <a:srgbClr val="334155"/>
          </a:solidFill>
          <a:ln/>
        </p:spPr>
      </p:sp>
      <p:sp>
        <p:nvSpPr>
          <p:cNvPr id="14" name="Shape 10"/>
          <p:cNvSpPr/>
          <p:nvPr/>
        </p:nvSpPr>
        <p:spPr>
          <a:xfrm>
            <a:off x="428625" y="1839516"/>
            <a:ext cx="7144" cy="2571750"/>
          </a:xfrm>
          <a:prstGeom prst="rect">
            <a:avLst/>
          </a:prstGeom>
          <a:solidFill>
            <a:srgbClr val="334155"/>
          </a:solidFill>
          <a:ln/>
        </p:spPr>
      </p:sp>
      <p:sp>
        <p:nvSpPr>
          <p:cNvPr id="15" name="Text 11"/>
          <p:cNvSpPr/>
          <p:nvPr/>
        </p:nvSpPr>
        <p:spPr>
          <a:xfrm>
            <a:off x="642938" y="2053828"/>
            <a:ext cx="1114425" cy="189309"/>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59E0B"/>
                </a:solidFill>
                <a:latin typeface="Roboto Mono" pitchFamily="34" charset="0"/>
                <a:ea typeface="Roboto Mono" pitchFamily="34" charset="-122"/>
                <a:cs typeface="Roboto Mono" pitchFamily="34" charset="-120"/>
              </a:rPr>
              <a:t>INITIAL STATE</a:t>
            </a:r>
            <a:endParaRPr lang="en-US" sz="987" dirty="0"/>
          </a:p>
        </p:txBody>
      </p:sp>
      <p:pic>
        <p:nvPicPr>
          <p:cNvPr id="16" name="Image 2" descr="preencoded.png">    </p:cNvPr>
          <p:cNvPicPr>
            <a:picLocks noChangeAspect="1"/>
          </p:cNvPicPr>
          <p:nvPr/>
        </p:nvPicPr>
        <p:blipFill>
          <a:blip r:embed="rId3"/>
          <a:stretch>
            <a:fillRect/>
          </a:stretch>
        </p:blipFill>
        <p:spPr>
          <a:xfrm>
            <a:off x="3821906" y="2077045"/>
            <a:ext cx="142875" cy="142875"/>
          </a:xfrm>
          <a:prstGeom prst="rect">
            <a:avLst/>
          </a:prstGeom>
        </p:spPr>
      </p:pic>
      <p:sp>
        <p:nvSpPr>
          <p:cNvPr id="17" name="Text 12"/>
          <p:cNvSpPr/>
          <p:nvPr/>
        </p:nvSpPr>
        <p:spPr>
          <a:xfrm>
            <a:off x="642938" y="2489597"/>
            <a:ext cx="548283" cy="133945"/>
          </a:xfrm>
          <a:prstGeom prst="rect">
            <a:avLst/>
          </a:prstGeom>
          <a:noFill/>
          <a:ln/>
        </p:spPr>
        <p:txBody>
          <a:bodyPr wrap="none" lIns="0" tIns="0" rIns="0" bIns="0" rtlCol="0" anchor="t">
            <a:spAutoFit/>
          </a:bodyPr>
          <a:lstStyle/>
          <a:p>
            <a:pPr algn="l" indent="0" marL="0">
              <a:lnSpc>
                <a:spcPts val="1100"/>
              </a:lnSpc>
              <a:buNone/>
            </a:pPr>
            <a:r>
              <a:rPr lang="en-US" sz="834" dirty="0">
                <a:solidFill>
                  <a:srgbClr val="94A3B8"/>
                </a:solidFill>
                <a:latin typeface="Roboto" pitchFamily="34" charset="0"/>
                <a:ea typeface="Roboto" pitchFamily="34" charset="-122"/>
                <a:cs typeface="Roboto" pitchFamily="34" charset="-120"/>
              </a:rPr>
              <a:t>Total Units</a:t>
            </a:r>
            <a:endParaRPr lang="en-US" sz="834" dirty="0"/>
          </a:p>
        </p:txBody>
      </p:sp>
      <p:sp>
        <p:nvSpPr>
          <p:cNvPr id="18" name="Text 13"/>
          <p:cNvSpPr/>
          <p:nvPr/>
        </p:nvSpPr>
        <p:spPr>
          <a:xfrm>
            <a:off x="3811191" y="2471738"/>
            <a:ext cx="153591"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92</a:t>
            </a:r>
            <a:endParaRPr lang="en-US" sz="885" dirty="0"/>
          </a:p>
        </p:txBody>
      </p:sp>
      <p:sp>
        <p:nvSpPr>
          <p:cNvPr id="19" name="Text 14"/>
          <p:cNvSpPr/>
          <p:nvPr/>
        </p:nvSpPr>
        <p:spPr>
          <a:xfrm>
            <a:off x="642938" y="2837855"/>
            <a:ext cx="989409" cy="133945"/>
          </a:xfrm>
          <a:prstGeom prst="rect">
            <a:avLst/>
          </a:prstGeom>
          <a:noFill/>
          <a:ln/>
        </p:spPr>
        <p:txBody>
          <a:bodyPr wrap="none" lIns="0" tIns="0" rIns="0" bIns="0" rtlCol="0" anchor="t">
            <a:spAutoFit/>
          </a:bodyPr>
          <a:lstStyle/>
          <a:p>
            <a:pPr algn="l" indent="0" marL="0">
              <a:lnSpc>
                <a:spcPts val="1100"/>
              </a:lnSpc>
              <a:buNone/>
            </a:pPr>
            <a:r>
              <a:rPr lang="en-US" sz="834" dirty="0">
                <a:solidFill>
                  <a:srgbClr val="94A3B8"/>
                </a:solidFill>
                <a:latin typeface="Roboto" pitchFamily="34" charset="0"/>
                <a:ea typeface="Roboto" pitchFamily="34" charset="-122"/>
                <a:cs typeface="Roboto" pitchFamily="34" charset="-120"/>
              </a:rPr>
              <a:t>Line Balance (Beta)</a:t>
            </a:r>
            <a:endParaRPr lang="en-US" sz="834" dirty="0"/>
          </a:p>
        </p:txBody>
      </p:sp>
      <p:sp>
        <p:nvSpPr>
          <p:cNvPr id="20" name="Text 15"/>
          <p:cNvSpPr/>
          <p:nvPr/>
        </p:nvSpPr>
        <p:spPr>
          <a:xfrm>
            <a:off x="3043238" y="2819995"/>
            <a:ext cx="921544"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1 (Standard)</a:t>
            </a:r>
            <a:endParaRPr lang="en-US" sz="885" dirty="0"/>
          </a:p>
        </p:txBody>
      </p:sp>
      <p:sp>
        <p:nvSpPr>
          <p:cNvPr id="21" name="Text 16"/>
          <p:cNvSpPr/>
          <p:nvPr/>
        </p:nvSpPr>
        <p:spPr>
          <a:xfrm>
            <a:off x="642938" y="3186113"/>
            <a:ext cx="785813" cy="133945"/>
          </a:xfrm>
          <a:prstGeom prst="rect">
            <a:avLst/>
          </a:prstGeom>
          <a:noFill/>
          <a:ln/>
        </p:spPr>
        <p:txBody>
          <a:bodyPr wrap="none" lIns="0" tIns="0" rIns="0" bIns="0" rtlCol="0" anchor="t">
            <a:spAutoFit/>
          </a:bodyPr>
          <a:lstStyle/>
          <a:p>
            <a:pPr algn="l" indent="0" marL="0">
              <a:lnSpc>
                <a:spcPts val="1100"/>
              </a:lnSpc>
              <a:buNone/>
            </a:pPr>
            <a:r>
              <a:rPr lang="en-US" sz="834" dirty="0">
                <a:solidFill>
                  <a:srgbClr val="94A3B8"/>
                </a:solidFill>
                <a:latin typeface="Roboto" pitchFamily="34" charset="0"/>
                <a:ea typeface="Roboto" pitchFamily="34" charset="-122"/>
                <a:cs typeface="Roboto" pitchFamily="34" charset="-120"/>
              </a:rPr>
              <a:t>Line-2 Variance</a:t>
            </a:r>
            <a:endParaRPr lang="en-US" sz="834" dirty="0"/>
          </a:p>
        </p:txBody>
      </p:sp>
      <p:sp>
        <p:nvSpPr>
          <p:cNvPr id="22" name="Text 17"/>
          <p:cNvSpPr/>
          <p:nvPr/>
        </p:nvSpPr>
        <p:spPr>
          <a:xfrm>
            <a:off x="3350419" y="3168253"/>
            <a:ext cx="614363"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±2 units</a:t>
            </a:r>
            <a:endParaRPr lang="en-US" sz="885" dirty="0"/>
          </a:p>
        </p:txBody>
      </p:sp>
      <p:sp>
        <p:nvSpPr>
          <p:cNvPr id="23" name="Text 18"/>
          <p:cNvSpPr/>
          <p:nvPr/>
        </p:nvSpPr>
        <p:spPr>
          <a:xfrm>
            <a:off x="642938" y="3930848"/>
            <a:ext cx="996553" cy="133945"/>
          </a:xfrm>
          <a:prstGeom prst="rect">
            <a:avLst/>
          </a:prstGeom>
          <a:noFill/>
          <a:ln/>
        </p:spPr>
        <p:txBody>
          <a:bodyPr wrap="none" lIns="0" tIns="0" rIns="0" bIns="0" rtlCol="0" anchor="t">
            <a:spAutoFit/>
          </a:bodyPr>
          <a:lstStyle/>
          <a:p>
            <a:pPr algn="l" indent="0" marL="0">
              <a:lnSpc>
                <a:spcPts val="1100"/>
              </a:lnSpc>
              <a:buNone/>
            </a:pPr>
            <a:r>
              <a:rPr lang="en-US" sz="834" dirty="0">
                <a:solidFill>
                  <a:srgbClr val="94A3B8"/>
                </a:solidFill>
                <a:latin typeface="Roboto" pitchFamily="34" charset="0"/>
                <a:ea typeface="Roboto" pitchFamily="34" charset="-122"/>
                <a:cs typeface="Roboto" pitchFamily="34" charset="-120"/>
              </a:rPr>
              <a:t>Manual Reschedule</a:t>
            </a:r>
            <a:endParaRPr lang="en-US" sz="834" dirty="0"/>
          </a:p>
        </p:txBody>
      </p:sp>
      <p:sp>
        <p:nvSpPr>
          <p:cNvPr id="24" name="Text 19"/>
          <p:cNvSpPr/>
          <p:nvPr/>
        </p:nvSpPr>
        <p:spPr>
          <a:xfrm>
            <a:off x="3136106" y="3884414"/>
            <a:ext cx="828675" cy="226814"/>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59E0B"/>
                </a:solidFill>
                <a:latin typeface="Roboto Mono" pitchFamily="34" charset="0"/>
                <a:ea typeface="Roboto Mono" pitchFamily="34" charset="-122"/>
                <a:cs typeface="Roboto Mono" pitchFamily="34" charset="-120"/>
              </a:rPr>
              <a:t>~2 Hours</a:t>
            </a:r>
            <a:endParaRPr lang="en-US" sz="1193" dirty="0"/>
          </a:p>
        </p:txBody>
      </p:sp>
      <p:pic>
        <p:nvPicPr>
          <p:cNvPr id="25" name="Image 3" descr="preencoded.png">    </p:cNvPr>
          <p:cNvPicPr>
            <a:picLocks noChangeAspect="1"/>
          </p:cNvPicPr>
          <p:nvPr/>
        </p:nvPicPr>
        <p:blipFill>
          <a:blip r:embed="rId4"/>
          <a:stretch>
            <a:fillRect/>
          </a:stretch>
        </p:blipFill>
        <p:spPr>
          <a:xfrm>
            <a:off x="4464844" y="3011091"/>
            <a:ext cx="200025" cy="228600"/>
          </a:xfrm>
          <a:prstGeom prst="rect">
            <a:avLst/>
          </a:prstGeom>
        </p:spPr>
      </p:pic>
      <p:sp>
        <p:nvSpPr>
          <p:cNvPr id="26" name="Shape 20"/>
          <p:cNvSpPr/>
          <p:nvPr/>
        </p:nvSpPr>
        <p:spPr>
          <a:xfrm>
            <a:off x="4950619" y="1839516"/>
            <a:ext cx="3764756" cy="2571750"/>
          </a:xfrm>
          <a:prstGeom prst="rect">
            <a:avLst/>
          </a:prstGeom>
          <a:solidFill>
            <a:srgbClr val="10B981">
              <a:alpha val="5000"/>
            </a:srgbClr>
          </a:solidFill>
          <a:ln/>
        </p:spPr>
      </p:sp>
      <p:sp>
        <p:nvSpPr>
          <p:cNvPr id="27" name="Shape 21"/>
          <p:cNvSpPr/>
          <p:nvPr/>
        </p:nvSpPr>
        <p:spPr>
          <a:xfrm>
            <a:off x="4950619" y="1839516"/>
            <a:ext cx="3764756" cy="28575"/>
          </a:xfrm>
          <a:prstGeom prst="rect">
            <a:avLst/>
          </a:prstGeom>
          <a:solidFill>
            <a:srgbClr val="10B981"/>
          </a:solidFill>
          <a:ln/>
        </p:spPr>
      </p:sp>
      <p:sp>
        <p:nvSpPr>
          <p:cNvPr id="28" name="Shape 22"/>
          <p:cNvSpPr/>
          <p:nvPr/>
        </p:nvSpPr>
        <p:spPr>
          <a:xfrm>
            <a:off x="8708231" y="1839516"/>
            <a:ext cx="7144" cy="2571750"/>
          </a:xfrm>
          <a:prstGeom prst="rect">
            <a:avLst/>
          </a:prstGeom>
          <a:solidFill>
            <a:srgbClr val="334155"/>
          </a:solidFill>
          <a:ln/>
        </p:spPr>
      </p:sp>
      <p:sp>
        <p:nvSpPr>
          <p:cNvPr id="29" name="Shape 23"/>
          <p:cNvSpPr/>
          <p:nvPr/>
        </p:nvSpPr>
        <p:spPr>
          <a:xfrm>
            <a:off x="4950619" y="4404122"/>
            <a:ext cx="3764756" cy="7144"/>
          </a:xfrm>
          <a:prstGeom prst="rect">
            <a:avLst/>
          </a:prstGeom>
          <a:solidFill>
            <a:srgbClr val="334155"/>
          </a:solidFill>
          <a:ln/>
        </p:spPr>
      </p:sp>
      <p:sp>
        <p:nvSpPr>
          <p:cNvPr id="30" name="Shape 24"/>
          <p:cNvSpPr/>
          <p:nvPr/>
        </p:nvSpPr>
        <p:spPr>
          <a:xfrm>
            <a:off x="4950619" y="1839516"/>
            <a:ext cx="7144" cy="2571750"/>
          </a:xfrm>
          <a:prstGeom prst="rect">
            <a:avLst/>
          </a:prstGeom>
          <a:solidFill>
            <a:srgbClr val="334155"/>
          </a:solidFill>
          <a:ln/>
        </p:spPr>
      </p:sp>
      <p:sp>
        <p:nvSpPr>
          <p:cNvPr id="31" name="Text 25"/>
          <p:cNvSpPr/>
          <p:nvPr/>
        </p:nvSpPr>
        <p:spPr>
          <a:xfrm>
            <a:off x="5172075" y="2053828"/>
            <a:ext cx="1371600" cy="189309"/>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10B981"/>
                </a:solidFill>
                <a:latin typeface="Roboto Mono" pitchFamily="34" charset="0"/>
                <a:ea typeface="Roboto Mono" pitchFamily="34" charset="-122"/>
                <a:cs typeface="Roboto Mono" pitchFamily="34" charset="-120"/>
              </a:rPr>
              <a:t>OPTIMIZED RESULT</a:t>
            </a:r>
            <a:endParaRPr lang="en-US" sz="987" dirty="0"/>
          </a:p>
        </p:txBody>
      </p:sp>
      <p:pic>
        <p:nvPicPr>
          <p:cNvPr id="32" name="Image 4" descr="preencoded.png">    </p:cNvPr>
          <p:cNvPicPr>
            <a:picLocks noChangeAspect="1"/>
          </p:cNvPicPr>
          <p:nvPr/>
        </p:nvPicPr>
        <p:blipFill>
          <a:blip r:embed="rId5"/>
          <a:stretch>
            <a:fillRect/>
          </a:stretch>
        </p:blipFill>
        <p:spPr>
          <a:xfrm>
            <a:off x="8358188" y="2077045"/>
            <a:ext cx="142875" cy="142875"/>
          </a:xfrm>
          <a:prstGeom prst="rect">
            <a:avLst/>
          </a:prstGeom>
        </p:spPr>
      </p:pic>
      <p:sp>
        <p:nvSpPr>
          <p:cNvPr id="33" name="Text 26"/>
          <p:cNvSpPr/>
          <p:nvPr/>
        </p:nvSpPr>
        <p:spPr>
          <a:xfrm>
            <a:off x="5172075" y="2489597"/>
            <a:ext cx="548283" cy="133945"/>
          </a:xfrm>
          <a:prstGeom prst="rect">
            <a:avLst/>
          </a:prstGeom>
          <a:noFill/>
          <a:ln/>
        </p:spPr>
        <p:txBody>
          <a:bodyPr wrap="none" lIns="0" tIns="0" rIns="0" bIns="0" rtlCol="0" anchor="t">
            <a:spAutoFit/>
          </a:bodyPr>
          <a:lstStyle/>
          <a:p>
            <a:pPr algn="l" indent="0" marL="0">
              <a:lnSpc>
                <a:spcPts val="1100"/>
              </a:lnSpc>
              <a:buNone/>
            </a:pPr>
            <a:r>
              <a:rPr lang="en-US" sz="834" dirty="0">
                <a:solidFill>
                  <a:srgbClr val="94A3B8"/>
                </a:solidFill>
                <a:latin typeface="Roboto" pitchFamily="34" charset="0"/>
                <a:ea typeface="Roboto" pitchFamily="34" charset="-122"/>
                <a:cs typeface="Roboto" pitchFamily="34" charset="-120"/>
              </a:rPr>
              <a:t>Total Units</a:t>
            </a:r>
            <a:endParaRPr lang="en-US" sz="834" dirty="0"/>
          </a:p>
        </p:txBody>
      </p:sp>
      <p:sp>
        <p:nvSpPr>
          <p:cNvPr id="34" name="Text 27"/>
          <p:cNvSpPr/>
          <p:nvPr/>
        </p:nvSpPr>
        <p:spPr>
          <a:xfrm>
            <a:off x="7890272" y="2471738"/>
            <a:ext cx="610791"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107 </a:t>
            </a:r>
            <a:pPr algn="l" indent="0" marL="0">
              <a:lnSpc>
                <a:spcPts val="1200"/>
              </a:lnSpc>
              <a:buNone/>
            </a:pPr>
            <a:r>
              <a:rPr lang="en-US" sz="683" b="1" dirty="0">
                <a:solidFill>
                  <a:srgbClr val="10B981"/>
                </a:solidFill>
                <a:latin typeface="Roboto Mono" pitchFamily="34" charset="0"/>
                <a:ea typeface="Roboto Mono" pitchFamily="34" charset="-122"/>
                <a:cs typeface="Roboto Mono" pitchFamily="34" charset="-120"/>
              </a:rPr>
              <a:t>(+15)</a:t>
            </a:r>
            <a:endParaRPr lang="en-US" sz="885" dirty="0"/>
          </a:p>
        </p:txBody>
      </p:sp>
      <p:sp>
        <p:nvSpPr>
          <p:cNvPr id="35" name="Text 28"/>
          <p:cNvSpPr/>
          <p:nvPr/>
        </p:nvSpPr>
        <p:spPr>
          <a:xfrm>
            <a:off x="5172075" y="2837855"/>
            <a:ext cx="989409" cy="133945"/>
          </a:xfrm>
          <a:prstGeom prst="rect">
            <a:avLst/>
          </a:prstGeom>
          <a:noFill/>
          <a:ln/>
        </p:spPr>
        <p:txBody>
          <a:bodyPr wrap="none" lIns="0" tIns="0" rIns="0" bIns="0" rtlCol="0" anchor="t">
            <a:spAutoFit/>
          </a:bodyPr>
          <a:lstStyle/>
          <a:p>
            <a:pPr algn="l" indent="0" marL="0">
              <a:lnSpc>
                <a:spcPts val="1100"/>
              </a:lnSpc>
              <a:buNone/>
            </a:pPr>
            <a:r>
              <a:rPr lang="en-US" sz="834" dirty="0">
                <a:solidFill>
                  <a:srgbClr val="94A3B8"/>
                </a:solidFill>
                <a:latin typeface="Roboto" pitchFamily="34" charset="0"/>
                <a:ea typeface="Roboto" pitchFamily="34" charset="-122"/>
                <a:cs typeface="Roboto" pitchFamily="34" charset="-120"/>
              </a:rPr>
              <a:t>Line Balance (Beta)</a:t>
            </a:r>
            <a:endParaRPr lang="en-US" sz="834" dirty="0"/>
          </a:p>
        </p:txBody>
      </p:sp>
      <p:sp>
        <p:nvSpPr>
          <p:cNvPr id="36" name="Text 29"/>
          <p:cNvSpPr/>
          <p:nvPr/>
        </p:nvSpPr>
        <p:spPr>
          <a:xfrm>
            <a:off x="7349133" y="2819995"/>
            <a:ext cx="1151930"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7 (Prioritized)</a:t>
            </a:r>
            <a:endParaRPr lang="en-US" sz="885" dirty="0"/>
          </a:p>
        </p:txBody>
      </p:sp>
      <p:sp>
        <p:nvSpPr>
          <p:cNvPr id="37" name="Text 30"/>
          <p:cNvSpPr/>
          <p:nvPr/>
        </p:nvSpPr>
        <p:spPr>
          <a:xfrm>
            <a:off x="5172075" y="3186113"/>
            <a:ext cx="785813" cy="133945"/>
          </a:xfrm>
          <a:prstGeom prst="rect">
            <a:avLst/>
          </a:prstGeom>
          <a:noFill/>
          <a:ln/>
        </p:spPr>
        <p:txBody>
          <a:bodyPr wrap="none" lIns="0" tIns="0" rIns="0" bIns="0" rtlCol="0" anchor="t">
            <a:spAutoFit/>
          </a:bodyPr>
          <a:lstStyle/>
          <a:p>
            <a:pPr algn="l" indent="0" marL="0">
              <a:lnSpc>
                <a:spcPts val="1100"/>
              </a:lnSpc>
              <a:buNone/>
            </a:pPr>
            <a:r>
              <a:rPr lang="en-US" sz="834" dirty="0">
                <a:solidFill>
                  <a:srgbClr val="94A3B8"/>
                </a:solidFill>
                <a:latin typeface="Roboto" pitchFamily="34" charset="0"/>
                <a:ea typeface="Roboto" pitchFamily="34" charset="-122"/>
                <a:cs typeface="Roboto" pitchFamily="34" charset="-120"/>
              </a:rPr>
              <a:t>Line-2 Variance</a:t>
            </a:r>
            <a:endParaRPr lang="en-US" sz="834" dirty="0"/>
          </a:p>
        </p:txBody>
      </p:sp>
      <p:sp>
        <p:nvSpPr>
          <p:cNvPr id="38" name="Text 31"/>
          <p:cNvSpPr/>
          <p:nvPr/>
        </p:nvSpPr>
        <p:spPr>
          <a:xfrm>
            <a:off x="7349133" y="3168253"/>
            <a:ext cx="1151930"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8FAFC"/>
                </a:solidFill>
                <a:latin typeface="Roboto Mono" pitchFamily="34" charset="0"/>
                <a:ea typeface="Roboto Mono" pitchFamily="34" charset="-122"/>
                <a:cs typeface="Roboto Mono" pitchFamily="34" charset="-120"/>
              </a:rPr>
              <a:t>±0 units (Flat)</a:t>
            </a:r>
            <a:endParaRPr lang="en-US" sz="885" dirty="0"/>
          </a:p>
        </p:txBody>
      </p:sp>
      <p:sp>
        <p:nvSpPr>
          <p:cNvPr id="39" name="Text 32"/>
          <p:cNvSpPr/>
          <p:nvPr/>
        </p:nvSpPr>
        <p:spPr>
          <a:xfrm>
            <a:off x="5172075" y="3930848"/>
            <a:ext cx="778669" cy="133945"/>
          </a:xfrm>
          <a:prstGeom prst="rect">
            <a:avLst/>
          </a:prstGeom>
          <a:noFill/>
          <a:ln/>
        </p:spPr>
        <p:txBody>
          <a:bodyPr wrap="none" lIns="0" tIns="0" rIns="0" bIns="0" rtlCol="0" anchor="t">
            <a:spAutoFit/>
          </a:bodyPr>
          <a:lstStyle/>
          <a:p>
            <a:pPr algn="l" indent="0" marL="0">
              <a:lnSpc>
                <a:spcPts val="1100"/>
              </a:lnSpc>
              <a:buNone/>
            </a:pPr>
            <a:r>
              <a:rPr lang="en-US" sz="834" dirty="0">
                <a:solidFill>
                  <a:srgbClr val="94A3B8"/>
                </a:solidFill>
                <a:latin typeface="Roboto" pitchFamily="34" charset="0"/>
                <a:ea typeface="Roboto" pitchFamily="34" charset="-122"/>
                <a:cs typeface="Roboto" pitchFamily="34" charset="-120"/>
              </a:rPr>
              <a:t>Optimizer Time</a:t>
            </a:r>
            <a:endParaRPr lang="en-US" sz="834" dirty="0"/>
          </a:p>
        </p:txBody>
      </p:sp>
      <p:sp>
        <p:nvSpPr>
          <p:cNvPr id="40" name="Text 33"/>
          <p:cNvSpPr/>
          <p:nvPr/>
        </p:nvSpPr>
        <p:spPr>
          <a:xfrm>
            <a:off x="7568803" y="3884414"/>
            <a:ext cx="932259" cy="226814"/>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0B981"/>
                </a:solidFill>
                <a:latin typeface="Roboto Mono" pitchFamily="34" charset="0"/>
                <a:ea typeface="Roboto Mono" pitchFamily="34" charset="-122"/>
                <a:cs typeface="Roboto Mono" pitchFamily="34" charset="-120"/>
              </a:rPr>
              <a:t>4 Seconds</a:t>
            </a:r>
            <a:endParaRPr lang="en-US" sz="1193" dirty="0"/>
          </a:p>
        </p:txBody>
      </p:sp>
      <p:sp>
        <p:nvSpPr>
          <p:cNvPr id="41" name="Text 34"/>
          <p:cNvSpPr/>
          <p:nvPr/>
        </p:nvSpPr>
        <p:spPr>
          <a:xfrm>
            <a:off x="428625" y="4625578"/>
            <a:ext cx="8286750" cy="133945"/>
          </a:xfrm>
          <a:prstGeom prst="rect">
            <a:avLst/>
          </a:prstGeom>
          <a:noFill/>
          <a:ln/>
        </p:spPr>
        <p:txBody>
          <a:bodyPr wrap="none" lIns="0" tIns="0" rIns="0" bIns="0" rtlCol="0" anchor="t">
            <a:spAutoFit/>
          </a:bodyPr>
          <a:lstStyle/>
          <a:p>
            <a:pPr algn="ctr" indent="0" marL="0">
              <a:lnSpc>
                <a:spcPts val="1100"/>
              </a:lnSpc>
              <a:buNone/>
            </a:pPr>
            <a:r>
              <a:rPr lang="en-US" sz="834" i="1" dirty="0">
                <a:solidFill>
                  <a:srgbClr val="94A3B8"/>
                </a:solidFill>
                <a:latin typeface="Roboto" pitchFamily="34" charset="0"/>
                <a:ea typeface="Roboto" pitchFamily="34" charset="-122"/>
                <a:cs typeface="Roboto" pitchFamily="34" charset="-120"/>
              </a:rPr>
              <a:t>The optimizer doesn't just add the new units — it re-solves the entire week from scratch, honoring the updated business priority.</a:t>
            </a:r>
            <a:endParaRPr lang="en-US" sz="834" dirty="0"/>
          </a:p>
        </p:txBody>
      </p:sp>
      <p:sp>
        <p:nvSpPr>
          <p:cNvPr id="42" name="Text 35"/>
          <p:cNvSpPr/>
          <p:nvPr/>
        </p:nvSpPr>
        <p:spPr>
          <a:xfrm>
            <a:off x="428625" y="4816673"/>
            <a:ext cx="8286750" cy="112514"/>
          </a:xfrm>
          <a:prstGeom prst="rect">
            <a:avLst/>
          </a:prstGeom>
          <a:noFill/>
          <a:ln/>
        </p:spPr>
        <p:txBody>
          <a:bodyPr wrap="none" lIns="0" tIns="0" rIns="0" bIns="0" rtlCol="0" anchor="t">
            <a:spAutoFit/>
          </a:bodyPr>
          <a:lstStyle/>
          <a:p>
            <a:pPr algn="r" indent="0" marL="0">
              <a:lnSpc>
                <a:spcPts val="800"/>
              </a:lnSpc>
              <a:buNone/>
            </a:pPr>
            <a:r>
              <a:rPr lang="en-US" sz="621" dirty="0">
                <a:solidFill>
                  <a:srgbClr val="475569"/>
                </a:solidFill>
                <a:latin typeface="Roboto Mono" pitchFamily="34" charset="0"/>
                <a:ea typeface="Roboto Mono" pitchFamily="34" charset="-122"/>
                <a:cs typeface="Roboto Mono" pitchFamily="34" charset="-120"/>
              </a:rPr>
              <a:t>CONFIDENTIAL | INTERNAL DEMO | 2026</a:t>
            </a:r>
            <a:endParaRPr lang="en-US" sz="62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28625" y="428625"/>
            <a:ext cx="8286750" cy="714375"/>
          </a:xfrm>
          <a:prstGeom prst="rect">
            <a:avLst/>
          </a:prstGeom>
          <a:solidFill>
            <a:srgbClr val="000000">
              <a:alpha val="0"/>
            </a:srgbClr>
          </a:solidFill>
          <a:ln/>
        </p:spPr>
      </p:sp>
      <p:sp>
        <p:nvSpPr>
          <p:cNvPr id="4" name="Shape 1"/>
          <p:cNvSpPr/>
          <p:nvPr/>
        </p:nvSpPr>
        <p:spPr>
          <a:xfrm>
            <a:off x="428625" y="1135856"/>
            <a:ext cx="8286750" cy="7144"/>
          </a:xfrm>
          <a:prstGeom prst="rect">
            <a:avLst/>
          </a:prstGeom>
          <a:solidFill>
            <a:srgbClr val="334155"/>
          </a:solidFill>
          <a:ln/>
        </p:spPr>
      </p:sp>
      <p:sp>
        <p:nvSpPr>
          <p:cNvPr id="5" name="Text 2"/>
          <p:cNvSpPr/>
          <p:nvPr/>
        </p:nvSpPr>
        <p:spPr>
          <a:xfrm>
            <a:off x="428625" y="428625"/>
            <a:ext cx="8286750" cy="339328"/>
          </a:xfrm>
          <a:prstGeom prst="rect">
            <a:avLst/>
          </a:prstGeom>
          <a:noFill/>
          <a:ln/>
        </p:spPr>
        <p:txBody>
          <a:bodyPr wrap="none" lIns="0" tIns="0" rIns="0" bIns="0" rtlCol="0" anchor="t">
            <a:spAutoFit/>
          </a:bodyPr>
          <a:lstStyle/>
          <a:p>
            <a:pPr algn="l" indent="0" marL="0">
              <a:lnSpc>
                <a:spcPts val="2400"/>
              </a:lnSpc>
              <a:buNone/>
            </a:pPr>
            <a:r>
              <a:rPr lang="en-US" sz="1808" b="1" dirty="0">
                <a:solidFill>
                  <a:srgbClr val="F8FAFC"/>
                </a:solidFill>
                <a:latin typeface="Roboto Mono" pitchFamily="34" charset="0"/>
                <a:ea typeface="Roboto Mono" pitchFamily="34" charset="-122"/>
                <a:cs typeface="Roboto Mono" pitchFamily="34" charset="-120"/>
              </a:rPr>
              <a:t>Fast. Consistent. Optimal.</a:t>
            </a:r>
            <a:endParaRPr lang="en-US" sz="1808" dirty="0"/>
          </a:p>
        </p:txBody>
      </p:sp>
      <p:sp>
        <p:nvSpPr>
          <p:cNvPr id="6" name="Text 3"/>
          <p:cNvSpPr/>
          <p:nvPr/>
        </p:nvSpPr>
        <p:spPr>
          <a:xfrm>
            <a:off x="428625" y="825103"/>
            <a:ext cx="8286750" cy="167878"/>
          </a:xfrm>
          <a:prstGeom prst="rect">
            <a:avLst/>
          </a:prstGeom>
          <a:noFill/>
          <a:ln/>
        </p:spPr>
        <p:txBody>
          <a:bodyPr wrap="none" lIns="0" tIns="0" rIns="0" bIns="0" rtlCol="0" anchor="t">
            <a:spAutoFit/>
          </a:bodyPr>
          <a:lstStyle/>
          <a:p>
            <a:pPr algn="l" indent="0" marL="0">
              <a:lnSpc>
                <a:spcPts val="1400"/>
              </a:lnSpc>
              <a:buNone/>
            </a:pPr>
            <a:r>
              <a:rPr lang="en-US" sz="1050" dirty="0">
                <a:solidFill>
                  <a:srgbClr val="94A3B8"/>
                </a:solidFill>
                <a:latin typeface="Roboto" pitchFamily="34" charset="0"/>
                <a:ea typeface="Roboto" pitchFamily="34" charset="-122"/>
                <a:cs typeface="Roboto" pitchFamily="34" charset="-120"/>
              </a:rPr>
              <a:t>Three Transformations That Change How We Plan</a:t>
            </a:r>
            <a:endParaRPr lang="en-US" sz="1050" dirty="0"/>
          </a:p>
        </p:txBody>
      </p:sp>
      <p:sp>
        <p:nvSpPr>
          <p:cNvPr id="7" name="Shape 4"/>
          <p:cNvSpPr/>
          <p:nvPr/>
        </p:nvSpPr>
        <p:spPr>
          <a:xfrm>
            <a:off x="428625" y="1421606"/>
            <a:ext cx="8286750" cy="792956"/>
          </a:xfrm>
          <a:prstGeom prst="rect">
            <a:avLst/>
          </a:prstGeom>
          <a:solidFill>
            <a:srgbClr val="1E293B">
              <a:alpha val="60000"/>
            </a:srgbClr>
          </a:solidFill>
          <a:ln/>
        </p:spPr>
      </p:sp>
      <p:sp>
        <p:nvSpPr>
          <p:cNvPr id="8" name="Shape 5"/>
          <p:cNvSpPr/>
          <p:nvPr/>
        </p:nvSpPr>
        <p:spPr>
          <a:xfrm>
            <a:off x="428625" y="1421606"/>
            <a:ext cx="8286750" cy="7144"/>
          </a:xfrm>
          <a:prstGeom prst="rect">
            <a:avLst/>
          </a:prstGeom>
          <a:solidFill>
            <a:srgbClr val="334155"/>
          </a:solidFill>
          <a:ln/>
        </p:spPr>
      </p:sp>
      <p:sp>
        <p:nvSpPr>
          <p:cNvPr id="9" name="Shape 6"/>
          <p:cNvSpPr/>
          <p:nvPr/>
        </p:nvSpPr>
        <p:spPr>
          <a:xfrm>
            <a:off x="8708231" y="1421606"/>
            <a:ext cx="7144" cy="792956"/>
          </a:xfrm>
          <a:prstGeom prst="rect">
            <a:avLst/>
          </a:prstGeom>
          <a:solidFill>
            <a:srgbClr val="334155"/>
          </a:solidFill>
          <a:ln/>
        </p:spPr>
      </p:sp>
      <p:sp>
        <p:nvSpPr>
          <p:cNvPr id="10" name="Shape 7"/>
          <p:cNvSpPr/>
          <p:nvPr/>
        </p:nvSpPr>
        <p:spPr>
          <a:xfrm>
            <a:off x="428625" y="2207419"/>
            <a:ext cx="8286750" cy="7144"/>
          </a:xfrm>
          <a:prstGeom prst="rect">
            <a:avLst/>
          </a:prstGeom>
          <a:solidFill>
            <a:srgbClr val="334155"/>
          </a:solidFill>
          <a:ln/>
        </p:spPr>
      </p:sp>
      <p:sp>
        <p:nvSpPr>
          <p:cNvPr id="11" name="Shape 8"/>
          <p:cNvSpPr/>
          <p:nvPr/>
        </p:nvSpPr>
        <p:spPr>
          <a:xfrm>
            <a:off x="428625" y="1421606"/>
            <a:ext cx="42863" cy="792956"/>
          </a:xfrm>
          <a:prstGeom prst="rect">
            <a:avLst/>
          </a:prstGeom>
          <a:solidFill>
            <a:srgbClr val="3B82F6"/>
          </a:solidFill>
          <a:ln/>
        </p:spPr>
      </p:sp>
      <p:pic>
        <p:nvPicPr>
          <p:cNvPr id="12" name="Image 1" descr="preencoded.png">    </p:cNvPr>
          <p:cNvPicPr>
            <a:picLocks noChangeAspect="1"/>
          </p:cNvPicPr>
          <p:nvPr/>
        </p:nvPicPr>
        <p:blipFill>
          <a:blip r:embed="rId2"/>
          <a:stretch>
            <a:fillRect/>
          </a:stretch>
        </p:blipFill>
        <p:spPr>
          <a:xfrm>
            <a:off x="821531" y="1668066"/>
            <a:ext cx="214313" cy="285750"/>
          </a:xfrm>
          <a:prstGeom prst="rect">
            <a:avLst/>
          </a:prstGeom>
        </p:spPr>
      </p:pic>
      <p:sp>
        <p:nvSpPr>
          <p:cNvPr id="13" name="Text 9"/>
          <p:cNvSpPr/>
          <p:nvPr/>
        </p:nvSpPr>
        <p:spPr>
          <a:xfrm>
            <a:off x="1428750" y="1507331"/>
            <a:ext cx="7072313" cy="20716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8FAFC"/>
                </a:solidFill>
                <a:latin typeface="Roboto Mono" pitchFamily="34" charset="0"/>
                <a:ea typeface="Roboto Mono" pitchFamily="34" charset="-122"/>
                <a:cs typeface="Roboto Mono" pitchFamily="34" charset="-120"/>
              </a:rPr>
              <a:t>Hours of planning reduced to seconds</a:t>
            </a:r>
            <a:endParaRPr lang="en-US" sz="1090" dirty="0"/>
          </a:p>
        </p:txBody>
      </p:sp>
      <p:sp>
        <p:nvSpPr>
          <p:cNvPr id="14" name="Text 10"/>
          <p:cNvSpPr/>
          <p:nvPr/>
        </p:nvSpPr>
        <p:spPr>
          <a:xfrm>
            <a:off x="1428750" y="1771650"/>
            <a:ext cx="7072313" cy="3429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94A3B8"/>
                </a:solidFill>
                <a:latin typeface="Roboto" pitchFamily="34" charset="0"/>
                <a:ea typeface="Roboto" pitchFamily="34" charset="-122"/>
                <a:cs typeface="Roboto" pitchFamily="34" charset="-120"/>
              </a:rPr>
              <a:t>A weekly schedule that takes a planner 2–4 hours to build manually is generated in under 5 seconds. Re-planning after a disruption takes 4 seconds, not another morning.</a:t>
            </a:r>
            <a:endParaRPr lang="en-US" sz="834" dirty="0"/>
          </a:p>
        </p:txBody>
      </p:sp>
      <p:sp>
        <p:nvSpPr>
          <p:cNvPr id="15" name="Shape 11"/>
          <p:cNvSpPr/>
          <p:nvPr/>
        </p:nvSpPr>
        <p:spPr>
          <a:xfrm>
            <a:off x="428625" y="2371725"/>
            <a:ext cx="8286750" cy="792956"/>
          </a:xfrm>
          <a:prstGeom prst="rect">
            <a:avLst/>
          </a:prstGeom>
          <a:solidFill>
            <a:srgbClr val="1E293B">
              <a:alpha val="60000"/>
            </a:srgbClr>
          </a:solidFill>
          <a:ln/>
        </p:spPr>
      </p:sp>
      <p:sp>
        <p:nvSpPr>
          <p:cNvPr id="16" name="Shape 12"/>
          <p:cNvSpPr/>
          <p:nvPr/>
        </p:nvSpPr>
        <p:spPr>
          <a:xfrm>
            <a:off x="428625" y="2371725"/>
            <a:ext cx="8286750" cy="7144"/>
          </a:xfrm>
          <a:prstGeom prst="rect">
            <a:avLst/>
          </a:prstGeom>
          <a:solidFill>
            <a:srgbClr val="334155"/>
          </a:solidFill>
          <a:ln/>
        </p:spPr>
      </p:sp>
      <p:sp>
        <p:nvSpPr>
          <p:cNvPr id="17" name="Shape 13"/>
          <p:cNvSpPr/>
          <p:nvPr/>
        </p:nvSpPr>
        <p:spPr>
          <a:xfrm>
            <a:off x="8708231" y="2371725"/>
            <a:ext cx="7144" cy="792956"/>
          </a:xfrm>
          <a:prstGeom prst="rect">
            <a:avLst/>
          </a:prstGeom>
          <a:solidFill>
            <a:srgbClr val="334155"/>
          </a:solidFill>
          <a:ln/>
        </p:spPr>
      </p:sp>
      <p:sp>
        <p:nvSpPr>
          <p:cNvPr id="18" name="Shape 14"/>
          <p:cNvSpPr/>
          <p:nvPr/>
        </p:nvSpPr>
        <p:spPr>
          <a:xfrm>
            <a:off x="428625" y="3157538"/>
            <a:ext cx="8286750" cy="7144"/>
          </a:xfrm>
          <a:prstGeom prst="rect">
            <a:avLst/>
          </a:prstGeom>
          <a:solidFill>
            <a:srgbClr val="334155"/>
          </a:solidFill>
          <a:ln/>
        </p:spPr>
      </p:sp>
      <p:sp>
        <p:nvSpPr>
          <p:cNvPr id="19" name="Shape 15"/>
          <p:cNvSpPr/>
          <p:nvPr/>
        </p:nvSpPr>
        <p:spPr>
          <a:xfrm>
            <a:off x="428625" y="2371725"/>
            <a:ext cx="42863" cy="792956"/>
          </a:xfrm>
          <a:prstGeom prst="rect">
            <a:avLst/>
          </a:prstGeom>
          <a:solidFill>
            <a:srgbClr val="8B5CF6"/>
          </a:solidFill>
          <a:ln/>
        </p:spPr>
      </p:sp>
      <p:pic>
        <p:nvPicPr>
          <p:cNvPr id="20" name="Image 2" descr="preencoded.png">    </p:cNvPr>
          <p:cNvPicPr>
            <a:picLocks noChangeAspect="1"/>
          </p:cNvPicPr>
          <p:nvPr/>
        </p:nvPicPr>
        <p:blipFill>
          <a:blip r:embed="rId3"/>
          <a:stretch>
            <a:fillRect/>
          </a:stretch>
        </p:blipFill>
        <p:spPr>
          <a:xfrm>
            <a:off x="785813" y="2618184"/>
            <a:ext cx="285750" cy="285750"/>
          </a:xfrm>
          <a:prstGeom prst="rect">
            <a:avLst/>
          </a:prstGeom>
        </p:spPr>
      </p:pic>
      <p:sp>
        <p:nvSpPr>
          <p:cNvPr id="21" name="Text 16"/>
          <p:cNvSpPr/>
          <p:nvPr/>
        </p:nvSpPr>
        <p:spPr>
          <a:xfrm>
            <a:off x="1428750" y="2457450"/>
            <a:ext cx="7072313" cy="20716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8FAFC"/>
                </a:solidFill>
                <a:latin typeface="Roboto Mono" pitchFamily="34" charset="0"/>
                <a:ea typeface="Roboto Mono" pitchFamily="34" charset="-122"/>
                <a:cs typeface="Roboto Mono" pitchFamily="34" charset="-120"/>
              </a:rPr>
              <a:t>Same inputs always produce the same quality output</a:t>
            </a:r>
            <a:endParaRPr lang="en-US" sz="1090" dirty="0"/>
          </a:p>
        </p:txBody>
      </p:sp>
      <p:sp>
        <p:nvSpPr>
          <p:cNvPr id="22" name="Text 17"/>
          <p:cNvSpPr/>
          <p:nvPr/>
        </p:nvSpPr>
        <p:spPr>
          <a:xfrm>
            <a:off x="1428750" y="2721769"/>
            <a:ext cx="7072313" cy="3429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94A3B8"/>
                </a:solidFill>
                <a:latin typeface="Roboto" pitchFamily="34" charset="0"/>
                <a:ea typeface="Roboto" pitchFamily="34" charset="-122"/>
                <a:cs typeface="Roboto" pitchFamily="34" charset="-120"/>
              </a:rPr>
              <a:t>The optimizer applies the same mathematical rules every time, regardless of who is running it. Planner experience and availability no longer determine schedule quality.</a:t>
            </a:r>
            <a:endParaRPr lang="en-US" sz="834" dirty="0"/>
          </a:p>
        </p:txBody>
      </p:sp>
      <p:sp>
        <p:nvSpPr>
          <p:cNvPr id="23" name="Shape 18"/>
          <p:cNvSpPr/>
          <p:nvPr/>
        </p:nvSpPr>
        <p:spPr>
          <a:xfrm>
            <a:off x="428625" y="3321844"/>
            <a:ext cx="8286750" cy="792956"/>
          </a:xfrm>
          <a:prstGeom prst="rect">
            <a:avLst/>
          </a:prstGeom>
          <a:solidFill>
            <a:srgbClr val="1E293B">
              <a:alpha val="60000"/>
            </a:srgbClr>
          </a:solidFill>
          <a:ln/>
        </p:spPr>
      </p:sp>
      <p:sp>
        <p:nvSpPr>
          <p:cNvPr id="24" name="Shape 19"/>
          <p:cNvSpPr/>
          <p:nvPr/>
        </p:nvSpPr>
        <p:spPr>
          <a:xfrm>
            <a:off x="428625" y="3321844"/>
            <a:ext cx="8286750" cy="7144"/>
          </a:xfrm>
          <a:prstGeom prst="rect">
            <a:avLst/>
          </a:prstGeom>
          <a:solidFill>
            <a:srgbClr val="334155"/>
          </a:solidFill>
          <a:ln/>
        </p:spPr>
      </p:sp>
      <p:sp>
        <p:nvSpPr>
          <p:cNvPr id="25" name="Shape 20"/>
          <p:cNvSpPr/>
          <p:nvPr/>
        </p:nvSpPr>
        <p:spPr>
          <a:xfrm>
            <a:off x="8708231" y="3321844"/>
            <a:ext cx="7144" cy="792956"/>
          </a:xfrm>
          <a:prstGeom prst="rect">
            <a:avLst/>
          </a:prstGeom>
          <a:solidFill>
            <a:srgbClr val="334155"/>
          </a:solidFill>
          <a:ln/>
        </p:spPr>
      </p:sp>
      <p:sp>
        <p:nvSpPr>
          <p:cNvPr id="26" name="Shape 21"/>
          <p:cNvSpPr/>
          <p:nvPr/>
        </p:nvSpPr>
        <p:spPr>
          <a:xfrm>
            <a:off x="428625" y="4107656"/>
            <a:ext cx="8286750" cy="7144"/>
          </a:xfrm>
          <a:prstGeom prst="rect">
            <a:avLst/>
          </a:prstGeom>
          <a:solidFill>
            <a:srgbClr val="334155"/>
          </a:solidFill>
          <a:ln/>
        </p:spPr>
      </p:sp>
      <p:sp>
        <p:nvSpPr>
          <p:cNvPr id="27" name="Shape 22"/>
          <p:cNvSpPr/>
          <p:nvPr/>
        </p:nvSpPr>
        <p:spPr>
          <a:xfrm>
            <a:off x="428625" y="3321844"/>
            <a:ext cx="42863" cy="792956"/>
          </a:xfrm>
          <a:prstGeom prst="rect">
            <a:avLst/>
          </a:prstGeom>
          <a:solidFill>
            <a:srgbClr val="10B981"/>
          </a:solidFill>
          <a:ln/>
        </p:spPr>
      </p:sp>
      <p:pic>
        <p:nvPicPr>
          <p:cNvPr id="28" name="Image 3" descr="preencoded.png">    </p:cNvPr>
          <p:cNvPicPr>
            <a:picLocks noChangeAspect="1"/>
          </p:cNvPicPr>
          <p:nvPr/>
        </p:nvPicPr>
        <p:blipFill>
          <a:blip r:embed="rId4"/>
          <a:stretch>
            <a:fillRect/>
          </a:stretch>
        </p:blipFill>
        <p:spPr>
          <a:xfrm>
            <a:off x="785813" y="3568303"/>
            <a:ext cx="285750" cy="285750"/>
          </a:xfrm>
          <a:prstGeom prst="rect">
            <a:avLst/>
          </a:prstGeom>
        </p:spPr>
      </p:pic>
      <p:sp>
        <p:nvSpPr>
          <p:cNvPr id="29" name="Text 23"/>
          <p:cNvSpPr/>
          <p:nvPr/>
        </p:nvSpPr>
        <p:spPr>
          <a:xfrm>
            <a:off x="1428750" y="3407569"/>
            <a:ext cx="7072313" cy="207169"/>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8FAFC"/>
                </a:solidFill>
                <a:latin typeface="Roboto Mono" pitchFamily="34" charset="0"/>
                <a:ea typeface="Roboto Mono" pitchFamily="34" charset="-122"/>
                <a:cs typeface="Roboto Mono" pitchFamily="34" charset="-120"/>
              </a:rPr>
              <a:t>Mathematically proven best answer, every time</a:t>
            </a:r>
            <a:endParaRPr lang="en-US" sz="1090" dirty="0"/>
          </a:p>
        </p:txBody>
      </p:sp>
      <p:sp>
        <p:nvSpPr>
          <p:cNvPr id="30" name="Text 24"/>
          <p:cNvSpPr/>
          <p:nvPr/>
        </p:nvSpPr>
        <p:spPr>
          <a:xfrm>
            <a:off x="1428750" y="3671888"/>
            <a:ext cx="7072313" cy="3429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94A3B8"/>
                </a:solidFill>
                <a:latin typeface="Roboto" pitchFamily="34" charset="0"/>
                <a:ea typeface="Roboto" pitchFamily="34" charset="-122"/>
                <a:cs typeface="Roboto" pitchFamily="34" charset="-120"/>
              </a:rPr>
              <a:t>Not "pretty good" — certified optimal. The CP-SAT engine guarantees no better distribution exists. Reduced line imbalance directly translates to lower overtime costs.</a:t>
            </a:r>
            <a:endParaRPr lang="en-US" sz="834" dirty="0"/>
          </a:p>
        </p:txBody>
      </p:sp>
      <p:sp>
        <p:nvSpPr>
          <p:cNvPr id="31" name="Shape 25"/>
          <p:cNvSpPr/>
          <p:nvPr/>
        </p:nvSpPr>
        <p:spPr>
          <a:xfrm>
            <a:off x="428625" y="4243388"/>
            <a:ext cx="8286750" cy="507206"/>
          </a:xfrm>
          <a:prstGeom prst="rect">
            <a:avLst/>
          </a:prstGeom>
          <a:solidFill>
            <a:srgbClr val="0F172A">
              <a:alpha val="50000"/>
            </a:srgbClr>
          </a:solidFill>
          <a:ln w="9144">
            <a:solidFill>
              <a:srgbClr val="475569"/>
            </a:solidFill>
            <a:prstDash val="dash"/>
          </a:ln>
        </p:spPr>
      </p:sp>
      <p:sp>
        <p:nvSpPr>
          <p:cNvPr id="32" name="Text 26"/>
          <p:cNvSpPr/>
          <p:nvPr/>
        </p:nvSpPr>
        <p:spPr>
          <a:xfrm>
            <a:off x="428625" y="4243388"/>
            <a:ext cx="8286750" cy="507206"/>
          </a:xfrm>
          <a:prstGeom prst="rect">
            <a:avLst/>
          </a:prstGeom>
          <a:noFill/>
          <a:ln/>
        </p:spPr>
        <p:txBody>
          <a:bodyPr wrap="square" lIns="136017" tIns="136017" rIns="136017" bIns="136017" rtlCol="0" anchor="t">
            <a:spAutoFit/>
          </a:bodyPr>
          <a:lstStyle/>
          <a:p>
            <a:pPr algn="ctr" indent="0" marL="0">
              <a:lnSpc>
                <a:spcPts val="900"/>
              </a:lnSpc>
              <a:buNone/>
            </a:pPr>
            <a:r>
              <a:rPr lang="en-US" sz="727" dirty="0">
                <a:solidFill>
                  <a:srgbClr val="CBD5E1"/>
                </a:solidFill>
                <a:latin typeface="Roboto Mono" pitchFamily="34" charset="0"/>
                <a:ea typeface="Roboto Mono" pitchFamily="34" charset="-122"/>
                <a:cs typeface="Roboto Mono" pitchFamily="34" charset="-120"/>
              </a:rPr>
              <a:t>This proof-of-concept runs on a standard laptop with no external dependencies.</a:t>
            </a:r>
            <a:pPr algn="ctr" indent="0" marL="0">
              <a:lnSpc>
                <a:spcPts val="900"/>
              </a:lnSpc>
              <a:buNone/>
            </a:pPr>
            <a:r>
              <a:rPr lang="en-US" sz="727" dirty="0">
                <a:solidFill>
                  <a:srgbClr val="CBD5E1"/>
                </a:solidFill>
                <a:latin typeface="Roboto Mono" pitchFamily="34" charset="0"/>
                <a:ea typeface="Roboto Mono" pitchFamily="34" charset="-122"/>
                <a:cs typeface="Roboto Mono" pitchFamily="34" charset="-120"/>
              </a:rPr>
              <a:t>
</a:t>
            </a:r>
            <a:pPr algn="ctr" indent="0" marL="0">
              <a:lnSpc>
                <a:spcPts val="900"/>
              </a:lnSpc>
              <a:buNone/>
            </a:pPr>
            <a:r>
              <a:rPr lang="en-US" sz="727" dirty="0">
                <a:solidFill>
                  <a:srgbClr val="CBD5E1"/>
                </a:solidFill>
                <a:latin typeface="Roboto Mono" pitchFamily="34" charset="0"/>
                <a:ea typeface="Roboto Mono" pitchFamily="34" charset="-122"/>
                <a:cs typeface="Roboto Mono" pitchFamily="34" charset="-120"/>
              </a:rPr>
              <a:t> Path to full ERP integration: </a:t>
            </a:r>
            <a:pPr algn="ctr" indent="0" marL="0">
              <a:lnSpc>
                <a:spcPts val="900"/>
              </a:lnSpc>
              <a:buNone/>
            </a:pPr>
            <a:r>
              <a:rPr lang="en-US" sz="683" b="1" dirty="0">
                <a:solidFill>
                  <a:srgbClr val="F8FAFC"/>
                </a:solidFill>
                <a:latin typeface="Roboto Mono" pitchFamily="34" charset="0"/>
                <a:ea typeface="Roboto Mono" pitchFamily="34" charset="-122"/>
                <a:cs typeface="Roboto Mono" pitchFamily="34" charset="-120"/>
              </a:rPr>
              <a:t>4–8 weeks</a:t>
            </a:r>
            <a:pPr algn="ctr" indent="0" marL="0">
              <a:lnSpc>
                <a:spcPts val="900"/>
              </a:lnSpc>
              <a:buNone/>
            </a:pPr>
            <a:r>
              <a:rPr lang="en-US" sz="727" dirty="0">
                <a:solidFill>
                  <a:srgbClr val="CBD5E1"/>
                </a:solidFill>
                <a:latin typeface="Roboto Mono" pitchFamily="34" charset="0"/>
                <a:ea typeface="Roboto Mono" pitchFamily="34" charset="-122"/>
                <a:cs typeface="Roboto Mono" pitchFamily="34" charset="-120"/>
              </a:rPr>
              <a:t>.</a:t>
            </a:r>
            <a:endParaRPr lang="en-US" sz="727" dirty="0"/>
          </a:p>
        </p:txBody>
      </p:sp>
      <p:sp>
        <p:nvSpPr>
          <p:cNvPr id="33" name="Text 27"/>
          <p:cNvSpPr/>
          <p:nvPr/>
        </p:nvSpPr>
        <p:spPr>
          <a:xfrm>
            <a:off x="6902648" y="4816673"/>
            <a:ext cx="1812727" cy="112514"/>
          </a:xfrm>
          <a:prstGeom prst="rect">
            <a:avLst/>
          </a:prstGeom>
          <a:noFill/>
          <a:ln/>
        </p:spPr>
        <p:txBody>
          <a:bodyPr wrap="none" lIns="0" tIns="0" rIns="0" bIns="0" rtlCol="0" anchor="t">
            <a:spAutoFit/>
          </a:bodyPr>
          <a:lstStyle/>
          <a:p>
            <a:pPr algn="l" indent="0" marL="0">
              <a:lnSpc>
                <a:spcPts val="800"/>
              </a:lnSpc>
              <a:buNone/>
            </a:pPr>
            <a:r>
              <a:rPr lang="en-US" sz="621" dirty="0">
                <a:solidFill>
                  <a:srgbClr val="475569"/>
                </a:solidFill>
                <a:latin typeface="Roboto Mono" pitchFamily="34" charset="0"/>
                <a:ea typeface="Roboto Mono" pitchFamily="34" charset="-122"/>
                <a:cs typeface="Roboto Mono" pitchFamily="34" charset="-120"/>
              </a:rPr>
              <a:t>CONFIDENTIAL | INTERNAL DEMO | 2026</a:t>
            </a:r>
            <a:endParaRPr lang="en-US" sz="62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28625" y="428625"/>
            <a:ext cx="8286750" cy="489347"/>
          </a:xfrm>
          <a:prstGeom prst="rect">
            <a:avLst/>
          </a:prstGeom>
          <a:solidFill>
            <a:srgbClr val="000000">
              <a:alpha val="0"/>
            </a:srgbClr>
          </a:solidFill>
          <a:ln/>
        </p:spPr>
      </p:sp>
      <p:sp>
        <p:nvSpPr>
          <p:cNvPr id="4" name="Shape 1"/>
          <p:cNvSpPr/>
          <p:nvPr/>
        </p:nvSpPr>
        <p:spPr>
          <a:xfrm>
            <a:off x="428625" y="910828"/>
            <a:ext cx="8286750" cy="7144"/>
          </a:xfrm>
          <a:prstGeom prst="rect">
            <a:avLst/>
          </a:prstGeom>
          <a:solidFill>
            <a:srgbClr val="334155"/>
          </a:solidFill>
          <a:ln/>
        </p:spPr>
      </p:sp>
      <p:sp>
        <p:nvSpPr>
          <p:cNvPr id="5" name="Text 2"/>
          <p:cNvSpPr/>
          <p:nvPr/>
        </p:nvSpPr>
        <p:spPr>
          <a:xfrm>
            <a:off x="428625" y="428625"/>
            <a:ext cx="8286750" cy="339328"/>
          </a:xfrm>
          <a:prstGeom prst="rect">
            <a:avLst/>
          </a:prstGeom>
          <a:noFill/>
          <a:ln/>
        </p:spPr>
        <p:txBody>
          <a:bodyPr wrap="none" lIns="0" tIns="0" rIns="0" bIns="0" rtlCol="0" anchor="t">
            <a:spAutoFit/>
          </a:bodyPr>
          <a:lstStyle/>
          <a:p>
            <a:pPr algn="l" indent="0" marL="0">
              <a:lnSpc>
                <a:spcPts val="2400"/>
              </a:lnSpc>
              <a:buNone/>
            </a:pPr>
            <a:r>
              <a:rPr lang="en-US" sz="1808" b="1" dirty="0">
                <a:solidFill>
                  <a:srgbClr val="F8FAFC"/>
                </a:solidFill>
                <a:latin typeface="Roboto Mono" pitchFamily="34" charset="0"/>
                <a:ea typeface="Roboto Mono" pitchFamily="34" charset="-122"/>
                <a:cs typeface="Roboto Mono" pitchFamily="34" charset="-120"/>
              </a:rPr>
              <a:t>From Proof of Concept to Production</a:t>
            </a:r>
            <a:endParaRPr lang="en-US" sz="1808" dirty="0"/>
          </a:p>
        </p:txBody>
      </p:sp>
      <p:pic>
        <p:nvPicPr>
          <p:cNvPr id="6" name="Image 1" descr="preencoded.png">    </p:cNvPr>
          <p:cNvPicPr>
            <a:picLocks noChangeAspect="1"/>
          </p:cNvPicPr>
          <p:nvPr/>
        </p:nvPicPr>
        <p:blipFill>
          <a:blip r:embed="rId2"/>
          <a:stretch>
            <a:fillRect/>
          </a:stretch>
        </p:blipFill>
        <p:spPr>
          <a:xfrm>
            <a:off x="571500" y="1219795"/>
            <a:ext cx="142875" cy="142875"/>
          </a:xfrm>
          <a:prstGeom prst="rect">
            <a:avLst/>
          </a:prstGeom>
        </p:spPr>
      </p:pic>
      <p:sp>
        <p:nvSpPr>
          <p:cNvPr id="7" name="Text 3"/>
          <p:cNvSpPr/>
          <p:nvPr/>
        </p:nvSpPr>
        <p:spPr>
          <a:xfrm>
            <a:off x="785813" y="1196578"/>
            <a:ext cx="1885950" cy="189309"/>
          </a:xfrm>
          <a:prstGeom prst="rect">
            <a:avLst/>
          </a:prstGeom>
          <a:noFill/>
          <a:ln/>
        </p:spPr>
        <p:txBody>
          <a:bodyPr wrap="none" lIns="0" tIns="0" rIns="0" bIns="0" rtlCol="0" anchor="t">
            <a:spAutoFit/>
          </a:bodyPr>
          <a:lstStyle/>
          <a:p>
            <a:pPr algn="l" indent="0" marL="0">
              <a:lnSpc>
                <a:spcPts val="1400"/>
              </a:lnSpc>
              <a:buNone/>
            </a:pPr>
            <a:r>
              <a:rPr lang="en-US" sz="1050" dirty="0">
                <a:solidFill>
                  <a:srgbClr val="10B981"/>
                </a:solidFill>
                <a:latin typeface="Roboto Mono" pitchFamily="34" charset="0"/>
                <a:ea typeface="Roboto Mono" pitchFamily="34" charset="-122"/>
                <a:cs typeface="Roboto Mono" pitchFamily="34" charset="-120"/>
              </a:rPr>
              <a:t>Proposed Pilot Roadmap</a:t>
            </a:r>
            <a:endParaRPr lang="en-US" sz="1050" dirty="0"/>
          </a:p>
        </p:txBody>
      </p:sp>
      <p:sp>
        <p:nvSpPr>
          <p:cNvPr id="8" name="Text 4"/>
          <p:cNvSpPr/>
          <p:nvPr/>
        </p:nvSpPr>
        <p:spPr>
          <a:xfrm>
            <a:off x="857250" y="1600200"/>
            <a:ext cx="4200525" cy="101798"/>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10B981"/>
                </a:solidFill>
                <a:latin typeface="Roboto" pitchFamily="34" charset="0"/>
                <a:ea typeface="Roboto" pitchFamily="34" charset="-122"/>
                <a:cs typeface="Roboto" pitchFamily="34" charset="-120"/>
              </a:rPr>
              <a:t>WEEKS 1-2</a:t>
            </a:r>
            <a:endParaRPr lang="en-US" sz="584" dirty="0"/>
          </a:p>
        </p:txBody>
      </p:sp>
      <p:sp>
        <p:nvSpPr>
          <p:cNvPr id="9" name="Text 5"/>
          <p:cNvSpPr/>
          <p:nvPr/>
        </p:nvSpPr>
        <p:spPr>
          <a:xfrm>
            <a:off x="857250" y="1759148"/>
            <a:ext cx="4200525" cy="150019"/>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8FAFC"/>
                </a:solidFill>
                <a:latin typeface="Roboto Mono" pitchFamily="34" charset="0"/>
                <a:ea typeface="Roboto Mono" pitchFamily="34" charset="-122"/>
                <a:cs typeface="Roboto Mono" pitchFamily="34" charset="-120"/>
              </a:rPr>
              <a:t>Data Integration</a:t>
            </a:r>
            <a:endParaRPr lang="en-US" sz="784" dirty="0"/>
          </a:p>
        </p:txBody>
      </p:sp>
      <p:sp>
        <p:nvSpPr>
          <p:cNvPr id="10" name="Text 6"/>
          <p:cNvSpPr/>
          <p:nvPr/>
        </p:nvSpPr>
        <p:spPr>
          <a:xfrm>
            <a:off x="857250" y="1937742"/>
            <a:ext cx="4200525" cy="14000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94A3B8"/>
                </a:solidFill>
                <a:latin typeface="Roboto" pitchFamily="34" charset="0"/>
                <a:ea typeface="Roboto" pitchFamily="34" charset="-122"/>
                <a:cs typeface="Roboto" pitchFamily="34" charset="-120"/>
              </a:rPr>
              <a:t>Connect optimizer to ERP/MES data export. Automate the "Demand Input" step.</a:t>
            </a:r>
            <a:endParaRPr lang="en-US" sz="727" dirty="0"/>
          </a:p>
        </p:txBody>
      </p:sp>
      <p:sp>
        <p:nvSpPr>
          <p:cNvPr id="11" name="Text 7"/>
          <p:cNvSpPr/>
          <p:nvPr/>
        </p:nvSpPr>
        <p:spPr>
          <a:xfrm>
            <a:off x="857250" y="2363493"/>
            <a:ext cx="4200525" cy="101798"/>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10B981"/>
                </a:solidFill>
                <a:latin typeface="Roboto" pitchFamily="34" charset="0"/>
                <a:ea typeface="Roboto" pitchFamily="34" charset="-122"/>
                <a:cs typeface="Roboto" pitchFamily="34" charset="-120"/>
              </a:rPr>
              <a:t>WEEKS 3-4</a:t>
            </a:r>
            <a:endParaRPr lang="en-US" sz="584" dirty="0"/>
          </a:p>
        </p:txBody>
      </p:sp>
      <p:sp>
        <p:nvSpPr>
          <p:cNvPr id="12" name="Text 8"/>
          <p:cNvSpPr/>
          <p:nvPr/>
        </p:nvSpPr>
        <p:spPr>
          <a:xfrm>
            <a:off x="857250" y="2522441"/>
            <a:ext cx="4200525" cy="150019"/>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8FAFC"/>
                </a:solidFill>
                <a:latin typeface="Roboto Mono" pitchFamily="34" charset="0"/>
                <a:ea typeface="Roboto Mono" pitchFamily="34" charset="-122"/>
                <a:cs typeface="Roboto Mono" pitchFamily="34" charset="-120"/>
              </a:rPr>
              <a:t>Parallel Testing (UAT)</a:t>
            </a:r>
            <a:endParaRPr lang="en-US" sz="784" dirty="0"/>
          </a:p>
        </p:txBody>
      </p:sp>
      <p:sp>
        <p:nvSpPr>
          <p:cNvPr id="13" name="Text 9"/>
          <p:cNvSpPr/>
          <p:nvPr/>
        </p:nvSpPr>
        <p:spPr>
          <a:xfrm>
            <a:off x="857250" y="2701035"/>
            <a:ext cx="4200525" cy="14000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94A3B8"/>
                </a:solidFill>
                <a:latin typeface="Roboto" pitchFamily="34" charset="0"/>
                <a:ea typeface="Roboto" pitchFamily="34" charset="-122"/>
                <a:cs typeface="Roboto" pitchFamily="34" charset="-120"/>
              </a:rPr>
              <a:t>Planners run the AI engine alongside their manual process to validate results and build trust.</a:t>
            </a:r>
            <a:endParaRPr lang="en-US" sz="727" dirty="0"/>
          </a:p>
        </p:txBody>
      </p:sp>
      <p:sp>
        <p:nvSpPr>
          <p:cNvPr id="14" name="Text 10"/>
          <p:cNvSpPr/>
          <p:nvPr/>
        </p:nvSpPr>
        <p:spPr>
          <a:xfrm>
            <a:off x="857250" y="3126786"/>
            <a:ext cx="4200525" cy="101798"/>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10B981"/>
                </a:solidFill>
                <a:latin typeface="Roboto" pitchFamily="34" charset="0"/>
                <a:ea typeface="Roboto" pitchFamily="34" charset="-122"/>
                <a:cs typeface="Roboto" pitchFamily="34" charset="-120"/>
              </a:rPr>
              <a:t>WEEK 5</a:t>
            </a:r>
            <a:endParaRPr lang="en-US" sz="584" dirty="0"/>
          </a:p>
        </p:txBody>
      </p:sp>
      <p:sp>
        <p:nvSpPr>
          <p:cNvPr id="15" name="Text 11"/>
          <p:cNvSpPr/>
          <p:nvPr/>
        </p:nvSpPr>
        <p:spPr>
          <a:xfrm>
            <a:off x="857250" y="3285734"/>
            <a:ext cx="4200525" cy="150019"/>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8FAFC"/>
                </a:solidFill>
                <a:latin typeface="Roboto Mono" pitchFamily="34" charset="0"/>
                <a:ea typeface="Roboto Mono" pitchFamily="34" charset="-122"/>
                <a:cs typeface="Roboto Mono" pitchFamily="34" charset="-120"/>
              </a:rPr>
              <a:t>Go-Live</a:t>
            </a:r>
            <a:endParaRPr lang="en-US" sz="784" dirty="0"/>
          </a:p>
        </p:txBody>
      </p:sp>
      <p:sp>
        <p:nvSpPr>
          <p:cNvPr id="16" name="Text 12"/>
          <p:cNvSpPr/>
          <p:nvPr/>
        </p:nvSpPr>
        <p:spPr>
          <a:xfrm>
            <a:off x="857250" y="3464328"/>
            <a:ext cx="4200525" cy="14000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94A3B8"/>
                </a:solidFill>
                <a:latin typeface="Roboto" pitchFamily="34" charset="0"/>
                <a:ea typeface="Roboto" pitchFamily="34" charset="-122"/>
                <a:cs typeface="Roboto" pitchFamily="34" charset="-120"/>
              </a:rPr>
              <a:t>First AI-generated schedule released to the production floor.</a:t>
            </a:r>
            <a:endParaRPr lang="en-US" sz="727" dirty="0"/>
          </a:p>
        </p:txBody>
      </p:sp>
      <p:sp>
        <p:nvSpPr>
          <p:cNvPr id="17" name="Shape 13"/>
          <p:cNvSpPr/>
          <p:nvPr/>
        </p:nvSpPr>
        <p:spPr>
          <a:xfrm>
            <a:off x="5629275" y="1196578"/>
            <a:ext cx="3086100" cy="3214688"/>
          </a:xfrm>
          <a:prstGeom prst="rect">
            <a:avLst/>
          </a:prstGeom>
          <a:solidFill>
            <a:srgbClr val="1E293B">
              <a:alpha val="40000"/>
            </a:srgbClr>
          </a:solidFill>
          <a:ln w="9144">
            <a:solidFill>
              <a:srgbClr val="334155"/>
            </a:solidFill>
            <a:prstDash val="solid"/>
          </a:ln>
        </p:spPr>
      </p:sp>
      <p:pic>
        <p:nvPicPr>
          <p:cNvPr id="18" name="Image 2" descr="preencoded.png">    </p:cNvPr>
          <p:cNvPicPr>
            <a:picLocks noChangeAspect="1"/>
          </p:cNvPicPr>
          <p:nvPr/>
        </p:nvPicPr>
        <p:blipFill>
          <a:blip r:embed="rId3"/>
          <a:stretch>
            <a:fillRect/>
          </a:stretch>
        </p:blipFill>
        <p:spPr>
          <a:xfrm>
            <a:off x="5843588" y="1434108"/>
            <a:ext cx="178594" cy="142875"/>
          </a:xfrm>
          <a:prstGeom prst="rect">
            <a:avLst/>
          </a:prstGeom>
        </p:spPr>
      </p:pic>
      <p:sp>
        <p:nvSpPr>
          <p:cNvPr id="19" name="Text 14"/>
          <p:cNvSpPr/>
          <p:nvPr/>
        </p:nvSpPr>
        <p:spPr>
          <a:xfrm>
            <a:off x="6093619" y="1410891"/>
            <a:ext cx="1371600" cy="189309"/>
          </a:xfrm>
          <a:prstGeom prst="rect">
            <a:avLst/>
          </a:prstGeom>
          <a:noFill/>
          <a:ln/>
        </p:spPr>
        <p:txBody>
          <a:bodyPr wrap="none" lIns="0" tIns="0" rIns="0" bIns="0" rtlCol="0" anchor="t">
            <a:spAutoFit/>
          </a:bodyPr>
          <a:lstStyle/>
          <a:p>
            <a:pPr algn="l" indent="0" marL="0">
              <a:lnSpc>
                <a:spcPts val="1400"/>
              </a:lnSpc>
              <a:buNone/>
            </a:pPr>
            <a:r>
              <a:rPr lang="en-US" sz="1050" dirty="0">
                <a:solidFill>
                  <a:srgbClr val="3B82F6"/>
                </a:solidFill>
                <a:latin typeface="Roboto Mono" pitchFamily="34" charset="0"/>
                <a:ea typeface="Roboto Mono" pitchFamily="34" charset="-122"/>
                <a:cs typeface="Roboto Mono" pitchFamily="34" charset="-120"/>
              </a:rPr>
              <a:t>Discussion &amp; Q&amp;A</a:t>
            </a:r>
            <a:endParaRPr lang="en-US" sz="1050" dirty="0"/>
          </a:p>
        </p:txBody>
      </p:sp>
      <p:pic>
        <p:nvPicPr>
          <p:cNvPr id="20" name="Image 3" descr="preencoded.png">    </p:cNvPr>
          <p:cNvPicPr>
            <a:picLocks noChangeAspect="1"/>
          </p:cNvPicPr>
          <p:nvPr/>
        </p:nvPicPr>
        <p:blipFill>
          <a:blip r:embed="rId4"/>
          <a:stretch>
            <a:fillRect/>
          </a:stretch>
        </p:blipFill>
        <p:spPr>
          <a:xfrm>
            <a:off x="5843588" y="1843088"/>
            <a:ext cx="114300" cy="114300"/>
          </a:xfrm>
          <a:prstGeom prst="rect">
            <a:avLst/>
          </a:prstGeom>
        </p:spPr>
      </p:pic>
      <p:sp>
        <p:nvSpPr>
          <p:cNvPr id="21" name="Text 15"/>
          <p:cNvSpPr/>
          <p:nvPr/>
        </p:nvSpPr>
        <p:spPr>
          <a:xfrm>
            <a:off x="6043613" y="1814513"/>
            <a:ext cx="1507331" cy="133945"/>
          </a:xfrm>
          <a:prstGeom prst="rect">
            <a:avLst/>
          </a:prstGeom>
          <a:noFill/>
          <a:ln/>
        </p:spPr>
        <p:txBody>
          <a:bodyPr wrap="none" lIns="0" tIns="0" rIns="0" bIns="0" rtlCol="0" anchor="t">
            <a:spAutoFit/>
          </a:bodyPr>
          <a:lstStyle/>
          <a:p>
            <a:pPr algn="l" indent="0" marL="0">
              <a:lnSpc>
                <a:spcPts val="1100"/>
              </a:lnSpc>
              <a:buNone/>
            </a:pPr>
            <a:r>
              <a:rPr lang="en-US" sz="834" dirty="0">
                <a:solidFill>
                  <a:srgbClr val="CBD5E1"/>
                </a:solidFill>
                <a:latin typeface="Roboto" pitchFamily="34" charset="0"/>
                <a:ea typeface="Roboto" pitchFamily="34" charset="-122"/>
                <a:cs typeface="Roboto" pitchFamily="34" charset="-120"/>
              </a:rPr>
              <a:t>Integration with existing ERP?</a:t>
            </a:r>
            <a:endParaRPr lang="en-US" sz="834" dirty="0"/>
          </a:p>
        </p:txBody>
      </p:sp>
      <p:pic>
        <p:nvPicPr>
          <p:cNvPr id="22" name="Image 4" descr="preencoded.png">    </p:cNvPr>
          <p:cNvPicPr>
            <a:picLocks noChangeAspect="1"/>
          </p:cNvPicPr>
          <p:nvPr/>
        </p:nvPicPr>
        <p:blipFill>
          <a:blip r:embed="rId5"/>
          <a:stretch>
            <a:fillRect/>
          </a:stretch>
        </p:blipFill>
        <p:spPr>
          <a:xfrm>
            <a:off x="5843588" y="2157413"/>
            <a:ext cx="114300" cy="114300"/>
          </a:xfrm>
          <a:prstGeom prst="rect">
            <a:avLst/>
          </a:prstGeom>
        </p:spPr>
      </p:pic>
      <p:sp>
        <p:nvSpPr>
          <p:cNvPr id="23" name="Text 16"/>
          <p:cNvSpPr/>
          <p:nvPr/>
        </p:nvSpPr>
        <p:spPr>
          <a:xfrm>
            <a:off x="6043613" y="2128838"/>
            <a:ext cx="1509117" cy="133945"/>
          </a:xfrm>
          <a:prstGeom prst="rect">
            <a:avLst/>
          </a:prstGeom>
          <a:noFill/>
          <a:ln/>
        </p:spPr>
        <p:txBody>
          <a:bodyPr wrap="none" lIns="0" tIns="0" rIns="0" bIns="0" rtlCol="0" anchor="t">
            <a:spAutoFit/>
          </a:bodyPr>
          <a:lstStyle/>
          <a:p>
            <a:pPr algn="l" indent="0" marL="0">
              <a:lnSpc>
                <a:spcPts val="1100"/>
              </a:lnSpc>
              <a:buNone/>
            </a:pPr>
            <a:r>
              <a:rPr lang="en-US" sz="834" dirty="0">
                <a:solidFill>
                  <a:srgbClr val="CBD5E1"/>
                </a:solidFill>
                <a:latin typeface="Roboto" pitchFamily="34" charset="0"/>
                <a:ea typeface="Roboto" pitchFamily="34" charset="-122"/>
                <a:cs typeface="Roboto" pitchFamily="34" charset="-120"/>
              </a:rPr>
              <a:t>Handling machine downtime?</a:t>
            </a:r>
            <a:endParaRPr lang="en-US" sz="834" dirty="0"/>
          </a:p>
        </p:txBody>
      </p:sp>
      <p:pic>
        <p:nvPicPr>
          <p:cNvPr id="24" name="Image 5" descr="preencoded.png">    </p:cNvPr>
          <p:cNvPicPr>
            <a:picLocks noChangeAspect="1"/>
          </p:cNvPicPr>
          <p:nvPr/>
        </p:nvPicPr>
        <p:blipFill>
          <a:blip r:embed="rId6"/>
          <a:stretch>
            <a:fillRect/>
          </a:stretch>
        </p:blipFill>
        <p:spPr>
          <a:xfrm>
            <a:off x="5843588" y="2471738"/>
            <a:ext cx="114300" cy="114300"/>
          </a:xfrm>
          <a:prstGeom prst="rect">
            <a:avLst/>
          </a:prstGeom>
        </p:spPr>
      </p:pic>
      <p:sp>
        <p:nvSpPr>
          <p:cNvPr id="25" name="Text 17"/>
          <p:cNvSpPr/>
          <p:nvPr/>
        </p:nvSpPr>
        <p:spPr>
          <a:xfrm>
            <a:off x="6043613" y="2443163"/>
            <a:ext cx="1159073" cy="133945"/>
          </a:xfrm>
          <a:prstGeom prst="rect">
            <a:avLst/>
          </a:prstGeom>
          <a:noFill/>
          <a:ln/>
        </p:spPr>
        <p:txBody>
          <a:bodyPr wrap="none" lIns="0" tIns="0" rIns="0" bIns="0" rtlCol="0" anchor="t">
            <a:spAutoFit/>
          </a:bodyPr>
          <a:lstStyle/>
          <a:p>
            <a:pPr algn="l" indent="0" marL="0">
              <a:lnSpc>
                <a:spcPts val="1100"/>
              </a:lnSpc>
              <a:buNone/>
            </a:pPr>
            <a:r>
              <a:rPr lang="en-US" sz="834" dirty="0">
                <a:solidFill>
                  <a:srgbClr val="CBD5E1"/>
                </a:solidFill>
                <a:latin typeface="Roboto" pitchFamily="34" charset="0"/>
                <a:ea typeface="Roboto" pitchFamily="34" charset="-122"/>
                <a:cs typeface="Roboto" pitchFamily="34" charset="-120"/>
              </a:rPr>
              <a:t>ROI and labor savings?</a:t>
            </a:r>
            <a:endParaRPr lang="en-US" sz="834" dirty="0"/>
          </a:p>
        </p:txBody>
      </p:sp>
      <p:pic>
        <p:nvPicPr>
          <p:cNvPr id="26" name="Image 6" descr="preencoded.png">    </p:cNvPr>
          <p:cNvPicPr>
            <a:picLocks noChangeAspect="1"/>
          </p:cNvPicPr>
          <p:nvPr/>
        </p:nvPicPr>
        <p:blipFill>
          <a:blip r:embed="rId7"/>
          <a:stretch>
            <a:fillRect/>
          </a:stretch>
        </p:blipFill>
        <p:spPr>
          <a:xfrm>
            <a:off x="5843588" y="2786063"/>
            <a:ext cx="114300" cy="114300"/>
          </a:xfrm>
          <a:prstGeom prst="rect">
            <a:avLst/>
          </a:prstGeom>
        </p:spPr>
      </p:pic>
      <p:sp>
        <p:nvSpPr>
          <p:cNvPr id="27" name="Text 18"/>
          <p:cNvSpPr/>
          <p:nvPr/>
        </p:nvSpPr>
        <p:spPr>
          <a:xfrm>
            <a:off x="6043613" y="2757488"/>
            <a:ext cx="1478756" cy="133945"/>
          </a:xfrm>
          <a:prstGeom prst="rect">
            <a:avLst/>
          </a:prstGeom>
          <a:noFill/>
          <a:ln/>
        </p:spPr>
        <p:txBody>
          <a:bodyPr wrap="none" lIns="0" tIns="0" rIns="0" bIns="0" rtlCol="0" anchor="t">
            <a:spAutoFit/>
          </a:bodyPr>
          <a:lstStyle/>
          <a:p>
            <a:pPr algn="l" indent="0" marL="0">
              <a:lnSpc>
                <a:spcPts val="1100"/>
              </a:lnSpc>
              <a:buNone/>
            </a:pPr>
            <a:r>
              <a:rPr lang="en-US" sz="834" dirty="0">
                <a:solidFill>
                  <a:srgbClr val="CBD5E1"/>
                </a:solidFill>
                <a:latin typeface="Roboto" pitchFamily="34" charset="0"/>
                <a:ea typeface="Roboto" pitchFamily="34" charset="-122"/>
                <a:cs typeface="Roboto" pitchFamily="34" charset="-120"/>
              </a:rPr>
              <a:t>Scaling to multiple factories?</a:t>
            </a:r>
            <a:endParaRPr lang="en-US" sz="834" dirty="0"/>
          </a:p>
        </p:txBody>
      </p:sp>
      <p:sp>
        <p:nvSpPr>
          <p:cNvPr id="28" name="Text 19"/>
          <p:cNvSpPr/>
          <p:nvPr/>
        </p:nvSpPr>
        <p:spPr>
          <a:xfrm>
            <a:off x="428625" y="4816673"/>
            <a:ext cx="8286750" cy="112514"/>
          </a:xfrm>
          <a:prstGeom prst="rect">
            <a:avLst/>
          </a:prstGeom>
          <a:noFill/>
          <a:ln/>
        </p:spPr>
        <p:txBody>
          <a:bodyPr wrap="none" lIns="0" tIns="0" rIns="0" bIns="0" rtlCol="0" anchor="t">
            <a:spAutoFit/>
          </a:bodyPr>
          <a:lstStyle/>
          <a:p>
            <a:pPr algn="r" indent="0" marL="0">
              <a:lnSpc>
                <a:spcPts val="800"/>
              </a:lnSpc>
              <a:buNone/>
            </a:pPr>
            <a:r>
              <a:rPr lang="en-US" sz="621" dirty="0">
                <a:solidFill>
                  <a:srgbClr val="475569"/>
                </a:solidFill>
                <a:latin typeface="Roboto Mono" pitchFamily="34" charset="0"/>
                <a:ea typeface="Roboto Mono" pitchFamily="34" charset="-122"/>
                <a:cs typeface="Roboto Mono" pitchFamily="34" charset="-120"/>
              </a:rPr>
              <a:t>CONFIDENTIAL | INTERNAL DEMO | 2026</a:t>
            </a:r>
            <a:endParaRPr lang="en-US" sz="62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2026-03-03T22:18:05Z</dcterms:created>
  <dcterms:modified xsi:type="dcterms:W3CDTF">2026-03-03T22:18:05Z</dcterms:modified>
</cp:coreProperties>
</file>