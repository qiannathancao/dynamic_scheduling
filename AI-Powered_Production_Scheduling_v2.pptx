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1714500"/>
            <a:ext cx="5715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DEMO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857250" y="2214479"/>
            <a:ext cx="5715000" cy="169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</a:t>
            </a:r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</a:t>
            </a:r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</a:t>
            </a:r>
            <a:endParaRPr lang="en-US" sz="3731" dirty="0"/>
          </a:p>
        </p:txBody>
      </p:sp>
      <p:sp>
        <p:nvSpPr>
          <p:cNvPr id="5" name="Text 2"/>
          <p:cNvSpPr/>
          <p:nvPr/>
        </p:nvSpPr>
        <p:spPr>
          <a:xfrm>
            <a:off x="857250" y="4083267"/>
            <a:ext cx="5715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CP-SAT Optimizer v2 · Multi-Week Planning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857250" y="4938731"/>
            <a:ext cx="119122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857250" y="5088750"/>
            <a:ext cx="1191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Science Team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334220" y="4938731"/>
            <a:ext cx="7536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2334220" y="5088750"/>
            <a:ext cx="7536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2026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3373636" y="4938731"/>
            <a:ext cx="13019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3373636" y="5088750"/>
            <a:ext cx="13019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Research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857250" y="4736306"/>
            <a:ext cx="20734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INTERNAL USE ONLY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500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64431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Scheduling Costs Time &amp; Money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571500" y="1593056"/>
            <a:ext cx="471488" cy="4714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35931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0150" y="1593056"/>
            <a:ext cx="3086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Intensive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1200150" y="1857375"/>
            <a:ext cx="30861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Planners spend 4–8 hours per week manually slotting orders, often reworking the plan multiple times.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571500" y="2721769"/>
            <a:ext cx="471488" cy="4714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864644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0150" y="2721769"/>
            <a:ext cx="3086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 Violations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1200150" y="2986088"/>
            <a:ext cx="30861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rules like "Space out Rear Loader 2512" are easily missed by human planners.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571500" y="3657600"/>
            <a:ext cx="471488" cy="4714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800475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00150" y="3657600"/>
            <a:ext cx="3086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Sub-Optimal Balance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1200150" y="3921919"/>
            <a:ext cx="30861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plans often overload specific days or lines, leading to overtime and bottlenecks.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4857750" y="1593056"/>
            <a:ext cx="3714750" cy="32861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143500" y="2114550"/>
            <a:ext cx="98226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Time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7384852" y="1921669"/>
            <a:ext cx="90189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Hrs</a:t>
            </a:r>
            <a:endParaRPr lang="en-US" sz="2436" dirty="0"/>
          </a:p>
        </p:txBody>
      </p:sp>
      <p:sp>
        <p:nvSpPr>
          <p:cNvPr id="22" name="Text 16"/>
          <p:cNvSpPr/>
          <p:nvPr/>
        </p:nvSpPr>
        <p:spPr>
          <a:xfrm>
            <a:off x="7384852" y="2364581"/>
            <a:ext cx="9018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week / planner</a:t>
            </a:r>
            <a:endParaRPr lang="en-US" sz="727" dirty="0"/>
          </a:p>
        </p:txBody>
      </p:sp>
      <p:sp>
        <p:nvSpPr>
          <p:cNvPr id="23" name="Text 17"/>
          <p:cNvSpPr/>
          <p:nvPr/>
        </p:nvSpPr>
        <p:spPr>
          <a:xfrm>
            <a:off x="5143500" y="3086100"/>
            <a:ext cx="11608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Compliance</a:t>
            </a:r>
            <a:endParaRPr lang="en-US" sz="987" dirty="0"/>
          </a:p>
        </p:txBody>
      </p:sp>
      <p:sp>
        <p:nvSpPr>
          <p:cNvPr id="24" name="Text 18"/>
          <p:cNvSpPr/>
          <p:nvPr/>
        </p:nvSpPr>
        <p:spPr>
          <a:xfrm>
            <a:off x="7250906" y="2893219"/>
            <a:ext cx="103584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~85%</a:t>
            </a:r>
            <a:endParaRPr lang="en-US" sz="2436" dirty="0"/>
          </a:p>
        </p:txBody>
      </p:sp>
      <p:sp>
        <p:nvSpPr>
          <p:cNvPr id="25" name="Text 19"/>
          <p:cNvSpPr/>
          <p:nvPr/>
        </p:nvSpPr>
        <p:spPr>
          <a:xfrm>
            <a:off x="7250906" y="3336131"/>
            <a:ext cx="10358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error rate</a:t>
            </a:r>
            <a:endParaRPr lang="en-US" sz="727" dirty="0"/>
          </a:p>
        </p:txBody>
      </p:sp>
      <p:sp>
        <p:nvSpPr>
          <p:cNvPr id="26" name="Text 20"/>
          <p:cNvSpPr/>
          <p:nvPr/>
        </p:nvSpPr>
        <p:spPr>
          <a:xfrm>
            <a:off x="5143500" y="4057650"/>
            <a:ext cx="87689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</a:t>
            </a:r>
            <a:endParaRPr lang="en-US" sz="987" dirty="0"/>
          </a:p>
        </p:txBody>
      </p:sp>
      <p:sp>
        <p:nvSpPr>
          <p:cNvPr id="27" name="Text 21"/>
          <p:cNvSpPr/>
          <p:nvPr/>
        </p:nvSpPr>
        <p:spPr>
          <a:xfrm>
            <a:off x="7374136" y="3864769"/>
            <a:ext cx="91261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</a:t>
            </a:r>
            <a:endParaRPr lang="en-US" sz="2436" dirty="0"/>
          </a:p>
        </p:txBody>
      </p:sp>
      <p:sp>
        <p:nvSpPr>
          <p:cNvPr id="28" name="Text 22"/>
          <p:cNvSpPr/>
          <p:nvPr/>
        </p:nvSpPr>
        <p:spPr>
          <a:xfrm>
            <a:off x="7374136" y="4307681"/>
            <a:ext cx="91261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Global Optimum</a:t>
            </a:r>
            <a:endParaRPr lang="en-US" sz="727" dirty="0"/>
          </a:p>
        </p:txBody>
      </p:sp>
      <p:sp>
        <p:nvSpPr>
          <p:cNvPr id="29" name="Text 23"/>
          <p:cNvSpPr/>
          <p:nvPr/>
        </p:nvSpPr>
        <p:spPr>
          <a:xfrm>
            <a:off x="7668816" y="4823817"/>
            <a:ext cx="90368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 Analysis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60329" y="571500"/>
            <a:ext cx="102334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1688604" y="823317"/>
            <a:ext cx="5766792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Schedule in Seconds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1714500" y="1434805"/>
            <a:ext cx="57150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OR-Tools CP-SAT Solver delivers mathematically proven optimal plans instantly.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2420643"/>
            <a:ext cx="2381241" cy="229314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2420643"/>
            <a:ext cx="2366925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5"/>
          <p:cNvSpPr/>
          <p:nvPr/>
        </p:nvSpPr>
        <p:spPr>
          <a:xfrm>
            <a:off x="1464469" y="2706393"/>
            <a:ext cx="585788" cy="585788"/>
          </a:xfrm>
          <a:prstGeom prst="ellipse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8" y="2877843"/>
            <a:ext cx="1714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950" y="3449343"/>
            <a:ext cx="20288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742950" y="3770812"/>
            <a:ext cx="20288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 full week's schedule in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seconds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replacing hours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manual work.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3371850" y="2420643"/>
            <a:ext cx="2386013" cy="229314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76622" y="2420643"/>
            <a:ext cx="2366925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1963" y="2706393"/>
            <a:ext cx="585788" cy="585788"/>
          </a:xfrm>
          <a:prstGeom prst="ellipse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556" y="2877843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48072" y="3449343"/>
            <a:ext cx="203359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3548072" y="3770812"/>
            <a:ext cx="203359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Guarantees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compliance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rules like spacing and day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preferences.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6181744" y="2420643"/>
            <a:ext cx="2390784" cy="229314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91231" y="2420643"/>
            <a:ext cx="2366925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Shape 15"/>
          <p:cNvSpPr/>
          <p:nvPr/>
        </p:nvSpPr>
        <p:spPr>
          <a:xfrm>
            <a:off x="7088944" y="2706393"/>
            <a:ext cx="585788" cy="585788"/>
          </a:xfrm>
          <a:prstGeom prst="ellipse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538" y="2877843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2681" y="3449343"/>
            <a:ext cx="203834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Flexibility</a:t>
            </a:r>
            <a:endParaRPr lang="en-US" sz="1193" dirty="0"/>
          </a:p>
        </p:txBody>
      </p:sp>
      <p:sp>
        <p:nvSpPr>
          <p:cNvPr id="23" name="Text 17"/>
          <p:cNvSpPr/>
          <p:nvPr/>
        </p:nvSpPr>
        <p:spPr>
          <a:xfrm>
            <a:off x="6362681" y="3770812"/>
            <a:ext cx="203834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adapts to new constraints,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mixes, or volume changes via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34" dirty="0"/>
          </a:p>
        </p:txBody>
      </p:sp>
      <p:sp>
        <p:nvSpPr>
          <p:cNvPr id="24" name="Text 18"/>
          <p:cNvSpPr/>
          <p:nvPr/>
        </p:nvSpPr>
        <p:spPr>
          <a:xfrm>
            <a:off x="7558088" y="4823817"/>
            <a:ext cx="101441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Optimization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DATA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Production Data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078706"/>
            <a:ext cx="8001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153 Orders · 14 Model Types · 3 Production Lines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1609130"/>
            <a:ext cx="1785938" cy="7715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2950" y="1787723"/>
            <a:ext cx="414338" cy="414338"/>
          </a:xfrm>
          <a:prstGeom prst="rect">
            <a:avLst/>
          </a:prstGeom>
          <a:solidFill>
            <a:srgbClr val="0EA5E9">
              <a:alpha val="10000"/>
            </a:srgbClr>
          </a:solidFill>
          <a:ln w="9144">
            <a:solidFill>
              <a:srgbClr val="0EA5E9">
                <a:alpha val="2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34" y="1909167"/>
            <a:ext cx="192881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5875" y="1791295"/>
            <a:ext cx="6572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153</a:t>
            </a:r>
            <a:endParaRPr lang="en-US" sz="1808" dirty="0"/>
          </a:p>
        </p:txBody>
      </p:sp>
      <p:sp>
        <p:nvSpPr>
          <p:cNvPr id="10" name="Text 6"/>
          <p:cNvSpPr/>
          <p:nvPr/>
        </p:nvSpPr>
        <p:spPr>
          <a:xfrm>
            <a:off x="1285875" y="2077045"/>
            <a:ext cx="6572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UNITS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2632472" y="1609130"/>
            <a:ext cx="1789509" cy="7715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07494" y="1787723"/>
            <a:ext cx="414338" cy="41433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509" y="1909167"/>
            <a:ext cx="150019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50419" y="1791295"/>
            <a:ext cx="71794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8" dirty="0"/>
          </a:p>
        </p:txBody>
      </p:sp>
      <p:sp>
        <p:nvSpPr>
          <p:cNvPr id="15" name="Text 10"/>
          <p:cNvSpPr/>
          <p:nvPr/>
        </p:nvSpPr>
        <p:spPr>
          <a:xfrm>
            <a:off x="3350419" y="2077045"/>
            <a:ext cx="7179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(14-16)</a:t>
            </a:r>
            <a:endParaRPr lang="en-US" sz="683" dirty="0"/>
          </a:p>
        </p:txBody>
      </p:sp>
      <p:sp>
        <p:nvSpPr>
          <p:cNvPr id="16" name="Shape 11"/>
          <p:cNvSpPr/>
          <p:nvPr/>
        </p:nvSpPr>
        <p:spPr>
          <a:xfrm>
            <a:off x="4700588" y="1609130"/>
            <a:ext cx="1793081" cy="7715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79181" y="1787723"/>
            <a:ext cx="414338" cy="414338"/>
          </a:xfrm>
          <a:prstGeom prst="rect">
            <a:avLst/>
          </a:prstGeom>
          <a:solidFill>
            <a:srgbClr val="F97316">
              <a:alpha val="10000"/>
            </a:srgbClr>
          </a:solidFill>
          <a:ln w="9144">
            <a:solidFill>
              <a:srgbClr val="F97316">
                <a:alpha val="2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481" y="1909167"/>
            <a:ext cx="171450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22106" y="1791295"/>
            <a:ext cx="7125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808" dirty="0"/>
          </a:p>
        </p:txBody>
      </p:sp>
      <p:sp>
        <p:nvSpPr>
          <p:cNvPr id="20" name="Text 14"/>
          <p:cNvSpPr/>
          <p:nvPr/>
        </p:nvSpPr>
        <p:spPr>
          <a:xfrm>
            <a:off x="5422106" y="2077045"/>
            <a:ext cx="71258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TYPES</a:t>
            </a:r>
            <a:endParaRPr lang="en-US" sz="683" dirty="0"/>
          </a:p>
        </p:txBody>
      </p:sp>
      <p:sp>
        <p:nvSpPr>
          <p:cNvPr id="21" name="Shape 15"/>
          <p:cNvSpPr/>
          <p:nvPr/>
        </p:nvSpPr>
        <p:spPr>
          <a:xfrm>
            <a:off x="6775847" y="1609130"/>
            <a:ext cx="1796653" cy="7715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958013" y="1780580"/>
            <a:ext cx="414338" cy="414338"/>
          </a:xfrm>
          <a:prstGeom prst="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>
                <a:alpha val="20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597" y="1898452"/>
            <a:ext cx="192881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00938" y="1780580"/>
            <a:ext cx="6179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8" dirty="0"/>
          </a:p>
        </p:txBody>
      </p:sp>
      <p:sp>
        <p:nvSpPr>
          <p:cNvPr id="25" name="Text 18"/>
          <p:cNvSpPr/>
          <p:nvPr/>
        </p:nvSpPr>
        <p:spPr>
          <a:xfrm>
            <a:off x="7500938" y="2066330"/>
            <a:ext cx="61793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PROD. LINES</a:t>
            </a:r>
            <a:endParaRPr lang="en-US" sz="683" dirty="0"/>
          </a:p>
        </p:txBody>
      </p:sp>
      <p:sp>
        <p:nvSpPr>
          <p:cNvPr id="26" name="Text 19"/>
          <p:cNvSpPr/>
          <p:nvPr/>
        </p:nvSpPr>
        <p:spPr>
          <a:xfrm>
            <a:off x="571500" y="2791420"/>
            <a:ext cx="5339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14</a:t>
            </a:r>
            <a:endParaRPr lang="en-US" sz="885" dirty="0"/>
          </a:p>
        </p:txBody>
      </p:sp>
      <p:sp>
        <p:nvSpPr>
          <p:cNvPr id="27" name="Shape 20"/>
          <p:cNvSpPr/>
          <p:nvPr/>
        </p:nvSpPr>
        <p:spPr>
          <a:xfrm>
            <a:off x="2530060" y="2787848"/>
            <a:ext cx="517922" cy="162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1"/>
          <p:cNvSpPr/>
          <p:nvPr/>
        </p:nvSpPr>
        <p:spPr>
          <a:xfrm>
            <a:off x="2530060" y="2787848"/>
            <a:ext cx="517922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2026</a:t>
            </a:r>
            <a:endParaRPr lang="en-US" sz="584" dirty="0"/>
          </a:p>
        </p:txBody>
      </p:sp>
      <p:sp>
        <p:nvSpPr>
          <p:cNvPr id="29" name="Text 22"/>
          <p:cNvSpPr/>
          <p:nvPr/>
        </p:nvSpPr>
        <p:spPr>
          <a:xfrm>
            <a:off x="571500" y="3221831"/>
            <a:ext cx="35540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727" dirty="0"/>
          </a:p>
        </p:txBody>
      </p:sp>
      <p:sp>
        <p:nvSpPr>
          <p:cNvPr id="30" name="Text 23"/>
          <p:cNvSpPr/>
          <p:nvPr/>
        </p:nvSpPr>
        <p:spPr>
          <a:xfrm>
            <a:off x="2631858" y="3221831"/>
            <a:ext cx="41612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Units</a:t>
            </a:r>
            <a:endParaRPr lang="en-US" sz="683" dirty="0"/>
          </a:p>
        </p:txBody>
      </p:sp>
      <p:sp>
        <p:nvSpPr>
          <p:cNvPr id="31" name="Text 24"/>
          <p:cNvSpPr/>
          <p:nvPr/>
        </p:nvSpPr>
        <p:spPr>
          <a:xfrm>
            <a:off x="571500" y="3579019"/>
            <a:ext cx="171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</a:t>
            </a:r>
            <a:endParaRPr lang="en-US" sz="727" dirty="0"/>
          </a:p>
        </p:txBody>
      </p:sp>
      <p:sp>
        <p:nvSpPr>
          <p:cNvPr id="32" name="Text 25"/>
          <p:cNvSpPr/>
          <p:nvPr/>
        </p:nvSpPr>
        <p:spPr>
          <a:xfrm>
            <a:off x="2547919" y="3579019"/>
            <a:ext cx="5000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Models</a:t>
            </a:r>
            <a:endParaRPr lang="en-US" sz="683" dirty="0"/>
          </a:p>
        </p:txBody>
      </p:sp>
      <p:sp>
        <p:nvSpPr>
          <p:cNvPr id="33" name="Shape 26"/>
          <p:cNvSpPr/>
          <p:nvPr/>
        </p:nvSpPr>
        <p:spPr>
          <a:xfrm>
            <a:off x="571500" y="3964781"/>
            <a:ext cx="2476481" cy="57970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57225" y="4050506"/>
            <a:ext cx="230503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</a:t>
            </a:r>
            <a:endParaRPr lang="en-US" sz="584" dirty="0"/>
          </a:p>
        </p:txBody>
      </p:sp>
      <p:sp>
        <p:nvSpPr>
          <p:cNvPr id="35" name="Text 28"/>
          <p:cNvSpPr/>
          <p:nvPr/>
        </p:nvSpPr>
        <p:spPr>
          <a:xfrm>
            <a:off x="657225" y="4184452"/>
            <a:ext cx="230503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production mix. Baseline for testing balance logic.</a:t>
            </a:r>
            <a:endParaRPr lang="en-US" sz="674" dirty="0"/>
          </a:p>
        </p:txBody>
      </p:sp>
      <p:sp>
        <p:nvSpPr>
          <p:cNvPr id="36" name="Text 29"/>
          <p:cNvSpPr/>
          <p:nvPr/>
        </p:nvSpPr>
        <p:spPr>
          <a:xfrm>
            <a:off x="3333731" y="2791420"/>
            <a:ext cx="5268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15</a:t>
            </a:r>
            <a:endParaRPr lang="en-US" sz="885" dirty="0"/>
          </a:p>
        </p:txBody>
      </p:sp>
      <p:sp>
        <p:nvSpPr>
          <p:cNvPr id="37" name="Shape 30"/>
          <p:cNvSpPr/>
          <p:nvPr/>
        </p:nvSpPr>
        <p:spPr>
          <a:xfrm>
            <a:off x="5292319" y="2787848"/>
            <a:ext cx="517922" cy="162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Text 31"/>
          <p:cNvSpPr/>
          <p:nvPr/>
        </p:nvSpPr>
        <p:spPr>
          <a:xfrm>
            <a:off x="5292319" y="2787848"/>
            <a:ext cx="517922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2026</a:t>
            </a:r>
            <a:endParaRPr lang="en-US" sz="584" dirty="0"/>
          </a:p>
        </p:txBody>
      </p:sp>
      <p:sp>
        <p:nvSpPr>
          <p:cNvPr id="39" name="Text 32"/>
          <p:cNvSpPr/>
          <p:nvPr/>
        </p:nvSpPr>
        <p:spPr>
          <a:xfrm>
            <a:off x="3333731" y="3221831"/>
            <a:ext cx="35540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727" dirty="0"/>
          </a:p>
        </p:txBody>
      </p:sp>
      <p:sp>
        <p:nvSpPr>
          <p:cNvPr id="40" name="Text 33"/>
          <p:cNvSpPr/>
          <p:nvPr/>
        </p:nvSpPr>
        <p:spPr>
          <a:xfrm>
            <a:off x="5394117" y="3221831"/>
            <a:ext cx="41612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Units</a:t>
            </a:r>
            <a:endParaRPr lang="en-US" sz="683" dirty="0"/>
          </a:p>
        </p:txBody>
      </p:sp>
      <p:sp>
        <p:nvSpPr>
          <p:cNvPr id="41" name="Text 34"/>
          <p:cNvSpPr/>
          <p:nvPr/>
        </p:nvSpPr>
        <p:spPr>
          <a:xfrm>
            <a:off x="3333731" y="3579019"/>
            <a:ext cx="171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</a:t>
            </a:r>
            <a:endParaRPr lang="en-US" sz="727" dirty="0"/>
          </a:p>
        </p:txBody>
      </p:sp>
      <p:sp>
        <p:nvSpPr>
          <p:cNvPr id="42" name="Text 35"/>
          <p:cNvSpPr/>
          <p:nvPr/>
        </p:nvSpPr>
        <p:spPr>
          <a:xfrm>
            <a:off x="5310178" y="3579019"/>
            <a:ext cx="5000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Models</a:t>
            </a:r>
            <a:endParaRPr lang="en-US" sz="683" dirty="0"/>
          </a:p>
        </p:txBody>
      </p:sp>
      <p:sp>
        <p:nvSpPr>
          <p:cNvPr id="43" name="Shape 36"/>
          <p:cNvSpPr/>
          <p:nvPr/>
        </p:nvSpPr>
        <p:spPr>
          <a:xfrm>
            <a:off x="3333731" y="3964781"/>
            <a:ext cx="2476509" cy="579704"/>
          </a:xfrm>
          <a:prstGeom prst="rect">
            <a:avLst/>
          </a:prstGeom>
          <a:solidFill>
            <a:srgbClr val="D946EF">
              <a:alpha val="5000"/>
            </a:srgbClr>
          </a:solidFill>
          <a:ln w="9144">
            <a:solidFill>
              <a:srgbClr val="D946EF">
                <a:alpha val="30000"/>
              </a:srgbClr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419456" y="4050506"/>
            <a:ext cx="230505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879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CONSTRAINTS</a:t>
            </a:r>
            <a:endParaRPr lang="en-US" sz="584" dirty="0"/>
          </a:p>
        </p:txBody>
      </p:sp>
      <p:sp>
        <p:nvSpPr>
          <p:cNvPr id="45" name="Text 38"/>
          <p:cNvSpPr/>
          <p:nvPr/>
        </p:nvSpPr>
        <p:spPr>
          <a:xfrm>
            <a:off x="3419456" y="4184452"/>
            <a:ext cx="230505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Refuse Stock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(Friday priority) and Rear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Loader spacing.</a:t>
            </a:r>
            <a:endParaRPr lang="en-US" sz="674" dirty="0"/>
          </a:p>
        </p:txBody>
      </p:sp>
      <p:sp>
        <p:nvSpPr>
          <p:cNvPr id="46" name="Text 39"/>
          <p:cNvSpPr/>
          <p:nvPr/>
        </p:nvSpPr>
        <p:spPr>
          <a:xfrm>
            <a:off x="6095991" y="2791420"/>
            <a:ext cx="5304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16</a:t>
            </a:r>
            <a:endParaRPr lang="en-US" sz="885" dirty="0"/>
          </a:p>
        </p:txBody>
      </p:sp>
      <p:sp>
        <p:nvSpPr>
          <p:cNvPr id="47" name="Shape 40"/>
          <p:cNvSpPr/>
          <p:nvPr/>
        </p:nvSpPr>
        <p:spPr>
          <a:xfrm>
            <a:off x="8054550" y="2787848"/>
            <a:ext cx="517922" cy="162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" name="Text 41"/>
          <p:cNvSpPr/>
          <p:nvPr/>
        </p:nvSpPr>
        <p:spPr>
          <a:xfrm>
            <a:off x="8054550" y="2787848"/>
            <a:ext cx="517922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2026</a:t>
            </a:r>
            <a:endParaRPr lang="en-US" sz="584" dirty="0"/>
          </a:p>
        </p:txBody>
      </p:sp>
      <p:sp>
        <p:nvSpPr>
          <p:cNvPr id="49" name="Text 42"/>
          <p:cNvSpPr/>
          <p:nvPr/>
        </p:nvSpPr>
        <p:spPr>
          <a:xfrm>
            <a:off x="6095991" y="3221831"/>
            <a:ext cx="35540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727" dirty="0"/>
          </a:p>
        </p:txBody>
      </p:sp>
      <p:sp>
        <p:nvSpPr>
          <p:cNvPr id="50" name="Text 43"/>
          <p:cNvSpPr/>
          <p:nvPr/>
        </p:nvSpPr>
        <p:spPr>
          <a:xfrm>
            <a:off x="8159921" y="3221831"/>
            <a:ext cx="4125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 Units</a:t>
            </a:r>
            <a:endParaRPr lang="en-US" sz="683" dirty="0"/>
          </a:p>
        </p:txBody>
      </p:sp>
      <p:sp>
        <p:nvSpPr>
          <p:cNvPr id="51" name="Text 44"/>
          <p:cNvSpPr/>
          <p:nvPr/>
        </p:nvSpPr>
        <p:spPr>
          <a:xfrm>
            <a:off x="6095991" y="3579019"/>
            <a:ext cx="171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</a:t>
            </a:r>
            <a:endParaRPr lang="en-US" sz="727" dirty="0"/>
          </a:p>
        </p:txBody>
      </p:sp>
      <p:sp>
        <p:nvSpPr>
          <p:cNvPr id="52" name="Text 45"/>
          <p:cNvSpPr/>
          <p:nvPr/>
        </p:nvSpPr>
        <p:spPr>
          <a:xfrm>
            <a:off x="8093841" y="3579019"/>
            <a:ext cx="4786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Models</a:t>
            </a:r>
            <a:endParaRPr lang="en-US" sz="683" dirty="0"/>
          </a:p>
        </p:txBody>
      </p:sp>
      <p:sp>
        <p:nvSpPr>
          <p:cNvPr id="53" name="Shape 46"/>
          <p:cNvSpPr/>
          <p:nvPr/>
        </p:nvSpPr>
        <p:spPr>
          <a:xfrm>
            <a:off x="6095991" y="3964781"/>
            <a:ext cx="2476481" cy="579704"/>
          </a:xfrm>
          <a:prstGeom prst="rect">
            <a:avLst/>
          </a:prstGeom>
          <a:solidFill>
            <a:srgbClr val="10B981">
              <a:alpha val="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6181716" y="4050506"/>
            <a:ext cx="230503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584" dirty="0"/>
          </a:p>
        </p:txBody>
      </p:sp>
      <p:sp>
        <p:nvSpPr>
          <p:cNvPr id="55" name="Text 48"/>
          <p:cNvSpPr/>
          <p:nvPr/>
        </p:nvSpPr>
        <p:spPr>
          <a:xfrm>
            <a:off x="6181716" y="4184452"/>
            <a:ext cx="230503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Volume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(+6%). Requires tighter packing and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 spacing.</a:t>
            </a:r>
            <a:endParaRPr lang="en-US" sz="634" dirty="0"/>
          </a:p>
        </p:txBody>
      </p:sp>
      <p:sp>
        <p:nvSpPr>
          <p:cNvPr id="56" name="Text 49"/>
          <p:cNvSpPr/>
          <p:nvPr/>
        </p:nvSpPr>
        <p:spPr>
          <a:xfrm>
            <a:off x="6434733" y="4823817"/>
            <a:ext cx="2137767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Source: daily_tactical_scheduler_v2_2_2026.csv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500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64431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Steps from Data to Optimal Schedule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571500" y="2034183"/>
            <a:ext cx="2135981" cy="226099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91844" y="1927027"/>
            <a:ext cx="285750" cy="2857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1491844" y="192702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1341825" y="2327077"/>
            <a:ext cx="585788" cy="585788"/>
          </a:xfrm>
          <a:prstGeom prst="ellipse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78" y="2491383"/>
            <a:ext cx="192881" cy="257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0901" y="3077170"/>
            <a:ext cx="108763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Demand</a:t>
            </a:r>
            <a:endParaRPr lang="en-US" sz="1090" dirty="0"/>
          </a:p>
        </p:txBody>
      </p:sp>
      <p:sp>
        <p:nvSpPr>
          <p:cNvPr id="13" name="Text 9"/>
          <p:cNvSpPr/>
          <p:nvPr/>
        </p:nvSpPr>
        <p:spPr>
          <a:xfrm>
            <a:off x="742950" y="3352205"/>
            <a:ext cx="178356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production orders (CSV) with model, line, and constraint flags. System auto-groups by Exit Factory Year &amp; Week.</a:t>
            </a:r>
            <a:endParaRPr lang="en-US" sz="78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716" y="3033415"/>
            <a:ext cx="225028" cy="25717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494494" y="2034183"/>
            <a:ext cx="2140753" cy="226099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421953" y="1927027"/>
            <a:ext cx="285750" cy="2857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2"/>
          <p:cNvSpPr/>
          <p:nvPr/>
        </p:nvSpPr>
        <p:spPr>
          <a:xfrm>
            <a:off x="4421953" y="192702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85" dirty="0"/>
          </a:p>
        </p:txBody>
      </p:sp>
      <p:sp>
        <p:nvSpPr>
          <p:cNvPr id="18" name="Shape 13"/>
          <p:cNvSpPr/>
          <p:nvPr/>
        </p:nvSpPr>
        <p:spPr>
          <a:xfrm>
            <a:off x="4271935" y="2327077"/>
            <a:ext cx="585788" cy="585788"/>
          </a:xfrm>
          <a:prstGeom prst="ellipse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241" y="2491383"/>
            <a:ext cx="257175" cy="2571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60276" y="3077170"/>
            <a:ext cx="140910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Constraints</a:t>
            </a:r>
            <a:endParaRPr lang="en-US" sz="1090" dirty="0"/>
          </a:p>
        </p:txBody>
      </p:sp>
      <p:sp>
        <p:nvSpPr>
          <p:cNvPr id="21" name="Text 15"/>
          <p:cNvSpPr/>
          <p:nvPr/>
        </p:nvSpPr>
        <p:spPr>
          <a:xfrm>
            <a:off x="3670688" y="3352205"/>
            <a:ext cx="178830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Solver enforces 4 special rules (spacing, day preferences) plus balance objectives (Alpha, Beta) via CP-SAT.</a:t>
            </a:r>
            <a:endParaRPr lang="en-US" sz="78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97" y="3033415"/>
            <a:ext cx="225028" cy="25717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426975" y="1953816"/>
            <a:ext cx="2145497" cy="242173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361634" y="1846659"/>
            <a:ext cx="285750" cy="2857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18"/>
          <p:cNvSpPr/>
          <p:nvPr/>
        </p:nvSpPr>
        <p:spPr>
          <a:xfrm>
            <a:off x="7361634" y="184665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85" dirty="0"/>
          </a:p>
        </p:txBody>
      </p:sp>
      <p:sp>
        <p:nvSpPr>
          <p:cNvPr id="26" name="Shape 19"/>
          <p:cNvSpPr/>
          <p:nvPr/>
        </p:nvSpPr>
        <p:spPr>
          <a:xfrm>
            <a:off x="7211616" y="2246709"/>
            <a:ext cx="585788" cy="585788"/>
          </a:xfrm>
          <a:prstGeom prst="ellipse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922" y="2411016"/>
            <a:ext cx="257175" cy="2571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40141" y="2996803"/>
            <a:ext cx="132873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 &amp; Visualize</a:t>
            </a:r>
            <a:endParaRPr lang="en-US" sz="1090" dirty="0"/>
          </a:p>
        </p:txBody>
      </p:sp>
      <p:sp>
        <p:nvSpPr>
          <p:cNvPr id="29" name="Text 21"/>
          <p:cNvSpPr/>
          <p:nvPr/>
        </p:nvSpPr>
        <p:spPr>
          <a:xfrm>
            <a:off x="6607969" y="3271838"/>
            <a:ext cx="1793081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CP-SAT engine finds the optimal </a:t>
            </a:r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in </a:t>
            </a:r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&lt;10 seconds</a:t>
            </a:r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 displays </a:t>
            </a:r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with heatmaps and </a:t>
            </a:r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reports.</a:t>
            </a:r>
            <a:endParaRPr lang="en-US" sz="780" dirty="0"/>
          </a:p>
        </p:txBody>
      </p:sp>
      <p:sp>
        <p:nvSpPr>
          <p:cNvPr id="30" name="Text 22"/>
          <p:cNvSpPr/>
          <p:nvPr/>
        </p:nvSpPr>
        <p:spPr>
          <a:xfrm>
            <a:off x="7768828" y="4823817"/>
            <a:ext cx="80367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Optimizer Workflow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500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64431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Constraint Engine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571500" y="1521619"/>
            <a:ext cx="3857625" cy="149483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521619"/>
            <a:ext cx="28575" cy="148054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1750219"/>
            <a:ext cx="414338" cy="41433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9" y="1864519"/>
            <a:ext cx="214313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750219"/>
            <a:ext cx="28289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Rear Loader 2512</a:t>
            </a:r>
            <a:endParaRPr lang="en-US" sz="1090" dirty="0"/>
          </a:p>
        </p:txBody>
      </p:sp>
      <p:sp>
        <p:nvSpPr>
          <p:cNvPr id="12" name="Text 8"/>
          <p:cNvSpPr/>
          <p:nvPr/>
        </p:nvSpPr>
        <p:spPr>
          <a:xfrm>
            <a:off x="1371600" y="1996678"/>
            <a:ext cx="28289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Max 1 unit per day.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Evenly spaced across the week (e.g., Mon,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Wed, Fri) to prevent assembly line congestion.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1371600" y="2596753"/>
            <a:ext cx="1073348" cy="176808"/>
          </a:xfrm>
          <a:prstGeom prst="rect">
            <a:avLst/>
          </a:prstGeom>
          <a:solidFill>
            <a:srgbClr val="EF4444">
              <a:alpha val="20000"/>
            </a:srgbClr>
          </a:solidFill>
          <a:ln w="9144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371600" y="2596753"/>
            <a:ext cx="1073348" cy="17680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CONSTRAINT</a:t>
            </a:r>
            <a:endParaRPr lang="en-US" sz="584" dirty="0"/>
          </a:p>
        </p:txBody>
      </p:sp>
      <p:sp>
        <p:nvSpPr>
          <p:cNvPr id="15" name="Shape 11"/>
          <p:cNvSpPr/>
          <p:nvPr/>
        </p:nvSpPr>
        <p:spPr>
          <a:xfrm>
            <a:off x="4714875" y="1521619"/>
            <a:ext cx="3857625" cy="149483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14875" y="1521619"/>
            <a:ext cx="28575" cy="148054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3"/>
          <p:cNvSpPr/>
          <p:nvPr/>
        </p:nvSpPr>
        <p:spPr>
          <a:xfrm>
            <a:off x="4943475" y="1750219"/>
            <a:ext cx="414338" cy="41433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491" y="1864519"/>
            <a:ext cx="150019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14975" y="1750219"/>
            <a:ext cx="28289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Rear Loader (PKRRLSB)</a:t>
            </a:r>
            <a:endParaRPr lang="en-US" sz="1090" dirty="0"/>
          </a:p>
        </p:txBody>
      </p:sp>
      <p:sp>
        <p:nvSpPr>
          <p:cNvPr id="20" name="Text 15"/>
          <p:cNvSpPr/>
          <p:nvPr/>
        </p:nvSpPr>
        <p:spPr>
          <a:xfrm>
            <a:off x="5514975" y="1996678"/>
            <a:ext cx="28289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Specific day preference.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Prioritize scheduling on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 &amp; Thursday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align with batch processing cycles.</a:t>
            </a:r>
            <a:endParaRPr lang="en-US" sz="784" dirty="0"/>
          </a:p>
        </p:txBody>
      </p:sp>
      <p:sp>
        <p:nvSpPr>
          <p:cNvPr id="21" name="Shape 16"/>
          <p:cNvSpPr/>
          <p:nvPr/>
        </p:nvSpPr>
        <p:spPr>
          <a:xfrm>
            <a:off x="5514975" y="2596753"/>
            <a:ext cx="1039416" cy="176808"/>
          </a:xfrm>
          <a:prstGeom prst="rect">
            <a:avLst/>
          </a:prstGeom>
          <a:solidFill>
            <a:srgbClr val="F97316">
              <a:alpha val="20000"/>
            </a:srgbClr>
          </a:solidFill>
          <a:ln w="9144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514975" y="2596753"/>
            <a:ext cx="1039416" cy="17680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DBA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PREFERENCE</a:t>
            </a:r>
            <a:endParaRPr lang="en-US" sz="584" dirty="0"/>
          </a:p>
        </p:txBody>
      </p:sp>
      <p:sp>
        <p:nvSpPr>
          <p:cNvPr id="23" name="Shape 18"/>
          <p:cNvSpPr/>
          <p:nvPr/>
        </p:nvSpPr>
        <p:spPr>
          <a:xfrm>
            <a:off x="571500" y="3302198"/>
            <a:ext cx="3857625" cy="149483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71500" y="3302198"/>
            <a:ext cx="28575" cy="148054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Shape 20"/>
          <p:cNvSpPr/>
          <p:nvPr/>
        </p:nvSpPr>
        <p:spPr>
          <a:xfrm>
            <a:off x="800100" y="3530798"/>
            <a:ext cx="414338" cy="41433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84" y="3645098"/>
            <a:ext cx="192881" cy="1714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71600" y="3530798"/>
            <a:ext cx="28289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Side Loader (PKRML)</a:t>
            </a:r>
            <a:endParaRPr lang="en-US" sz="1090" dirty="0"/>
          </a:p>
        </p:txBody>
      </p:sp>
      <p:sp>
        <p:nvSpPr>
          <p:cNvPr id="28" name="Text 22"/>
          <p:cNvSpPr/>
          <p:nvPr/>
        </p:nvSpPr>
        <p:spPr>
          <a:xfrm>
            <a:off x="1371600" y="3777258"/>
            <a:ext cx="28289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Specific day preference.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Prioritize scheduling on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 &amp; Thursday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match specialized labor availability.</a:t>
            </a:r>
            <a:endParaRPr lang="en-US" sz="784" dirty="0"/>
          </a:p>
        </p:txBody>
      </p:sp>
      <p:sp>
        <p:nvSpPr>
          <p:cNvPr id="29" name="Shape 23"/>
          <p:cNvSpPr/>
          <p:nvPr/>
        </p:nvSpPr>
        <p:spPr>
          <a:xfrm>
            <a:off x="1371600" y="4377333"/>
            <a:ext cx="1039416" cy="176808"/>
          </a:xfrm>
          <a:prstGeom prst="rect">
            <a:avLst/>
          </a:prstGeom>
          <a:solidFill>
            <a:srgbClr val="0EA5E9">
              <a:alpha val="20000"/>
            </a:srgbClr>
          </a:solidFill>
          <a:ln w="9144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371600" y="4377333"/>
            <a:ext cx="1039416" cy="17680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PREFERENCE</a:t>
            </a:r>
            <a:endParaRPr lang="en-US" sz="584" dirty="0"/>
          </a:p>
        </p:txBody>
      </p:sp>
      <p:sp>
        <p:nvSpPr>
          <p:cNvPr id="31" name="Shape 25"/>
          <p:cNvSpPr/>
          <p:nvPr/>
        </p:nvSpPr>
        <p:spPr>
          <a:xfrm>
            <a:off x="4714875" y="3302198"/>
            <a:ext cx="3857625" cy="149483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714875" y="3287911"/>
            <a:ext cx="28575" cy="148054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27"/>
          <p:cNvSpPr/>
          <p:nvPr/>
        </p:nvSpPr>
        <p:spPr>
          <a:xfrm>
            <a:off x="4943475" y="3516511"/>
            <a:ext cx="414338" cy="41433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344" y="3630811"/>
            <a:ext cx="214313" cy="17145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514975" y="3516511"/>
            <a:ext cx="28289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Refuse Stock</a:t>
            </a:r>
            <a:endParaRPr lang="en-US" sz="1090" dirty="0"/>
          </a:p>
        </p:txBody>
      </p:sp>
      <p:sp>
        <p:nvSpPr>
          <p:cNvPr id="36" name="Text 29"/>
          <p:cNvSpPr/>
          <p:nvPr/>
        </p:nvSpPr>
        <p:spPr>
          <a:xfrm>
            <a:off x="5514975" y="3762970"/>
            <a:ext cx="28289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End-of-week priority.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Prioritize scheduling on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ensure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shipping to the Distribution Center.</a:t>
            </a:r>
            <a:endParaRPr lang="en-US" sz="784" dirty="0"/>
          </a:p>
        </p:txBody>
      </p:sp>
      <p:sp>
        <p:nvSpPr>
          <p:cNvPr id="37" name="Shape 30"/>
          <p:cNvSpPr/>
          <p:nvPr/>
        </p:nvSpPr>
        <p:spPr>
          <a:xfrm>
            <a:off x="5514975" y="4363045"/>
            <a:ext cx="1039416" cy="176808"/>
          </a:xfrm>
          <a:prstGeom prst="rect">
            <a:avLst/>
          </a:prstGeom>
          <a:solidFill>
            <a:srgbClr val="10B981">
              <a:alpha val="2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514975" y="4363045"/>
            <a:ext cx="1039416" cy="17680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PREFERENCE</a:t>
            </a:r>
            <a:endParaRPr lang="en-US" sz="584" dirty="0"/>
          </a:p>
        </p:txBody>
      </p:sp>
      <p:sp>
        <p:nvSpPr>
          <p:cNvPr id="39" name="Text 32"/>
          <p:cNvSpPr/>
          <p:nvPr/>
        </p:nvSpPr>
        <p:spPr>
          <a:xfrm>
            <a:off x="7518797" y="4823817"/>
            <a:ext cx="105370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the Solver Respects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OVERVIEW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823317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16 Results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523405"/>
            <a:ext cx="8001000" cy="1021556"/>
          </a:xfrm>
          <a:prstGeom prst="rect">
            <a:avLst/>
          </a:prstGeom>
          <a:solidFill>
            <a:srgbClr val="10B981">
              <a:alpha val="10000"/>
            </a:srgbClr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" y="1791295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905595"/>
            <a:ext cx="20002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8750" y="1789509"/>
            <a:ext cx="314860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Solution Found</a:t>
            </a:r>
            <a:endParaRPr lang="en-US" sz="1602" dirty="0"/>
          </a:p>
        </p:txBody>
      </p:sp>
      <p:sp>
        <p:nvSpPr>
          <p:cNvPr id="9" name="Text 5"/>
          <p:cNvSpPr/>
          <p:nvPr/>
        </p:nvSpPr>
        <p:spPr>
          <a:xfrm>
            <a:off x="1428750" y="2094905"/>
            <a:ext cx="31486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constraints satisfied. Global minimum imbalance.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7308056" y="1752005"/>
            <a:ext cx="103584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2436" dirty="0"/>
          </a:p>
        </p:txBody>
      </p:sp>
      <p:sp>
        <p:nvSpPr>
          <p:cNvPr id="11" name="Text 7"/>
          <p:cNvSpPr/>
          <p:nvPr/>
        </p:nvSpPr>
        <p:spPr>
          <a:xfrm>
            <a:off x="7308056" y="2166342"/>
            <a:ext cx="10358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 SCORE</a:t>
            </a:r>
            <a:endParaRPr lang="en-US" sz="683" dirty="0"/>
          </a:p>
        </p:txBody>
      </p:sp>
      <p:sp>
        <p:nvSpPr>
          <p:cNvPr id="12" name="Shape 8"/>
          <p:cNvSpPr/>
          <p:nvPr/>
        </p:nvSpPr>
        <p:spPr>
          <a:xfrm>
            <a:off x="571500" y="2945011"/>
            <a:ext cx="2476481" cy="145196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0100" y="3173611"/>
            <a:ext cx="201928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3731" dirty="0"/>
          </a:p>
        </p:txBody>
      </p:sp>
      <p:sp>
        <p:nvSpPr>
          <p:cNvPr id="14" name="Text 10"/>
          <p:cNvSpPr/>
          <p:nvPr/>
        </p:nvSpPr>
        <p:spPr>
          <a:xfrm>
            <a:off x="800100" y="3802261"/>
            <a:ext cx="20192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Units</a:t>
            </a:r>
            <a:endParaRPr lang="en-US" sz="987" dirty="0"/>
          </a:p>
        </p:txBody>
      </p:sp>
      <p:sp>
        <p:nvSpPr>
          <p:cNvPr id="15" name="Text 11"/>
          <p:cNvSpPr/>
          <p:nvPr/>
        </p:nvSpPr>
        <p:spPr>
          <a:xfrm>
            <a:off x="800100" y="4032647"/>
            <a:ext cx="20192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volume week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3333731" y="2945011"/>
            <a:ext cx="2476509" cy="145196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62331" y="3173611"/>
            <a:ext cx="201930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3731" dirty="0"/>
          </a:p>
        </p:txBody>
      </p:sp>
      <p:sp>
        <p:nvSpPr>
          <p:cNvPr id="18" name="Text 14"/>
          <p:cNvSpPr/>
          <p:nvPr/>
        </p:nvSpPr>
        <p:spPr>
          <a:xfrm>
            <a:off x="3562331" y="3802261"/>
            <a:ext cx="20193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Types</a:t>
            </a:r>
            <a:endParaRPr lang="en-US" sz="987" dirty="0"/>
          </a:p>
        </p:txBody>
      </p:sp>
      <p:sp>
        <p:nvSpPr>
          <p:cNvPr id="19" name="Text 15"/>
          <p:cNvSpPr/>
          <p:nvPr/>
        </p:nvSpPr>
        <p:spPr>
          <a:xfrm>
            <a:off x="3562331" y="4032647"/>
            <a:ext cx="20193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product mix</a:t>
            </a:r>
            <a:endParaRPr lang="en-US" sz="727" dirty="0"/>
          </a:p>
        </p:txBody>
      </p:sp>
      <p:sp>
        <p:nvSpPr>
          <p:cNvPr id="20" name="Shape 16"/>
          <p:cNvSpPr/>
          <p:nvPr/>
        </p:nvSpPr>
        <p:spPr>
          <a:xfrm>
            <a:off x="6095991" y="2945011"/>
            <a:ext cx="2476481" cy="145196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24591" y="3173611"/>
            <a:ext cx="201928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731" dirty="0"/>
          </a:p>
        </p:txBody>
      </p:sp>
      <p:sp>
        <p:nvSpPr>
          <p:cNvPr id="22" name="Text 18"/>
          <p:cNvSpPr/>
          <p:nvPr/>
        </p:nvSpPr>
        <p:spPr>
          <a:xfrm>
            <a:off x="6324591" y="3802261"/>
            <a:ext cx="20192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Lines</a:t>
            </a:r>
            <a:endParaRPr lang="en-US" sz="987" dirty="0"/>
          </a:p>
        </p:txBody>
      </p:sp>
      <p:sp>
        <p:nvSpPr>
          <p:cNvPr id="23" name="Text 19"/>
          <p:cNvSpPr/>
          <p:nvPr/>
        </p:nvSpPr>
        <p:spPr>
          <a:xfrm>
            <a:off x="6324591" y="4032647"/>
            <a:ext cx="20192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Lines 1, 2, and 3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7604522" y="4823817"/>
            <a:ext cx="96797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Solver Output Summary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0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14425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STABILITY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Leveled Daily Production Eliminates Bottlenecks</a:t>
            </a:r>
            <a:endParaRPr lang="en-US" sz="2121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00175"/>
            <a:ext cx="5048483" cy="32146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48608" y="1400175"/>
            <a:ext cx="1197639" cy="18369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5"/>
          <p:cNvSpPr/>
          <p:nvPr/>
        </p:nvSpPr>
        <p:spPr>
          <a:xfrm>
            <a:off x="6048608" y="1400175"/>
            <a:ext cx="1197639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6"/>
          <p:cNvSpPr/>
          <p:nvPr/>
        </p:nvSpPr>
        <p:spPr>
          <a:xfrm>
            <a:off x="7239102" y="1400175"/>
            <a:ext cx="7144" cy="18369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7"/>
          <p:cNvSpPr/>
          <p:nvPr/>
        </p:nvSpPr>
        <p:spPr>
          <a:xfrm>
            <a:off x="6048608" y="3229980"/>
            <a:ext cx="1197639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8"/>
          <p:cNvSpPr/>
          <p:nvPr/>
        </p:nvSpPr>
        <p:spPr>
          <a:xfrm>
            <a:off x="6048608" y="1400175"/>
            <a:ext cx="42863" cy="18369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9"/>
          <p:cNvSpPr/>
          <p:nvPr/>
        </p:nvSpPr>
        <p:spPr>
          <a:xfrm>
            <a:off x="6177195" y="1528763"/>
            <a:ext cx="94046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10.6</a:t>
            </a:r>
            <a:endParaRPr lang="en-US" sz="1602" dirty="0"/>
          </a:p>
        </p:txBody>
      </p:sp>
      <p:sp>
        <p:nvSpPr>
          <p:cNvPr id="14" name="Text 10"/>
          <p:cNvSpPr/>
          <p:nvPr/>
        </p:nvSpPr>
        <p:spPr>
          <a:xfrm>
            <a:off x="6177195" y="1834158"/>
            <a:ext cx="94046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UNITS / DAY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6177195" y="2134195"/>
            <a:ext cx="940464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Perfectly balanced workload across the week (Range: 10–11 units).</a:t>
            </a:r>
            <a:endParaRPr lang="en-US" sz="834" dirty="0"/>
          </a:p>
        </p:txBody>
      </p:sp>
      <p:sp>
        <p:nvSpPr>
          <p:cNvPr id="16" name="Shape 12"/>
          <p:cNvSpPr/>
          <p:nvPr/>
        </p:nvSpPr>
        <p:spPr>
          <a:xfrm>
            <a:off x="7374834" y="1400175"/>
            <a:ext cx="1197666" cy="139548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3"/>
          <p:cNvSpPr/>
          <p:nvPr/>
        </p:nvSpPr>
        <p:spPr>
          <a:xfrm>
            <a:off x="7374834" y="1400175"/>
            <a:ext cx="1197666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4"/>
          <p:cNvSpPr/>
          <p:nvPr/>
        </p:nvSpPr>
        <p:spPr>
          <a:xfrm>
            <a:off x="8565356" y="1400175"/>
            <a:ext cx="7144" cy="1395487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Shape 15"/>
          <p:cNvSpPr/>
          <p:nvPr/>
        </p:nvSpPr>
        <p:spPr>
          <a:xfrm>
            <a:off x="7374834" y="2788518"/>
            <a:ext cx="1197666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Shape 16"/>
          <p:cNvSpPr/>
          <p:nvPr/>
        </p:nvSpPr>
        <p:spPr>
          <a:xfrm>
            <a:off x="7374834" y="1400175"/>
            <a:ext cx="42863" cy="1395487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7"/>
          <p:cNvSpPr/>
          <p:nvPr/>
        </p:nvSpPr>
        <p:spPr>
          <a:xfrm>
            <a:off x="7503421" y="1528763"/>
            <a:ext cx="94049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02" dirty="0"/>
          </a:p>
        </p:txBody>
      </p:sp>
      <p:sp>
        <p:nvSpPr>
          <p:cNvPr id="22" name="Text 18"/>
          <p:cNvSpPr/>
          <p:nvPr/>
        </p:nvSpPr>
        <p:spPr>
          <a:xfrm>
            <a:off x="7503421" y="1834158"/>
            <a:ext cx="9404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OVERTIME RISK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7503421" y="2012752"/>
            <a:ext cx="940491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day exceeds the 12-unit capacity threshold.</a:t>
            </a:r>
            <a:endParaRPr lang="en-US" sz="834" dirty="0"/>
          </a:p>
        </p:txBody>
      </p:sp>
      <p:sp>
        <p:nvSpPr>
          <p:cNvPr id="24" name="Shape 20"/>
          <p:cNvSpPr/>
          <p:nvPr/>
        </p:nvSpPr>
        <p:spPr>
          <a:xfrm>
            <a:off x="6048608" y="3365404"/>
            <a:ext cx="2523892" cy="107546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1"/>
          <p:cNvSpPr/>
          <p:nvPr/>
        </p:nvSpPr>
        <p:spPr>
          <a:xfrm>
            <a:off x="6048608" y="3365404"/>
            <a:ext cx="2523892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Shape 22"/>
          <p:cNvSpPr/>
          <p:nvPr/>
        </p:nvSpPr>
        <p:spPr>
          <a:xfrm>
            <a:off x="8565356" y="3365404"/>
            <a:ext cx="7144" cy="107546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Shape 23"/>
          <p:cNvSpPr/>
          <p:nvPr/>
        </p:nvSpPr>
        <p:spPr>
          <a:xfrm>
            <a:off x="6048608" y="4433729"/>
            <a:ext cx="2523892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Shape 24"/>
          <p:cNvSpPr/>
          <p:nvPr/>
        </p:nvSpPr>
        <p:spPr>
          <a:xfrm>
            <a:off x="6048608" y="3365404"/>
            <a:ext cx="42863" cy="1075469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Text 25"/>
          <p:cNvSpPr/>
          <p:nvPr/>
        </p:nvSpPr>
        <p:spPr>
          <a:xfrm>
            <a:off x="6177195" y="3501135"/>
            <a:ext cx="226671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±1</a:t>
            </a:r>
            <a:endParaRPr lang="en-US" sz="1602" dirty="0"/>
          </a:p>
        </p:txBody>
      </p:sp>
      <p:sp>
        <p:nvSpPr>
          <p:cNvPr id="30" name="Text 26"/>
          <p:cNvSpPr/>
          <p:nvPr/>
        </p:nvSpPr>
        <p:spPr>
          <a:xfrm>
            <a:off x="6177195" y="3806530"/>
            <a:ext cx="226671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VARIANCE</a:t>
            </a:r>
            <a:endParaRPr lang="en-US" sz="683" dirty="0"/>
          </a:p>
        </p:txBody>
      </p:sp>
      <p:sp>
        <p:nvSpPr>
          <p:cNvPr id="31" name="Text 27"/>
          <p:cNvSpPr/>
          <p:nvPr/>
        </p:nvSpPr>
        <p:spPr>
          <a:xfrm>
            <a:off x="6177195" y="3985124"/>
            <a:ext cx="226671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rhythm ensures predictable material flow.</a:t>
            </a:r>
            <a:endParaRPr lang="en-US" sz="834" dirty="0"/>
          </a:p>
        </p:txBody>
      </p:sp>
      <p:sp>
        <p:nvSpPr>
          <p:cNvPr id="32" name="Text 28"/>
          <p:cNvSpPr/>
          <p:nvPr/>
        </p:nvSpPr>
        <p:spPr>
          <a:xfrm>
            <a:off x="7868841" y="4823817"/>
            <a:ext cx="70365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16 Analysis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0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14425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ALLOCATION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Line Utilization</a:t>
            </a:r>
            <a:endParaRPr lang="en-US" sz="2121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00175"/>
            <a:ext cx="5679281" cy="32146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9406" y="1400175"/>
            <a:ext cx="1893094" cy="10354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5"/>
          <p:cNvSpPr/>
          <p:nvPr/>
        </p:nvSpPr>
        <p:spPr>
          <a:xfrm>
            <a:off x="6679406" y="1400175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6"/>
          <p:cNvSpPr/>
          <p:nvPr/>
        </p:nvSpPr>
        <p:spPr>
          <a:xfrm>
            <a:off x="8565356" y="1400175"/>
            <a:ext cx="7144" cy="103545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7"/>
          <p:cNvSpPr/>
          <p:nvPr/>
        </p:nvSpPr>
        <p:spPr>
          <a:xfrm>
            <a:off x="6679406" y="2428484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8"/>
          <p:cNvSpPr/>
          <p:nvPr/>
        </p:nvSpPr>
        <p:spPr>
          <a:xfrm>
            <a:off x="6679406" y="1400175"/>
            <a:ext cx="42863" cy="1035453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9"/>
          <p:cNvSpPr/>
          <p:nvPr/>
        </p:nvSpPr>
        <p:spPr>
          <a:xfrm>
            <a:off x="6850856" y="1571625"/>
            <a:ext cx="15501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1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6850856" y="1807369"/>
            <a:ext cx="155019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VOLUME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6850856" y="1969889"/>
            <a:ext cx="15501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Steady flow of ~6 units/day. Handles 60% of total volume.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6679406" y="2592791"/>
            <a:ext cx="1893094" cy="10354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3"/>
          <p:cNvSpPr/>
          <p:nvPr/>
        </p:nvSpPr>
        <p:spPr>
          <a:xfrm>
            <a:off x="6679406" y="2592791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4"/>
          <p:cNvSpPr/>
          <p:nvPr/>
        </p:nvSpPr>
        <p:spPr>
          <a:xfrm>
            <a:off x="8565356" y="2592791"/>
            <a:ext cx="7144" cy="103545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Shape 15"/>
          <p:cNvSpPr/>
          <p:nvPr/>
        </p:nvSpPr>
        <p:spPr>
          <a:xfrm>
            <a:off x="6679406" y="3621100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Shape 16"/>
          <p:cNvSpPr/>
          <p:nvPr/>
        </p:nvSpPr>
        <p:spPr>
          <a:xfrm>
            <a:off x="6679406" y="2592791"/>
            <a:ext cx="42863" cy="1035453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7"/>
          <p:cNvSpPr/>
          <p:nvPr/>
        </p:nvSpPr>
        <p:spPr>
          <a:xfrm>
            <a:off x="6850856" y="2764241"/>
            <a:ext cx="15501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2</a:t>
            </a:r>
            <a:endParaRPr lang="en-US" sz="1193" dirty="0"/>
          </a:p>
        </p:txBody>
      </p:sp>
      <p:sp>
        <p:nvSpPr>
          <p:cNvPr id="22" name="Text 18"/>
          <p:cNvSpPr/>
          <p:nvPr/>
        </p:nvSpPr>
        <p:spPr>
          <a:xfrm>
            <a:off x="6850856" y="2999984"/>
            <a:ext cx="155019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SPECIALTY</a:t>
            </a:r>
            <a:endParaRPr lang="en-US" sz="584" dirty="0"/>
          </a:p>
        </p:txBody>
      </p:sp>
      <p:sp>
        <p:nvSpPr>
          <p:cNvPr id="23" name="Text 19"/>
          <p:cNvSpPr/>
          <p:nvPr/>
        </p:nvSpPr>
        <p:spPr>
          <a:xfrm>
            <a:off x="6850856" y="3162505"/>
            <a:ext cx="15501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~2 units/day. Dedicated to complex builds.</a:t>
            </a:r>
            <a:endParaRPr lang="en-US" sz="727" dirty="0"/>
          </a:p>
        </p:txBody>
      </p:sp>
      <p:sp>
        <p:nvSpPr>
          <p:cNvPr id="24" name="Shape 20"/>
          <p:cNvSpPr/>
          <p:nvPr/>
        </p:nvSpPr>
        <p:spPr>
          <a:xfrm>
            <a:off x="6679406" y="3785406"/>
            <a:ext cx="1893094" cy="10354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1"/>
          <p:cNvSpPr/>
          <p:nvPr/>
        </p:nvSpPr>
        <p:spPr>
          <a:xfrm>
            <a:off x="6679406" y="3785406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Shape 22"/>
          <p:cNvSpPr/>
          <p:nvPr/>
        </p:nvSpPr>
        <p:spPr>
          <a:xfrm>
            <a:off x="8565356" y="3785406"/>
            <a:ext cx="7144" cy="103545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Shape 23"/>
          <p:cNvSpPr/>
          <p:nvPr/>
        </p:nvSpPr>
        <p:spPr>
          <a:xfrm>
            <a:off x="6679406" y="4813715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Shape 24"/>
          <p:cNvSpPr/>
          <p:nvPr/>
        </p:nvSpPr>
        <p:spPr>
          <a:xfrm>
            <a:off x="6679406" y="3785406"/>
            <a:ext cx="42863" cy="103545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5"/>
          <p:cNvSpPr/>
          <p:nvPr/>
        </p:nvSpPr>
        <p:spPr>
          <a:xfrm>
            <a:off x="6850856" y="3956856"/>
            <a:ext cx="15501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3</a:t>
            </a:r>
            <a:endParaRPr lang="en-US" sz="1193" dirty="0"/>
          </a:p>
        </p:txBody>
      </p:sp>
      <p:sp>
        <p:nvSpPr>
          <p:cNvPr id="30" name="Text 26"/>
          <p:cNvSpPr/>
          <p:nvPr/>
        </p:nvSpPr>
        <p:spPr>
          <a:xfrm>
            <a:off x="6850856" y="4192600"/>
            <a:ext cx="155019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OPS</a:t>
            </a:r>
            <a:endParaRPr lang="en-US" sz="584" dirty="0"/>
          </a:p>
        </p:txBody>
      </p:sp>
      <p:sp>
        <p:nvSpPr>
          <p:cNvPr id="31" name="Text 27"/>
          <p:cNvSpPr/>
          <p:nvPr/>
        </p:nvSpPr>
        <p:spPr>
          <a:xfrm>
            <a:off x="6850856" y="4355120"/>
            <a:ext cx="15501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Leveled at ~3 units/day. Prevents labor bottlenecks.</a:t>
            </a:r>
            <a:endParaRPr lang="en-US" sz="727" dirty="0"/>
          </a:p>
        </p:txBody>
      </p:sp>
      <p:sp>
        <p:nvSpPr>
          <p:cNvPr id="32" name="Text 28"/>
          <p:cNvSpPr/>
          <p:nvPr/>
        </p:nvSpPr>
        <p:spPr>
          <a:xfrm>
            <a:off x="7811691" y="4823817"/>
            <a:ext cx="76080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16 Line Load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500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64431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REPORT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Constraint Compliance Achieved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571500" y="1521619"/>
            <a:ext cx="8001000" cy="1062633"/>
          </a:xfrm>
          <a:prstGeom prst="rect">
            <a:avLst/>
          </a:prstGeom>
          <a:solidFill>
            <a:srgbClr val="064E3B">
              <a:alpha val="40000"/>
            </a:srgbClr>
          </a:solidFill>
          <a:ln w="9144">
            <a:solidFill>
              <a:srgbClr val="05966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521619"/>
            <a:ext cx="42863" cy="104834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1817191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931491"/>
            <a:ext cx="200025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85900" y="1750219"/>
            <a:ext cx="6858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Rear Loader 2512 Spacing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1485900" y="2014538"/>
            <a:ext cx="148411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1485900" y="2148483"/>
            <a:ext cx="148411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1/Day · Evenly Spaced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3255764" y="2014538"/>
            <a:ext cx="133588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SCHEDULE</a:t>
            </a:r>
            <a:endParaRPr lang="en-US" sz="584" dirty="0"/>
          </a:p>
        </p:txBody>
      </p:sp>
      <p:sp>
        <p:nvSpPr>
          <p:cNvPr id="15" name="Shape 11"/>
          <p:cNvSpPr/>
          <p:nvPr/>
        </p:nvSpPr>
        <p:spPr>
          <a:xfrm>
            <a:off x="3255764" y="2148483"/>
            <a:ext cx="410766" cy="192881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55764" y="2148483"/>
            <a:ext cx="410766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</a:t>
            </a:r>
            <a:endParaRPr lang="en-US" sz="683" dirty="0"/>
          </a:p>
        </p:txBody>
      </p:sp>
      <p:sp>
        <p:nvSpPr>
          <p:cNvPr id="17" name="Shape 13"/>
          <p:cNvSpPr/>
          <p:nvPr/>
        </p:nvSpPr>
        <p:spPr>
          <a:xfrm>
            <a:off x="3737967" y="2148483"/>
            <a:ext cx="382191" cy="192881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737967" y="2148483"/>
            <a:ext cx="382191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4191595" y="2148483"/>
            <a:ext cx="314325" cy="192881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91595" y="2148483"/>
            <a:ext cx="314325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571500" y="2769989"/>
            <a:ext cx="8001000" cy="1062633"/>
          </a:xfrm>
          <a:prstGeom prst="rect">
            <a:avLst/>
          </a:prstGeom>
          <a:solidFill>
            <a:srgbClr val="064E3B">
              <a:alpha val="40000"/>
            </a:srgbClr>
          </a:solidFill>
          <a:ln w="9144">
            <a:solidFill>
              <a:srgbClr val="05966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1500" y="2769989"/>
            <a:ext cx="42863" cy="104834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19"/>
          <p:cNvSpPr/>
          <p:nvPr/>
        </p:nvSpPr>
        <p:spPr>
          <a:xfrm>
            <a:off x="800100" y="306556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8" y="3179862"/>
            <a:ext cx="200025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85900" y="2998589"/>
            <a:ext cx="6858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Rear Loader (PKRRLSB) Preference</a:t>
            </a:r>
            <a:endParaRPr lang="en-US" sz="1193" dirty="0"/>
          </a:p>
        </p:txBody>
      </p:sp>
      <p:sp>
        <p:nvSpPr>
          <p:cNvPr id="26" name="Text 21"/>
          <p:cNvSpPr/>
          <p:nvPr/>
        </p:nvSpPr>
        <p:spPr>
          <a:xfrm>
            <a:off x="1485900" y="3262908"/>
            <a:ext cx="110370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</a:t>
            </a:r>
            <a:endParaRPr lang="en-US" sz="584" dirty="0"/>
          </a:p>
        </p:txBody>
      </p:sp>
      <p:sp>
        <p:nvSpPr>
          <p:cNvPr id="27" name="Text 22"/>
          <p:cNvSpPr/>
          <p:nvPr/>
        </p:nvSpPr>
        <p:spPr>
          <a:xfrm>
            <a:off x="1485900" y="3396853"/>
            <a:ext cx="11037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Preferred: Tue / Thu</a:t>
            </a:r>
            <a:endParaRPr lang="en-US" sz="784" dirty="0"/>
          </a:p>
        </p:txBody>
      </p:sp>
      <p:sp>
        <p:nvSpPr>
          <p:cNvPr id="28" name="Text 23"/>
          <p:cNvSpPr/>
          <p:nvPr/>
        </p:nvSpPr>
        <p:spPr>
          <a:xfrm>
            <a:off x="2875359" y="3262908"/>
            <a:ext cx="83046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SCHEDULE</a:t>
            </a:r>
            <a:endParaRPr lang="en-US" sz="584" dirty="0"/>
          </a:p>
        </p:txBody>
      </p:sp>
      <p:sp>
        <p:nvSpPr>
          <p:cNvPr id="29" name="Shape 24"/>
          <p:cNvSpPr/>
          <p:nvPr/>
        </p:nvSpPr>
        <p:spPr>
          <a:xfrm>
            <a:off x="2875359" y="3396853"/>
            <a:ext cx="371475" cy="192881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875359" y="3396853"/>
            <a:ext cx="371475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</a:t>
            </a:r>
            <a:endParaRPr lang="en-US" sz="683" dirty="0"/>
          </a:p>
        </p:txBody>
      </p:sp>
      <p:sp>
        <p:nvSpPr>
          <p:cNvPr id="31" name="Shape 26"/>
          <p:cNvSpPr/>
          <p:nvPr/>
        </p:nvSpPr>
        <p:spPr>
          <a:xfrm>
            <a:off x="571500" y="4018359"/>
            <a:ext cx="8001000" cy="1062633"/>
          </a:xfrm>
          <a:prstGeom prst="rect">
            <a:avLst/>
          </a:prstGeom>
          <a:solidFill>
            <a:srgbClr val="064E3B">
              <a:alpha val="40000"/>
            </a:srgbClr>
          </a:solidFill>
          <a:ln w="9144">
            <a:solidFill>
              <a:srgbClr val="05966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71500" y="4018359"/>
            <a:ext cx="42863" cy="104834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28"/>
          <p:cNvSpPr/>
          <p:nvPr/>
        </p:nvSpPr>
        <p:spPr>
          <a:xfrm>
            <a:off x="800100" y="431393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4428232"/>
            <a:ext cx="200025" cy="2286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485900" y="4246959"/>
            <a:ext cx="6858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Side Loader (PKRML) Preference</a:t>
            </a:r>
            <a:endParaRPr lang="en-US" sz="1193" dirty="0"/>
          </a:p>
        </p:txBody>
      </p:sp>
      <p:sp>
        <p:nvSpPr>
          <p:cNvPr id="36" name="Text 30"/>
          <p:cNvSpPr/>
          <p:nvPr/>
        </p:nvSpPr>
        <p:spPr>
          <a:xfrm>
            <a:off x="1485900" y="4511278"/>
            <a:ext cx="110370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</a:t>
            </a:r>
            <a:endParaRPr lang="en-US" sz="584" dirty="0"/>
          </a:p>
        </p:txBody>
      </p:sp>
      <p:sp>
        <p:nvSpPr>
          <p:cNvPr id="37" name="Text 31"/>
          <p:cNvSpPr/>
          <p:nvPr/>
        </p:nvSpPr>
        <p:spPr>
          <a:xfrm>
            <a:off x="1485900" y="4645223"/>
            <a:ext cx="11037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Preferred: Tue / Thu</a:t>
            </a:r>
            <a:endParaRPr lang="en-US" sz="784" dirty="0"/>
          </a:p>
        </p:txBody>
      </p:sp>
      <p:sp>
        <p:nvSpPr>
          <p:cNvPr id="38" name="Text 32"/>
          <p:cNvSpPr/>
          <p:nvPr/>
        </p:nvSpPr>
        <p:spPr>
          <a:xfrm>
            <a:off x="2875359" y="4511278"/>
            <a:ext cx="83046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SCHEDULE</a:t>
            </a:r>
            <a:endParaRPr lang="en-US" sz="584" dirty="0"/>
          </a:p>
        </p:txBody>
      </p:sp>
      <p:sp>
        <p:nvSpPr>
          <p:cNvPr id="39" name="Shape 33"/>
          <p:cNvSpPr/>
          <p:nvPr/>
        </p:nvSpPr>
        <p:spPr>
          <a:xfrm>
            <a:off x="2875359" y="4645223"/>
            <a:ext cx="382191" cy="192881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2875359" y="4645223"/>
            <a:ext cx="382191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</a:t>
            </a:r>
            <a:endParaRPr lang="en-US" sz="683" dirty="0"/>
          </a:p>
        </p:txBody>
      </p:sp>
      <p:sp>
        <p:nvSpPr>
          <p:cNvPr id="41" name="Text 35"/>
          <p:cNvSpPr/>
          <p:nvPr/>
        </p:nvSpPr>
        <p:spPr>
          <a:xfrm>
            <a:off x="7808119" y="4823817"/>
            <a:ext cx="76438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16 Validation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0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14425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VERIFICATION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Heatmap: Every Model, Every Day</a:t>
            </a:r>
            <a:endParaRPr lang="en-US" sz="2121" dirty="0"/>
          </a:p>
        </p:txBody>
      </p:sp>
      <p:sp>
        <p:nvSpPr>
          <p:cNvPr id="7" name="Text 4"/>
          <p:cNvSpPr/>
          <p:nvPr/>
        </p:nvSpPr>
        <p:spPr>
          <a:xfrm>
            <a:off x="571500" y="1485900"/>
            <a:ext cx="2314575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TYPE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886075" y="1485900"/>
            <a:ext cx="980117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3866192" y="1485900"/>
            <a:ext cx="876951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743143" y="1485900"/>
            <a:ext cx="956314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699457" y="1485900"/>
            <a:ext cx="908707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608164" y="1485900"/>
            <a:ext cx="769823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7377987" y="1485900"/>
            <a:ext cx="1194513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71500" y="1785938"/>
            <a:ext cx="2314575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PKRALZRCTCPQ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2886075" y="1785938"/>
            <a:ext cx="980117" cy="275034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2886075" y="2053828"/>
            <a:ext cx="98011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2886075" y="1785938"/>
            <a:ext cx="980117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3866192" y="1785938"/>
            <a:ext cx="876951" cy="275034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3866192" y="2053828"/>
            <a:ext cx="876951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3866192" y="1785938"/>
            <a:ext cx="876951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4743143" y="1785938"/>
            <a:ext cx="956314" cy="275034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743143" y="2053828"/>
            <a:ext cx="956314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4743143" y="1785938"/>
            <a:ext cx="956314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5699457" y="1785938"/>
            <a:ext cx="908707" cy="275034"/>
          </a:xfrm>
          <a:prstGeom prst="rect">
            <a:avLst/>
          </a:prstGeom>
          <a:solidFill>
            <a:srgbClr val="0EA5E9">
              <a:alpha val="6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699457" y="2053828"/>
            <a:ext cx="90870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699457" y="1785938"/>
            <a:ext cx="908707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83" dirty="0"/>
          </a:p>
        </p:txBody>
      </p:sp>
      <p:sp>
        <p:nvSpPr>
          <p:cNvPr id="27" name="Shape 24"/>
          <p:cNvSpPr/>
          <p:nvPr/>
        </p:nvSpPr>
        <p:spPr>
          <a:xfrm>
            <a:off x="6608164" y="1785938"/>
            <a:ext cx="769823" cy="275034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608164" y="2053828"/>
            <a:ext cx="769823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6608164" y="1785938"/>
            <a:ext cx="769823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7377987" y="1785938"/>
            <a:ext cx="1194513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571500" y="2060972"/>
            <a:ext cx="2314575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PKRFLATLCTCPQ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2886075" y="2060972"/>
            <a:ext cx="980117" cy="271463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886075" y="2325291"/>
            <a:ext cx="98011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1"/>
          <p:cNvSpPr/>
          <p:nvPr/>
        </p:nvSpPr>
        <p:spPr>
          <a:xfrm>
            <a:off x="2886075" y="2060972"/>
            <a:ext cx="98011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35" name="Shape 32"/>
          <p:cNvSpPr/>
          <p:nvPr/>
        </p:nvSpPr>
        <p:spPr>
          <a:xfrm>
            <a:off x="3866192" y="2060972"/>
            <a:ext cx="876951" cy="271463"/>
          </a:xfrm>
          <a:prstGeom prst="rect">
            <a:avLst/>
          </a:prstGeom>
          <a:solidFill>
            <a:srgbClr val="0EA5E9">
              <a:alpha val="25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866192" y="2325291"/>
            <a:ext cx="876951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4"/>
          <p:cNvSpPr/>
          <p:nvPr/>
        </p:nvSpPr>
        <p:spPr>
          <a:xfrm>
            <a:off x="3866192" y="2060972"/>
            <a:ext cx="876951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4743143" y="2060972"/>
            <a:ext cx="956314" cy="271463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743143" y="2325291"/>
            <a:ext cx="956314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4743143" y="2060972"/>
            <a:ext cx="956314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41" name="Shape 38"/>
          <p:cNvSpPr/>
          <p:nvPr/>
        </p:nvSpPr>
        <p:spPr>
          <a:xfrm>
            <a:off x="5699457" y="2060972"/>
            <a:ext cx="908707" cy="271463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699457" y="2325291"/>
            <a:ext cx="90870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0"/>
          <p:cNvSpPr/>
          <p:nvPr/>
        </p:nvSpPr>
        <p:spPr>
          <a:xfrm>
            <a:off x="5699457" y="2060972"/>
            <a:ext cx="90870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44" name="Shape 41"/>
          <p:cNvSpPr/>
          <p:nvPr/>
        </p:nvSpPr>
        <p:spPr>
          <a:xfrm>
            <a:off x="6608164" y="2060972"/>
            <a:ext cx="769823" cy="271463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608164" y="2325291"/>
            <a:ext cx="769823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3"/>
          <p:cNvSpPr/>
          <p:nvPr/>
        </p:nvSpPr>
        <p:spPr>
          <a:xfrm>
            <a:off x="6608164" y="2060972"/>
            <a:ext cx="76982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47" name="Text 44"/>
          <p:cNvSpPr/>
          <p:nvPr/>
        </p:nvSpPr>
        <p:spPr>
          <a:xfrm>
            <a:off x="7377987" y="2060972"/>
            <a:ext cx="119451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683" dirty="0"/>
          </a:p>
        </p:txBody>
      </p:sp>
      <p:sp>
        <p:nvSpPr>
          <p:cNvPr id="48" name="Text 45"/>
          <p:cNvSpPr/>
          <p:nvPr/>
        </p:nvSpPr>
        <p:spPr>
          <a:xfrm>
            <a:off x="571500" y="2332434"/>
            <a:ext cx="2314575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PKRFL78CTCPQ</a:t>
            </a:r>
            <a:endParaRPr lang="en-US" sz="683" dirty="0"/>
          </a:p>
        </p:txBody>
      </p:sp>
      <p:sp>
        <p:nvSpPr>
          <p:cNvPr id="49" name="Shape 46"/>
          <p:cNvSpPr/>
          <p:nvPr/>
        </p:nvSpPr>
        <p:spPr>
          <a:xfrm>
            <a:off x="2886075" y="2332434"/>
            <a:ext cx="980117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2886075" y="2596753"/>
            <a:ext cx="98011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1" name="Text 48"/>
          <p:cNvSpPr/>
          <p:nvPr/>
        </p:nvSpPr>
        <p:spPr>
          <a:xfrm>
            <a:off x="2886075" y="2332434"/>
            <a:ext cx="98011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52" name="Text 49"/>
          <p:cNvSpPr/>
          <p:nvPr/>
        </p:nvSpPr>
        <p:spPr>
          <a:xfrm>
            <a:off x="3866192" y="2332434"/>
            <a:ext cx="876951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683" dirty="0"/>
          </a:p>
        </p:txBody>
      </p:sp>
      <p:sp>
        <p:nvSpPr>
          <p:cNvPr id="53" name="Shape 50"/>
          <p:cNvSpPr/>
          <p:nvPr/>
        </p:nvSpPr>
        <p:spPr>
          <a:xfrm>
            <a:off x="4743143" y="2332434"/>
            <a:ext cx="956314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4743143" y="2596753"/>
            <a:ext cx="956314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Text 52"/>
          <p:cNvSpPr/>
          <p:nvPr/>
        </p:nvSpPr>
        <p:spPr>
          <a:xfrm>
            <a:off x="4743143" y="2332434"/>
            <a:ext cx="956314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56" name="Shape 53"/>
          <p:cNvSpPr/>
          <p:nvPr/>
        </p:nvSpPr>
        <p:spPr>
          <a:xfrm>
            <a:off x="5699457" y="2332434"/>
            <a:ext cx="908707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5699457" y="2596753"/>
            <a:ext cx="90870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8" name="Text 55"/>
          <p:cNvSpPr/>
          <p:nvPr/>
        </p:nvSpPr>
        <p:spPr>
          <a:xfrm>
            <a:off x="5699457" y="2332434"/>
            <a:ext cx="90870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59" name="Shape 56"/>
          <p:cNvSpPr/>
          <p:nvPr/>
        </p:nvSpPr>
        <p:spPr>
          <a:xfrm>
            <a:off x="6608164" y="2332434"/>
            <a:ext cx="769823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6608164" y="2596753"/>
            <a:ext cx="769823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Text 58"/>
          <p:cNvSpPr/>
          <p:nvPr/>
        </p:nvSpPr>
        <p:spPr>
          <a:xfrm>
            <a:off x="6608164" y="2332434"/>
            <a:ext cx="76982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62" name="Text 59"/>
          <p:cNvSpPr/>
          <p:nvPr/>
        </p:nvSpPr>
        <p:spPr>
          <a:xfrm>
            <a:off x="7377987" y="2332434"/>
            <a:ext cx="119451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571500" y="2603897"/>
            <a:ext cx="2314575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PKRRL3.5HDCTCPQ</a:t>
            </a:r>
            <a:endParaRPr lang="en-US" sz="683" dirty="0"/>
          </a:p>
        </p:txBody>
      </p:sp>
      <p:sp>
        <p:nvSpPr>
          <p:cNvPr id="64" name="Shape 61"/>
          <p:cNvSpPr/>
          <p:nvPr/>
        </p:nvSpPr>
        <p:spPr>
          <a:xfrm>
            <a:off x="2886075" y="2603897"/>
            <a:ext cx="980117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2886075" y="2868216"/>
            <a:ext cx="98011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6" name="Text 63"/>
          <p:cNvSpPr/>
          <p:nvPr/>
        </p:nvSpPr>
        <p:spPr>
          <a:xfrm>
            <a:off x="2886075" y="2603897"/>
            <a:ext cx="98011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67" name="Shape 64"/>
          <p:cNvSpPr/>
          <p:nvPr/>
        </p:nvSpPr>
        <p:spPr>
          <a:xfrm>
            <a:off x="3866192" y="2603897"/>
            <a:ext cx="876951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3866192" y="2868216"/>
            <a:ext cx="876951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9" name="Text 66"/>
          <p:cNvSpPr/>
          <p:nvPr/>
        </p:nvSpPr>
        <p:spPr>
          <a:xfrm>
            <a:off x="3866192" y="2603897"/>
            <a:ext cx="876951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70" name="Shape 67"/>
          <p:cNvSpPr/>
          <p:nvPr/>
        </p:nvSpPr>
        <p:spPr>
          <a:xfrm>
            <a:off x="4743143" y="2603897"/>
            <a:ext cx="956314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4743143" y="2868216"/>
            <a:ext cx="956314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2" name="Text 69"/>
          <p:cNvSpPr/>
          <p:nvPr/>
        </p:nvSpPr>
        <p:spPr>
          <a:xfrm>
            <a:off x="4743143" y="2603897"/>
            <a:ext cx="956314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73" name="Text 70"/>
          <p:cNvSpPr/>
          <p:nvPr/>
        </p:nvSpPr>
        <p:spPr>
          <a:xfrm>
            <a:off x="5699457" y="2603897"/>
            <a:ext cx="90870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683" dirty="0"/>
          </a:p>
        </p:txBody>
      </p:sp>
      <p:sp>
        <p:nvSpPr>
          <p:cNvPr id="74" name="Shape 71"/>
          <p:cNvSpPr/>
          <p:nvPr/>
        </p:nvSpPr>
        <p:spPr>
          <a:xfrm>
            <a:off x="6608164" y="2603897"/>
            <a:ext cx="769823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6608164" y="2868216"/>
            <a:ext cx="769823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6" name="Text 73"/>
          <p:cNvSpPr/>
          <p:nvPr/>
        </p:nvSpPr>
        <p:spPr>
          <a:xfrm>
            <a:off x="6608164" y="2603897"/>
            <a:ext cx="76982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77" name="Text 74"/>
          <p:cNvSpPr/>
          <p:nvPr/>
        </p:nvSpPr>
        <p:spPr>
          <a:xfrm>
            <a:off x="7377987" y="2603897"/>
            <a:ext cx="119451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83" dirty="0"/>
          </a:p>
        </p:txBody>
      </p:sp>
      <p:sp>
        <p:nvSpPr>
          <p:cNvPr id="78" name="Text 75"/>
          <p:cNvSpPr/>
          <p:nvPr/>
        </p:nvSpPr>
        <p:spPr>
          <a:xfrm>
            <a:off x="571500" y="2875359"/>
            <a:ext cx="2314575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PKRRLHDCTCPQ</a:t>
            </a:r>
            <a:endParaRPr lang="en-US" sz="683" dirty="0"/>
          </a:p>
        </p:txBody>
      </p:sp>
      <p:sp>
        <p:nvSpPr>
          <p:cNvPr id="79" name="Shape 76"/>
          <p:cNvSpPr/>
          <p:nvPr/>
        </p:nvSpPr>
        <p:spPr>
          <a:xfrm>
            <a:off x="2886075" y="2875359"/>
            <a:ext cx="980117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2886075" y="3139678"/>
            <a:ext cx="98011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1" name="Text 78"/>
          <p:cNvSpPr/>
          <p:nvPr/>
        </p:nvSpPr>
        <p:spPr>
          <a:xfrm>
            <a:off x="2886075" y="2875359"/>
            <a:ext cx="98011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82" name="Text 79"/>
          <p:cNvSpPr/>
          <p:nvPr/>
        </p:nvSpPr>
        <p:spPr>
          <a:xfrm>
            <a:off x="3866192" y="2875359"/>
            <a:ext cx="876951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683" dirty="0"/>
          </a:p>
        </p:txBody>
      </p:sp>
      <p:sp>
        <p:nvSpPr>
          <p:cNvPr id="83" name="Shape 80"/>
          <p:cNvSpPr/>
          <p:nvPr/>
        </p:nvSpPr>
        <p:spPr>
          <a:xfrm>
            <a:off x="4743143" y="2875359"/>
            <a:ext cx="956314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84" name="Shape 81"/>
          <p:cNvSpPr/>
          <p:nvPr/>
        </p:nvSpPr>
        <p:spPr>
          <a:xfrm>
            <a:off x="4743143" y="3139678"/>
            <a:ext cx="956314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5" name="Text 82"/>
          <p:cNvSpPr/>
          <p:nvPr/>
        </p:nvSpPr>
        <p:spPr>
          <a:xfrm>
            <a:off x="4743143" y="2875359"/>
            <a:ext cx="956314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86" name="Shape 83"/>
          <p:cNvSpPr/>
          <p:nvPr/>
        </p:nvSpPr>
        <p:spPr>
          <a:xfrm>
            <a:off x="5699457" y="2875359"/>
            <a:ext cx="908707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87" name="Shape 84"/>
          <p:cNvSpPr/>
          <p:nvPr/>
        </p:nvSpPr>
        <p:spPr>
          <a:xfrm>
            <a:off x="5699457" y="3139678"/>
            <a:ext cx="90870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8" name="Text 85"/>
          <p:cNvSpPr/>
          <p:nvPr/>
        </p:nvSpPr>
        <p:spPr>
          <a:xfrm>
            <a:off x="5699457" y="2875359"/>
            <a:ext cx="90870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89" name="Shape 86"/>
          <p:cNvSpPr/>
          <p:nvPr/>
        </p:nvSpPr>
        <p:spPr>
          <a:xfrm>
            <a:off x="6608164" y="2875359"/>
            <a:ext cx="769823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90" name="Shape 87"/>
          <p:cNvSpPr/>
          <p:nvPr/>
        </p:nvSpPr>
        <p:spPr>
          <a:xfrm>
            <a:off x="6608164" y="3139678"/>
            <a:ext cx="769823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1" name="Text 88"/>
          <p:cNvSpPr/>
          <p:nvPr/>
        </p:nvSpPr>
        <p:spPr>
          <a:xfrm>
            <a:off x="6608164" y="2875359"/>
            <a:ext cx="76982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92" name="Text 89"/>
          <p:cNvSpPr/>
          <p:nvPr/>
        </p:nvSpPr>
        <p:spPr>
          <a:xfrm>
            <a:off x="7377987" y="2875359"/>
            <a:ext cx="119451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83" dirty="0"/>
          </a:p>
        </p:txBody>
      </p:sp>
      <p:sp>
        <p:nvSpPr>
          <p:cNvPr id="93" name="Text 90"/>
          <p:cNvSpPr/>
          <p:nvPr/>
        </p:nvSpPr>
        <p:spPr>
          <a:xfrm>
            <a:off x="571500" y="3146822"/>
            <a:ext cx="2314575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PKRRLTAGCTCPQ</a:t>
            </a:r>
            <a:endParaRPr lang="en-US" sz="683" dirty="0"/>
          </a:p>
        </p:txBody>
      </p:sp>
      <p:sp>
        <p:nvSpPr>
          <p:cNvPr id="94" name="Text 91"/>
          <p:cNvSpPr/>
          <p:nvPr/>
        </p:nvSpPr>
        <p:spPr>
          <a:xfrm>
            <a:off x="2886075" y="3146822"/>
            <a:ext cx="98011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683" dirty="0"/>
          </a:p>
        </p:txBody>
      </p:sp>
      <p:sp>
        <p:nvSpPr>
          <p:cNvPr id="95" name="Shape 92"/>
          <p:cNvSpPr/>
          <p:nvPr/>
        </p:nvSpPr>
        <p:spPr>
          <a:xfrm>
            <a:off x="3866192" y="3146822"/>
            <a:ext cx="876951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96" name="Shape 93"/>
          <p:cNvSpPr/>
          <p:nvPr/>
        </p:nvSpPr>
        <p:spPr>
          <a:xfrm>
            <a:off x="3866192" y="3411141"/>
            <a:ext cx="876951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7" name="Text 94"/>
          <p:cNvSpPr/>
          <p:nvPr/>
        </p:nvSpPr>
        <p:spPr>
          <a:xfrm>
            <a:off x="3866192" y="3146822"/>
            <a:ext cx="876951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98" name="Shape 95"/>
          <p:cNvSpPr/>
          <p:nvPr/>
        </p:nvSpPr>
        <p:spPr>
          <a:xfrm>
            <a:off x="4743143" y="3146822"/>
            <a:ext cx="956314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99" name="Shape 96"/>
          <p:cNvSpPr/>
          <p:nvPr/>
        </p:nvSpPr>
        <p:spPr>
          <a:xfrm>
            <a:off x="4743143" y="3411141"/>
            <a:ext cx="956314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0" name="Text 97"/>
          <p:cNvSpPr/>
          <p:nvPr/>
        </p:nvSpPr>
        <p:spPr>
          <a:xfrm>
            <a:off x="4743143" y="3146822"/>
            <a:ext cx="956314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101" name="Shape 98"/>
          <p:cNvSpPr/>
          <p:nvPr/>
        </p:nvSpPr>
        <p:spPr>
          <a:xfrm>
            <a:off x="5699457" y="3146822"/>
            <a:ext cx="908707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102" name="Shape 99"/>
          <p:cNvSpPr/>
          <p:nvPr/>
        </p:nvSpPr>
        <p:spPr>
          <a:xfrm>
            <a:off x="5699457" y="3411141"/>
            <a:ext cx="90870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3" name="Text 100"/>
          <p:cNvSpPr/>
          <p:nvPr/>
        </p:nvSpPr>
        <p:spPr>
          <a:xfrm>
            <a:off x="5699457" y="3146822"/>
            <a:ext cx="90870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104" name="Text 101"/>
          <p:cNvSpPr/>
          <p:nvPr/>
        </p:nvSpPr>
        <p:spPr>
          <a:xfrm>
            <a:off x="6608164" y="3146822"/>
            <a:ext cx="76982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683" dirty="0"/>
          </a:p>
        </p:txBody>
      </p:sp>
      <p:sp>
        <p:nvSpPr>
          <p:cNvPr id="105" name="Text 102"/>
          <p:cNvSpPr/>
          <p:nvPr/>
        </p:nvSpPr>
        <p:spPr>
          <a:xfrm>
            <a:off x="7377987" y="3146822"/>
            <a:ext cx="119451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106" name="Text 103"/>
          <p:cNvSpPr/>
          <p:nvPr/>
        </p:nvSpPr>
        <p:spPr>
          <a:xfrm>
            <a:off x="571500" y="3418284"/>
            <a:ext cx="2314575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PKRRLXCCTCPQ</a:t>
            </a:r>
            <a:endParaRPr lang="en-US" sz="683" dirty="0"/>
          </a:p>
        </p:txBody>
      </p:sp>
      <p:sp>
        <p:nvSpPr>
          <p:cNvPr id="107" name="Text 104"/>
          <p:cNvSpPr/>
          <p:nvPr/>
        </p:nvSpPr>
        <p:spPr>
          <a:xfrm>
            <a:off x="2886075" y="3418284"/>
            <a:ext cx="98011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683" dirty="0"/>
          </a:p>
        </p:txBody>
      </p:sp>
      <p:sp>
        <p:nvSpPr>
          <p:cNvPr id="108" name="Shape 105"/>
          <p:cNvSpPr/>
          <p:nvPr/>
        </p:nvSpPr>
        <p:spPr>
          <a:xfrm>
            <a:off x="3866192" y="3418284"/>
            <a:ext cx="876951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109" name="Shape 106"/>
          <p:cNvSpPr/>
          <p:nvPr/>
        </p:nvSpPr>
        <p:spPr>
          <a:xfrm>
            <a:off x="3866192" y="3682603"/>
            <a:ext cx="876951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0" name="Text 107"/>
          <p:cNvSpPr/>
          <p:nvPr/>
        </p:nvSpPr>
        <p:spPr>
          <a:xfrm>
            <a:off x="3866192" y="3418284"/>
            <a:ext cx="876951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111" name="Text 108"/>
          <p:cNvSpPr/>
          <p:nvPr/>
        </p:nvSpPr>
        <p:spPr>
          <a:xfrm>
            <a:off x="4743143" y="3418284"/>
            <a:ext cx="956314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683" dirty="0"/>
          </a:p>
        </p:txBody>
      </p:sp>
      <p:sp>
        <p:nvSpPr>
          <p:cNvPr id="112" name="Shape 109"/>
          <p:cNvSpPr/>
          <p:nvPr/>
        </p:nvSpPr>
        <p:spPr>
          <a:xfrm>
            <a:off x="5699457" y="3418284"/>
            <a:ext cx="908707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113" name="Shape 110"/>
          <p:cNvSpPr/>
          <p:nvPr/>
        </p:nvSpPr>
        <p:spPr>
          <a:xfrm>
            <a:off x="5699457" y="3682603"/>
            <a:ext cx="90870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4" name="Text 111"/>
          <p:cNvSpPr/>
          <p:nvPr/>
        </p:nvSpPr>
        <p:spPr>
          <a:xfrm>
            <a:off x="5699457" y="3418284"/>
            <a:ext cx="90870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115" name="Shape 112"/>
          <p:cNvSpPr/>
          <p:nvPr/>
        </p:nvSpPr>
        <p:spPr>
          <a:xfrm>
            <a:off x="6608164" y="3418284"/>
            <a:ext cx="769823" cy="271463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116" name="Shape 113"/>
          <p:cNvSpPr/>
          <p:nvPr/>
        </p:nvSpPr>
        <p:spPr>
          <a:xfrm>
            <a:off x="6608164" y="3682603"/>
            <a:ext cx="769823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7" name="Text 114"/>
          <p:cNvSpPr/>
          <p:nvPr/>
        </p:nvSpPr>
        <p:spPr>
          <a:xfrm>
            <a:off x="6608164" y="3418284"/>
            <a:ext cx="76982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118" name="Text 115"/>
          <p:cNvSpPr/>
          <p:nvPr/>
        </p:nvSpPr>
        <p:spPr>
          <a:xfrm>
            <a:off x="7377987" y="3418284"/>
            <a:ext cx="119451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119" name="Text 116"/>
          <p:cNvSpPr/>
          <p:nvPr/>
        </p:nvSpPr>
        <p:spPr>
          <a:xfrm>
            <a:off x="571500" y="3689747"/>
            <a:ext cx="2314575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PKREVALZR</a:t>
            </a:r>
            <a:endParaRPr lang="en-US" sz="683" dirty="0"/>
          </a:p>
        </p:txBody>
      </p:sp>
      <p:sp>
        <p:nvSpPr>
          <p:cNvPr id="120" name="Shape 117"/>
          <p:cNvSpPr/>
          <p:nvPr/>
        </p:nvSpPr>
        <p:spPr>
          <a:xfrm>
            <a:off x="2886075" y="3689747"/>
            <a:ext cx="980117" cy="275034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121" name="Shape 118"/>
          <p:cNvSpPr/>
          <p:nvPr/>
        </p:nvSpPr>
        <p:spPr>
          <a:xfrm>
            <a:off x="2886075" y="3957638"/>
            <a:ext cx="98011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2" name="Text 119"/>
          <p:cNvSpPr/>
          <p:nvPr/>
        </p:nvSpPr>
        <p:spPr>
          <a:xfrm>
            <a:off x="2886075" y="3689747"/>
            <a:ext cx="980117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123" name="Shape 120"/>
          <p:cNvSpPr/>
          <p:nvPr/>
        </p:nvSpPr>
        <p:spPr>
          <a:xfrm>
            <a:off x="3866192" y="3689747"/>
            <a:ext cx="876951" cy="275034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124" name="Shape 121"/>
          <p:cNvSpPr/>
          <p:nvPr/>
        </p:nvSpPr>
        <p:spPr>
          <a:xfrm>
            <a:off x="3866192" y="3957638"/>
            <a:ext cx="876951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5" name="Text 122"/>
          <p:cNvSpPr/>
          <p:nvPr/>
        </p:nvSpPr>
        <p:spPr>
          <a:xfrm>
            <a:off x="3866192" y="3689747"/>
            <a:ext cx="876951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126" name="Text 123"/>
          <p:cNvSpPr/>
          <p:nvPr/>
        </p:nvSpPr>
        <p:spPr>
          <a:xfrm>
            <a:off x="4743143" y="3689747"/>
            <a:ext cx="956314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683" dirty="0"/>
          </a:p>
        </p:txBody>
      </p:sp>
      <p:sp>
        <p:nvSpPr>
          <p:cNvPr id="127" name="Text 124"/>
          <p:cNvSpPr/>
          <p:nvPr/>
        </p:nvSpPr>
        <p:spPr>
          <a:xfrm>
            <a:off x="5699457" y="3689747"/>
            <a:ext cx="908707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683" dirty="0"/>
          </a:p>
        </p:txBody>
      </p:sp>
      <p:sp>
        <p:nvSpPr>
          <p:cNvPr id="128" name="Text 125"/>
          <p:cNvSpPr/>
          <p:nvPr/>
        </p:nvSpPr>
        <p:spPr>
          <a:xfrm>
            <a:off x="6608164" y="3689747"/>
            <a:ext cx="769823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683" dirty="0"/>
          </a:p>
        </p:txBody>
      </p:sp>
      <p:sp>
        <p:nvSpPr>
          <p:cNvPr id="129" name="Text 126"/>
          <p:cNvSpPr/>
          <p:nvPr/>
        </p:nvSpPr>
        <p:spPr>
          <a:xfrm>
            <a:off x="7377987" y="3689747"/>
            <a:ext cx="1194513" cy="27503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83" dirty="0"/>
          </a:p>
        </p:txBody>
      </p:sp>
      <p:sp>
        <p:nvSpPr>
          <p:cNvPr id="130" name="Shape 127"/>
          <p:cNvSpPr/>
          <p:nvPr/>
        </p:nvSpPr>
        <p:spPr>
          <a:xfrm>
            <a:off x="571500" y="3964781"/>
            <a:ext cx="2314575" cy="3607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1" name="Shape 128"/>
          <p:cNvSpPr/>
          <p:nvPr/>
        </p:nvSpPr>
        <p:spPr>
          <a:xfrm>
            <a:off x="571500" y="3964781"/>
            <a:ext cx="23145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2" name="Shape 129"/>
          <p:cNvSpPr/>
          <p:nvPr/>
        </p:nvSpPr>
        <p:spPr>
          <a:xfrm>
            <a:off x="571500" y="4318397"/>
            <a:ext cx="2314575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3" name="Text 130"/>
          <p:cNvSpPr/>
          <p:nvPr/>
        </p:nvSpPr>
        <p:spPr>
          <a:xfrm>
            <a:off x="571500" y="3964781"/>
            <a:ext cx="2314575" cy="360759"/>
          </a:xfrm>
          <a:prstGeom prst="rect">
            <a:avLst/>
          </a:prstGeom>
          <a:noFill/>
          <a:ln/>
        </p:spPr>
        <p:txBody>
          <a:bodyPr wrap="square" lIns="85090" tIns="136017" rIns="170053" bIns="136017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Total</a:t>
            </a:r>
            <a:endParaRPr lang="en-US" sz="683" dirty="0"/>
          </a:p>
        </p:txBody>
      </p:sp>
      <p:sp>
        <p:nvSpPr>
          <p:cNvPr id="134" name="Shape 131"/>
          <p:cNvSpPr/>
          <p:nvPr/>
        </p:nvSpPr>
        <p:spPr>
          <a:xfrm>
            <a:off x="2886075" y="3964781"/>
            <a:ext cx="980117" cy="3607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5" name="Shape 132"/>
          <p:cNvSpPr/>
          <p:nvPr/>
        </p:nvSpPr>
        <p:spPr>
          <a:xfrm>
            <a:off x="2886075" y="3964781"/>
            <a:ext cx="98011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6" name="Shape 133"/>
          <p:cNvSpPr/>
          <p:nvPr/>
        </p:nvSpPr>
        <p:spPr>
          <a:xfrm>
            <a:off x="2886075" y="4318397"/>
            <a:ext cx="98011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7" name="Text 134"/>
          <p:cNvSpPr/>
          <p:nvPr/>
        </p:nvSpPr>
        <p:spPr>
          <a:xfrm>
            <a:off x="2886075" y="3964781"/>
            <a:ext cx="980117" cy="360759"/>
          </a:xfrm>
          <a:prstGeom prst="rect">
            <a:avLst/>
          </a:prstGeom>
          <a:noFill/>
          <a:ln/>
        </p:spPr>
        <p:txBody>
          <a:bodyPr wrap="square" lIns="85090" tIns="136017" rIns="85090" bIns="136017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683" dirty="0"/>
          </a:p>
        </p:txBody>
      </p:sp>
      <p:sp>
        <p:nvSpPr>
          <p:cNvPr id="138" name="Shape 135"/>
          <p:cNvSpPr/>
          <p:nvPr/>
        </p:nvSpPr>
        <p:spPr>
          <a:xfrm>
            <a:off x="3866192" y="3964781"/>
            <a:ext cx="876951" cy="3607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9" name="Shape 136"/>
          <p:cNvSpPr/>
          <p:nvPr/>
        </p:nvSpPr>
        <p:spPr>
          <a:xfrm>
            <a:off x="3866192" y="3964781"/>
            <a:ext cx="87695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0" name="Shape 137"/>
          <p:cNvSpPr/>
          <p:nvPr/>
        </p:nvSpPr>
        <p:spPr>
          <a:xfrm>
            <a:off x="3866192" y="4318397"/>
            <a:ext cx="876951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1" name="Text 138"/>
          <p:cNvSpPr/>
          <p:nvPr/>
        </p:nvSpPr>
        <p:spPr>
          <a:xfrm>
            <a:off x="3866192" y="3964781"/>
            <a:ext cx="876951" cy="360759"/>
          </a:xfrm>
          <a:prstGeom prst="rect">
            <a:avLst/>
          </a:prstGeom>
          <a:noFill/>
          <a:ln/>
        </p:spPr>
        <p:txBody>
          <a:bodyPr wrap="square" lIns="85090" tIns="136017" rIns="85090" bIns="136017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683" dirty="0"/>
          </a:p>
        </p:txBody>
      </p:sp>
      <p:sp>
        <p:nvSpPr>
          <p:cNvPr id="142" name="Shape 139"/>
          <p:cNvSpPr/>
          <p:nvPr/>
        </p:nvSpPr>
        <p:spPr>
          <a:xfrm>
            <a:off x="4743143" y="3964781"/>
            <a:ext cx="956314" cy="3607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3" name="Shape 140"/>
          <p:cNvSpPr/>
          <p:nvPr/>
        </p:nvSpPr>
        <p:spPr>
          <a:xfrm>
            <a:off x="4743143" y="3964781"/>
            <a:ext cx="956314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4" name="Shape 141"/>
          <p:cNvSpPr/>
          <p:nvPr/>
        </p:nvSpPr>
        <p:spPr>
          <a:xfrm>
            <a:off x="4743143" y="4318397"/>
            <a:ext cx="956314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5" name="Text 142"/>
          <p:cNvSpPr/>
          <p:nvPr/>
        </p:nvSpPr>
        <p:spPr>
          <a:xfrm>
            <a:off x="4743143" y="3964781"/>
            <a:ext cx="956314" cy="360759"/>
          </a:xfrm>
          <a:prstGeom prst="rect">
            <a:avLst/>
          </a:prstGeom>
          <a:noFill/>
          <a:ln/>
        </p:spPr>
        <p:txBody>
          <a:bodyPr wrap="square" lIns="85090" tIns="136017" rIns="85090" bIns="136017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683" dirty="0"/>
          </a:p>
        </p:txBody>
      </p:sp>
      <p:sp>
        <p:nvSpPr>
          <p:cNvPr id="146" name="Shape 143"/>
          <p:cNvSpPr/>
          <p:nvPr/>
        </p:nvSpPr>
        <p:spPr>
          <a:xfrm>
            <a:off x="5699457" y="3964781"/>
            <a:ext cx="908707" cy="3607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7" name="Shape 144"/>
          <p:cNvSpPr/>
          <p:nvPr/>
        </p:nvSpPr>
        <p:spPr>
          <a:xfrm>
            <a:off x="5699457" y="3964781"/>
            <a:ext cx="90870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8" name="Shape 145"/>
          <p:cNvSpPr/>
          <p:nvPr/>
        </p:nvSpPr>
        <p:spPr>
          <a:xfrm>
            <a:off x="5699457" y="4318397"/>
            <a:ext cx="908707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9" name="Text 146"/>
          <p:cNvSpPr/>
          <p:nvPr/>
        </p:nvSpPr>
        <p:spPr>
          <a:xfrm>
            <a:off x="5699457" y="3964781"/>
            <a:ext cx="908707" cy="360759"/>
          </a:xfrm>
          <a:prstGeom prst="rect">
            <a:avLst/>
          </a:prstGeom>
          <a:noFill/>
          <a:ln/>
        </p:spPr>
        <p:txBody>
          <a:bodyPr wrap="square" lIns="85090" tIns="136017" rIns="85090" bIns="136017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683" dirty="0"/>
          </a:p>
        </p:txBody>
      </p:sp>
      <p:sp>
        <p:nvSpPr>
          <p:cNvPr id="150" name="Shape 147"/>
          <p:cNvSpPr/>
          <p:nvPr/>
        </p:nvSpPr>
        <p:spPr>
          <a:xfrm>
            <a:off x="6608164" y="3964781"/>
            <a:ext cx="769823" cy="3607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1" name="Shape 148"/>
          <p:cNvSpPr/>
          <p:nvPr/>
        </p:nvSpPr>
        <p:spPr>
          <a:xfrm>
            <a:off x="6608164" y="3964781"/>
            <a:ext cx="76982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2" name="Shape 149"/>
          <p:cNvSpPr/>
          <p:nvPr/>
        </p:nvSpPr>
        <p:spPr>
          <a:xfrm>
            <a:off x="6608164" y="4318397"/>
            <a:ext cx="769823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3" name="Text 150"/>
          <p:cNvSpPr/>
          <p:nvPr/>
        </p:nvSpPr>
        <p:spPr>
          <a:xfrm>
            <a:off x="6608164" y="3964781"/>
            <a:ext cx="769823" cy="360759"/>
          </a:xfrm>
          <a:prstGeom prst="rect">
            <a:avLst/>
          </a:prstGeom>
          <a:noFill/>
          <a:ln/>
        </p:spPr>
        <p:txBody>
          <a:bodyPr wrap="square" lIns="85090" tIns="136017" rIns="85090" bIns="136017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683" dirty="0"/>
          </a:p>
        </p:txBody>
      </p:sp>
      <p:sp>
        <p:nvSpPr>
          <p:cNvPr id="154" name="Shape 151"/>
          <p:cNvSpPr/>
          <p:nvPr/>
        </p:nvSpPr>
        <p:spPr>
          <a:xfrm>
            <a:off x="7377987" y="3964781"/>
            <a:ext cx="1194513" cy="3607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5" name="Shape 152"/>
          <p:cNvSpPr/>
          <p:nvPr/>
        </p:nvSpPr>
        <p:spPr>
          <a:xfrm>
            <a:off x="7377987" y="3964781"/>
            <a:ext cx="119451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6" name="Shape 153"/>
          <p:cNvSpPr/>
          <p:nvPr/>
        </p:nvSpPr>
        <p:spPr>
          <a:xfrm>
            <a:off x="7377987" y="4318397"/>
            <a:ext cx="1194513" cy="7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7" name="Text 154"/>
          <p:cNvSpPr/>
          <p:nvPr/>
        </p:nvSpPr>
        <p:spPr>
          <a:xfrm>
            <a:off x="7377987" y="3964781"/>
            <a:ext cx="1194513" cy="360759"/>
          </a:xfrm>
          <a:prstGeom prst="rect">
            <a:avLst/>
          </a:prstGeom>
          <a:noFill/>
          <a:ln/>
        </p:spPr>
        <p:txBody>
          <a:bodyPr wrap="square" lIns="85090" tIns="136017" rIns="85090" bIns="136017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683" dirty="0"/>
          </a:p>
        </p:txBody>
      </p:sp>
      <p:sp>
        <p:nvSpPr>
          <p:cNvPr id="158" name="Text 155"/>
          <p:cNvSpPr/>
          <p:nvPr/>
        </p:nvSpPr>
        <p:spPr>
          <a:xfrm>
            <a:off x="5163145" y="4505027"/>
            <a:ext cx="83581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Intensity:</a:t>
            </a:r>
            <a:endParaRPr lang="en-US" sz="621" dirty="0"/>
          </a:p>
        </p:txBody>
      </p:sp>
      <p:sp>
        <p:nvSpPr>
          <p:cNvPr id="159" name="Text 156"/>
          <p:cNvSpPr/>
          <p:nvPr/>
        </p:nvSpPr>
        <p:spPr>
          <a:xfrm>
            <a:off x="6356152" y="4505027"/>
            <a:ext cx="22502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Unit</a:t>
            </a:r>
            <a:endParaRPr lang="en-US" sz="621" dirty="0"/>
          </a:p>
        </p:txBody>
      </p:sp>
      <p:sp>
        <p:nvSpPr>
          <p:cNvPr id="160" name="Text 157"/>
          <p:cNvSpPr/>
          <p:nvPr/>
        </p:nvSpPr>
        <p:spPr>
          <a:xfrm>
            <a:off x="6938367" y="4505027"/>
            <a:ext cx="2857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Units</a:t>
            </a:r>
            <a:endParaRPr lang="en-US" sz="621" dirty="0"/>
          </a:p>
        </p:txBody>
      </p:sp>
      <p:sp>
        <p:nvSpPr>
          <p:cNvPr id="161" name="Text 158"/>
          <p:cNvSpPr/>
          <p:nvPr/>
        </p:nvSpPr>
        <p:spPr>
          <a:xfrm>
            <a:off x="7581305" y="4505027"/>
            <a:ext cx="28753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Units</a:t>
            </a:r>
            <a:endParaRPr lang="en-US" sz="621" dirty="0"/>
          </a:p>
        </p:txBody>
      </p:sp>
      <p:sp>
        <p:nvSpPr>
          <p:cNvPr id="162" name="Text 159"/>
          <p:cNvSpPr/>
          <p:nvPr/>
        </p:nvSpPr>
        <p:spPr>
          <a:xfrm>
            <a:off x="8226028" y="4505027"/>
            <a:ext cx="34647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4+ Units</a:t>
            </a:r>
            <a:endParaRPr lang="en-US" sz="621" dirty="0"/>
          </a:p>
        </p:txBody>
      </p:sp>
      <p:sp>
        <p:nvSpPr>
          <p:cNvPr id="163" name="Text 160"/>
          <p:cNvSpPr/>
          <p:nvPr/>
        </p:nvSpPr>
        <p:spPr>
          <a:xfrm>
            <a:off x="7572375" y="4823817"/>
            <a:ext cx="100012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16 Schedule Detail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500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64431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Multi-Week Planning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571500" y="1521619"/>
            <a:ext cx="2476481" cy="23288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521619"/>
            <a:ext cx="2462166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742950" y="1750219"/>
            <a:ext cx="5929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14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2396114" y="1755577"/>
            <a:ext cx="480417" cy="162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2396114" y="1755577"/>
            <a:ext cx="480417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742950" y="2219920"/>
            <a:ext cx="4304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2572922" y="2094905"/>
            <a:ext cx="30360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742950" y="2675334"/>
            <a:ext cx="1928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878192" y="2550319"/>
            <a:ext cx="9983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Types</a:t>
            </a:r>
            <a:endParaRPr lang="en-US" sz="1602" dirty="0"/>
          </a:p>
        </p:txBody>
      </p:sp>
      <p:sp>
        <p:nvSpPr>
          <p:cNvPr id="16" name="Shape 13"/>
          <p:cNvSpPr/>
          <p:nvPr/>
        </p:nvSpPr>
        <p:spPr>
          <a:xfrm>
            <a:off x="742950" y="3020020"/>
            <a:ext cx="2133581" cy="60186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7250" y="3148608"/>
            <a:ext cx="190498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</a:t>
            </a:r>
            <a:endParaRPr lang="en-US" sz="584" dirty="0"/>
          </a:p>
        </p:txBody>
      </p:sp>
      <p:sp>
        <p:nvSpPr>
          <p:cNvPr id="18" name="Shape 15"/>
          <p:cNvSpPr/>
          <p:nvPr/>
        </p:nvSpPr>
        <p:spPr>
          <a:xfrm>
            <a:off x="857250" y="3311128"/>
            <a:ext cx="630436" cy="167878"/>
          </a:xfrm>
          <a:prstGeom prst="rect">
            <a:avLst/>
          </a:prstGeom>
          <a:solidFill>
            <a:srgbClr val="0EA5E9">
              <a:alpha val="10000"/>
            </a:srgbClr>
          </a:solidFill>
          <a:ln w="9144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7250" y="3311128"/>
            <a:ext cx="630436" cy="16787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Mix</a:t>
            </a:r>
            <a:endParaRPr lang="en-US" sz="534" dirty="0"/>
          </a:p>
        </p:txBody>
      </p:sp>
      <p:sp>
        <p:nvSpPr>
          <p:cNvPr id="20" name="Shape 17"/>
          <p:cNvSpPr/>
          <p:nvPr/>
        </p:nvSpPr>
        <p:spPr>
          <a:xfrm>
            <a:off x="1534120" y="3311128"/>
            <a:ext cx="612577" cy="167878"/>
          </a:xfrm>
          <a:prstGeom prst="rect">
            <a:avLst/>
          </a:prstGeom>
          <a:solidFill>
            <a:srgbClr val="0EA5E9">
              <a:alpha val="10000"/>
            </a:srgbClr>
          </a:solidFill>
          <a:ln w="9144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34120" y="3311128"/>
            <a:ext cx="612577" cy="16787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Balance</a:t>
            </a:r>
            <a:endParaRPr lang="en-US" sz="534" dirty="0"/>
          </a:p>
        </p:txBody>
      </p:sp>
      <p:sp>
        <p:nvSpPr>
          <p:cNvPr id="22" name="Shape 19"/>
          <p:cNvSpPr/>
          <p:nvPr/>
        </p:nvSpPr>
        <p:spPr>
          <a:xfrm>
            <a:off x="3333731" y="1521619"/>
            <a:ext cx="2476509" cy="23288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33731" y="1521619"/>
            <a:ext cx="2462222" cy="28575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4" name="Text 21"/>
          <p:cNvSpPr/>
          <p:nvPr/>
        </p:nvSpPr>
        <p:spPr>
          <a:xfrm>
            <a:off x="3505181" y="1750219"/>
            <a:ext cx="5857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15</a:t>
            </a:r>
            <a:endParaRPr lang="en-US" sz="987" dirty="0"/>
          </a:p>
        </p:txBody>
      </p:sp>
      <p:sp>
        <p:nvSpPr>
          <p:cNvPr id="25" name="Shape 22"/>
          <p:cNvSpPr/>
          <p:nvPr/>
        </p:nvSpPr>
        <p:spPr>
          <a:xfrm>
            <a:off x="5144086" y="1755577"/>
            <a:ext cx="494705" cy="162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3"/>
          <p:cNvSpPr/>
          <p:nvPr/>
        </p:nvSpPr>
        <p:spPr>
          <a:xfrm>
            <a:off x="5144086" y="1755577"/>
            <a:ext cx="494705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3505181" y="2219920"/>
            <a:ext cx="4304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5335181" y="2094905"/>
            <a:ext cx="30360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602" dirty="0"/>
          </a:p>
        </p:txBody>
      </p:sp>
      <p:sp>
        <p:nvSpPr>
          <p:cNvPr id="29" name="Text 26"/>
          <p:cNvSpPr/>
          <p:nvPr/>
        </p:nvSpPr>
        <p:spPr>
          <a:xfrm>
            <a:off x="3505181" y="2675334"/>
            <a:ext cx="1928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640452" y="2550319"/>
            <a:ext cx="9983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Types</a:t>
            </a:r>
            <a:endParaRPr lang="en-US" sz="1602" dirty="0"/>
          </a:p>
        </p:txBody>
      </p:sp>
      <p:sp>
        <p:nvSpPr>
          <p:cNvPr id="31" name="Shape 28"/>
          <p:cNvSpPr/>
          <p:nvPr/>
        </p:nvSpPr>
        <p:spPr>
          <a:xfrm>
            <a:off x="3505181" y="3020020"/>
            <a:ext cx="2133609" cy="60186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19481" y="3148608"/>
            <a:ext cx="190500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</a:t>
            </a:r>
            <a:endParaRPr lang="en-US" sz="584" dirty="0"/>
          </a:p>
        </p:txBody>
      </p:sp>
      <p:sp>
        <p:nvSpPr>
          <p:cNvPr id="33" name="Shape 30"/>
          <p:cNvSpPr/>
          <p:nvPr/>
        </p:nvSpPr>
        <p:spPr>
          <a:xfrm>
            <a:off x="3619481" y="3311128"/>
            <a:ext cx="701873" cy="167878"/>
          </a:xfrm>
          <a:prstGeom prst="rect">
            <a:avLst/>
          </a:prstGeom>
          <a:solidFill>
            <a:srgbClr val="D946EF">
              <a:alpha val="10000"/>
            </a:srgbClr>
          </a:solidFill>
          <a:ln w="9144">
            <a:solidFill>
              <a:srgbClr val="D946EF">
                <a:alpha val="2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19481" y="3311128"/>
            <a:ext cx="701873" cy="16787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879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Refuse (Fri)</a:t>
            </a:r>
            <a:endParaRPr lang="en-US" sz="534" dirty="0"/>
          </a:p>
        </p:txBody>
      </p:sp>
      <p:sp>
        <p:nvSpPr>
          <p:cNvPr id="35" name="Shape 32"/>
          <p:cNvSpPr/>
          <p:nvPr/>
        </p:nvSpPr>
        <p:spPr>
          <a:xfrm>
            <a:off x="4367789" y="3311128"/>
            <a:ext cx="912614" cy="167878"/>
          </a:xfrm>
          <a:prstGeom prst="rect">
            <a:avLst/>
          </a:prstGeom>
          <a:solidFill>
            <a:srgbClr val="D946EF">
              <a:alpha val="10000"/>
            </a:srgbClr>
          </a:solidFill>
          <a:ln w="9144">
            <a:solidFill>
              <a:srgbClr val="D946EF">
                <a:alpha val="2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67789" y="3311128"/>
            <a:ext cx="912614" cy="16787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879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Rear Loader Spacing</a:t>
            </a:r>
            <a:endParaRPr lang="en-US" sz="534" dirty="0"/>
          </a:p>
        </p:txBody>
      </p:sp>
      <p:sp>
        <p:nvSpPr>
          <p:cNvPr id="37" name="Shape 34"/>
          <p:cNvSpPr/>
          <p:nvPr/>
        </p:nvSpPr>
        <p:spPr>
          <a:xfrm>
            <a:off x="6095991" y="1521619"/>
            <a:ext cx="2476481" cy="23288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95991" y="1521619"/>
            <a:ext cx="2462166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6"/>
          <p:cNvSpPr/>
          <p:nvPr/>
        </p:nvSpPr>
        <p:spPr>
          <a:xfrm>
            <a:off x="6267441" y="1750219"/>
            <a:ext cx="5893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16</a:t>
            </a:r>
            <a:endParaRPr lang="en-US" sz="987" dirty="0"/>
          </a:p>
        </p:txBody>
      </p:sp>
      <p:sp>
        <p:nvSpPr>
          <p:cNvPr id="40" name="Shape 37"/>
          <p:cNvSpPr/>
          <p:nvPr/>
        </p:nvSpPr>
        <p:spPr>
          <a:xfrm>
            <a:off x="7927749" y="1755577"/>
            <a:ext cx="473273" cy="162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8"/>
          <p:cNvSpPr/>
          <p:nvPr/>
        </p:nvSpPr>
        <p:spPr>
          <a:xfrm>
            <a:off x="7927749" y="1755577"/>
            <a:ext cx="473273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Vol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6267441" y="2219920"/>
            <a:ext cx="43041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8106342" y="2094905"/>
            <a:ext cx="29468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1602" dirty="0"/>
          </a:p>
        </p:txBody>
      </p:sp>
      <p:sp>
        <p:nvSpPr>
          <p:cNvPr id="44" name="Text 41"/>
          <p:cNvSpPr/>
          <p:nvPr/>
        </p:nvSpPr>
        <p:spPr>
          <a:xfrm>
            <a:off x="6267441" y="2675334"/>
            <a:ext cx="1928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7450903" y="2550319"/>
            <a:ext cx="95011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Types</a:t>
            </a:r>
            <a:endParaRPr lang="en-US" sz="1602" dirty="0"/>
          </a:p>
        </p:txBody>
      </p:sp>
      <p:sp>
        <p:nvSpPr>
          <p:cNvPr id="46" name="Shape 43"/>
          <p:cNvSpPr/>
          <p:nvPr/>
        </p:nvSpPr>
        <p:spPr>
          <a:xfrm>
            <a:off x="6267441" y="3005733"/>
            <a:ext cx="2133581" cy="60186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81741" y="3120033"/>
            <a:ext cx="190498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</a:t>
            </a:r>
            <a:endParaRPr lang="en-US" sz="584" dirty="0"/>
          </a:p>
        </p:txBody>
      </p:sp>
      <p:sp>
        <p:nvSpPr>
          <p:cNvPr id="48" name="Shape 45"/>
          <p:cNvSpPr/>
          <p:nvPr/>
        </p:nvSpPr>
        <p:spPr>
          <a:xfrm>
            <a:off x="6381741" y="3282553"/>
            <a:ext cx="650081" cy="16787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81741" y="3282553"/>
            <a:ext cx="650081" cy="16787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Capacity</a:t>
            </a:r>
            <a:endParaRPr lang="en-US" sz="534" dirty="0"/>
          </a:p>
        </p:txBody>
      </p:sp>
      <p:sp>
        <p:nvSpPr>
          <p:cNvPr id="50" name="Shape 47"/>
          <p:cNvSpPr/>
          <p:nvPr/>
        </p:nvSpPr>
        <p:spPr>
          <a:xfrm>
            <a:off x="7078256" y="3282553"/>
            <a:ext cx="659011" cy="16787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078256" y="3282553"/>
            <a:ext cx="659011" cy="16787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 Spacing</a:t>
            </a:r>
            <a:endParaRPr lang="en-US" sz="534" dirty="0"/>
          </a:p>
        </p:txBody>
      </p:sp>
      <p:sp>
        <p:nvSpPr>
          <p:cNvPr id="52" name="Shape 49"/>
          <p:cNvSpPr/>
          <p:nvPr/>
        </p:nvSpPr>
        <p:spPr>
          <a:xfrm>
            <a:off x="571500" y="4098727"/>
            <a:ext cx="8001000" cy="68044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4314825"/>
            <a:ext cx="228600" cy="228600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1314450" y="4270177"/>
            <a:ext cx="669548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Batch Processing</a:t>
            </a:r>
            <a:endParaRPr lang="en-US" sz="987" dirty="0"/>
          </a:p>
        </p:txBody>
      </p:sp>
      <p:sp>
        <p:nvSpPr>
          <p:cNvPr id="55" name="Text 51"/>
          <p:cNvSpPr/>
          <p:nvPr/>
        </p:nvSpPr>
        <p:spPr>
          <a:xfrm>
            <a:off x="1314450" y="4471988"/>
            <a:ext cx="66954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solver automatically detects the unique constraints of each week (e.g., Week 15's DC Refuse rule) and adapts optimization logic instantly.</a:t>
            </a:r>
            <a:endParaRPr lang="en-US" sz="727" dirty="0"/>
          </a:p>
        </p:txBody>
      </p:sp>
      <p:sp>
        <p:nvSpPr>
          <p:cNvPr id="56" name="Text 52"/>
          <p:cNvSpPr/>
          <p:nvPr/>
        </p:nvSpPr>
        <p:spPr>
          <a:xfrm>
            <a:off x="7284839" y="4823817"/>
            <a:ext cx="128766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Optimization Architecture</a:t>
            </a:r>
            <a:endParaRPr lang="en-US" sz="62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0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14425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 TESTING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"What-If" Scenario</a:t>
            </a:r>
            <a:endParaRPr lang="en-US" sz="2121" dirty="0"/>
          </a:p>
        </p:txBody>
      </p:sp>
      <p:sp>
        <p:nvSpPr>
          <p:cNvPr id="7" name="Text 4"/>
          <p:cNvSpPr/>
          <p:nvPr/>
        </p:nvSpPr>
        <p:spPr>
          <a:xfrm>
            <a:off x="571500" y="1400175"/>
            <a:ext cx="3500438" cy="307181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Disruption Event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571500" y="1964531"/>
            <a:ext cx="3500438" cy="821141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2950" y="2135981"/>
            <a:ext cx="342900" cy="3429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3" y="2235994"/>
            <a:ext cx="142875" cy="142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8725" y="2135981"/>
            <a:ext cx="26699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 Order Injection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1228725" y="2319933"/>
            <a:ext cx="266997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adds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units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Model-A on Wednesday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morning.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571500" y="2821781"/>
            <a:ext cx="3500438" cy="700088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2950" y="2993231"/>
            <a:ext cx="342900" cy="3429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3" y="3093244"/>
            <a:ext cx="142875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28725" y="2993231"/>
            <a:ext cx="22806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Constraint</a:t>
            </a:r>
            <a:endParaRPr lang="en-US" sz="885" dirty="0"/>
          </a:p>
        </p:txBody>
      </p:sp>
      <p:sp>
        <p:nvSpPr>
          <p:cNvPr id="17" name="Text 12"/>
          <p:cNvSpPr/>
          <p:nvPr/>
        </p:nvSpPr>
        <p:spPr>
          <a:xfrm>
            <a:off x="1228725" y="3177183"/>
            <a:ext cx="228064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2 goes down for maintenance on Thursday.</a:t>
            </a:r>
            <a:endParaRPr lang="en-US" sz="727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3" y="2943225"/>
            <a:ext cx="142875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72063" y="1400175"/>
            <a:ext cx="3500438" cy="307181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Solver Response</a:t>
            </a:r>
            <a:endParaRPr lang="en-US" sz="1193" dirty="0"/>
          </a:p>
        </p:txBody>
      </p:sp>
      <p:sp>
        <p:nvSpPr>
          <p:cNvPr id="20" name="Shape 14"/>
          <p:cNvSpPr/>
          <p:nvPr/>
        </p:nvSpPr>
        <p:spPr>
          <a:xfrm>
            <a:off x="5072063" y="1964531"/>
            <a:ext cx="3500438" cy="821141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243513" y="2135981"/>
            <a:ext cx="342900" cy="3429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525" y="2235994"/>
            <a:ext cx="142875" cy="1428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29288" y="2135981"/>
            <a:ext cx="26717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 Adjustment</a:t>
            </a:r>
            <a:endParaRPr lang="en-US" sz="885" dirty="0"/>
          </a:p>
        </p:txBody>
      </p:sp>
      <p:sp>
        <p:nvSpPr>
          <p:cNvPr id="24" name="Text 17"/>
          <p:cNvSpPr/>
          <p:nvPr/>
        </p:nvSpPr>
        <p:spPr>
          <a:xfrm>
            <a:off x="5729288" y="2319933"/>
            <a:ext cx="26717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(Line Balance)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weight to force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redistribution away from Line 2.</a:t>
            </a:r>
            <a:endParaRPr lang="en-US" sz="727" dirty="0"/>
          </a:p>
        </p:txBody>
      </p:sp>
      <p:sp>
        <p:nvSpPr>
          <p:cNvPr id="25" name="Shape 18"/>
          <p:cNvSpPr/>
          <p:nvPr/>
        </p:nvSpPr>
        <p:spPr>
          <a:xfrm>
            <a:off x="5072063" y="2942834"/>
            <a:ext cx="3500438" cy="821141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243513" y="3114284"/>
            <a:ext cx="342900" cy="3429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3214297"/>
            <a:ext cx="142875" cy="1428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729288" y="3114284"/>
            <a:ext cx="26717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Re-Optimization</a:t>
            </a:r>
            <a:endParaRPr lang="en-US" sz="885" dirty="0"/>
          </a:p>
        </p:txBody>
      </p:sp>
      <p:sp>
        <p:nvSpPr>
          <p:cNvPr id="29" name="Text 21"/>
          <p:cNvSpPr/>
          <p:nvPr/>
        </p:nvSpPr>
        <p:spPr>
          <a:xfrm>
            <a:off x="5729288" y="3298236"/>
            <a:ext cx="26717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Solver generates a new valid plan in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seconds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shifting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to Mon/Tue/Fri.</a:t>
            </a:r>
            <a:endParaRPr lang="en-US" sz="727" dirty="0"/>
          </a:p>
        </p:txBody>
      </p:sp>
      <p:sp>
        <p:nvSpPr>
          <p:cNvPr id="30" name="Text 22"/>
          <p:cNvSpPr/>
          <p:nvPr/>
        </p:nvSpPr>
        <p:spPr>
          <a:xfrm>
            <a:off x="7699177" y="4823817"/>
            <a:ext cx="87332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Agility Demonstration</a:t>
            </a:r>
            <a:endParaRPr lang="en-US" sz="62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500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64431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ANALYSIS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Automate Scheduling?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571500" y="1593056"/>
            <a:ext cx="2476481" cy="312181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593056"/>
            <a:ext cx="2462166" cy="42863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Shape 6"/>
          <p:cNvSpPr/>
          <p:nvPr/>
        </p:nvSpPr>
        <p:spPr>
          <a:xfrm>
            <a:off x="1516847" y="1878806"/>
            <a:ext cx="585788" cy="585788"/>
          </a:xfrm>
          <a:prstGeom prst="ellipse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41" y="205025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11489" y="2678906"/>
            <a:ext cx="59650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endParaRPr lang="en-US" sz="1808" dirty="0"/>
          </a:p>
        </p:txBody>
      </p:sp>
      <p:sp>
        <p:nvSpPr>
          <p:cNvPr id="12" name="Text 8"/>
          <p:cNvSpPr/>
          <p:nvPr/>
        </p:nvSpPr>
        <p:spPr>
          <a:xfrm>
            <a:off x="1150730" y="3048595"/>
            <a:ext cx="131802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Planning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800100" y="3370064"/>
            <a:ext cx="20192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weekly scheduling time from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hours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minutes, freeing planners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strategic tasks.</a:t>
            </a:r>
            <a:endParaRPr lang="en-US" sz="834" dirty="0"/>
          </a:p>
        </p:txBody>
      </p:sp>
      <p:sp>
        <p:nvSpPr>
          <p:cNvPr id="14" name="Shape 10"/>
          <p:cNvSpPr/>
          <p:nvPr/>
        </p:nvSpPr>
        <p:spPr>
          <a:xfrm>
            <a:off x="3333731" y="1593056"/>
            <a:ext cx="2476509" cy="312181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33731" y="1593056"/>
            <a:ext cx="2462222" cy="428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2"/>
          <p:cNvSpPr/>
          <p:nvPr/>
        </p:nvSpPr>
        <p:spPr>
          <a:xfrm>
            <a:off x="4279078" y="1878806"/>
            <a:ext cx="585788" cy="585788"/>
          </a:xfrm>
          <a:prstGeom prst="ellipse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960" y="2050256"/>
            <a:ext cx="200025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04069" y="2678906"/>
            <a:ext cx="73580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808" dirty="0"/>
          </a:p>
        </p:txBody>
      </p:sp>
      <p:sp>
        <p:nvSpPr>
          <p:cNvPr id="19" name="Text 14"/>
          <p:cNvSpPr/>
          <p:nvPr/>
        </p:nvSpPr>
        <p:spPr>
          <a:xfrm>
            <a:off x="3860276" y="3048595"/>
            <a:ext cx="14233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Compliance</a:t>
            </a:r>
            <a:endParaRPr lang="en-US" sz="1193" dirty="0"/>
          </a:p>
        </p:txBody>
      </p:sp>
      <p:sp>
        <p:nvSpPr>
          <p:cNvPr id="20" name="Text 15"/>
          <p:cNvSpPr/>
          <p:nvPr/>
        </p:nvSpPr>
        <p:spPr>
          <a:xfrm>
            <a:off x="3562331" y="3370064"/>
            <a:ext cx="20193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human error. Every constraint (spacing, day preference) is mathematically guaranteed.</a:t>
            </a:r>
            <a:endParaRPr lang="en-US" sz="834" dirty="0"/>
          </a:p>
        </p:txBody>
      </p:sp>
      <p:sp>
        <p:nvSpPr>
          <p:cNvPr id="21" name="Shape 16"/>
          <p:cNvSpPr/>
          <p:nvPr/>
        </p:nvSpPr>
        <p:spPr>
          <a:xfrm>
            <a:off x="6095991" y="1593056"/>
            <a:ext cx="2476481" cy="312181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95991" y="1593056"/>
            <a:ext cx="2462166" cy="4286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Shape 18"/>
          <p:cNvSpPr/>
          <p:nvPr/>
        </p:nvSpPr>
        <p:spPr>
          <a:xfrm>
            <a:off x="7041338" y="1878806"/>
            <a:ext cx="585788" cy="585788"/>
          </a:xfrm>
          <a:prstGeom prst="ellipse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931" y="2050256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75258" y="2678906"/>
            <a:ext cx="71794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+15%</a:t>
            </a:r>
            <a:endParaRPr lang="en-US" sz="1808" dirty="0"/>
          </a:p>
        </p:txBody>
      </p:sp>
      <p:sp>
        <p:nvSpPr>
          <p:cNvPr id="26" name="Text 20"/>
          <p:cNvSpPr/>
          <p:nvPr/>
        </p:nvSpPr>
        <p:spPr>
          <a:xfrm>
            <a:off x="6907392" y="3048595"/>
            <a:ext cx="853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</a:t>
            </a:r>
            <a:endParaRPr lang="en-US" sz="1193" dirty="0"/>
          </a:p>
        </p:txBody>
      </p:sp>
      <p:sp>
        <p:nvSpPr>
          <p:cNvPr id="27" name="Text 21"/>
          <p:cNvSpPr/>
          <p:nvPr/>
        </p:nvSpPr>
        <p:spPr>
          <a:xfrm>
            <a:off x="6324591" y="3370064"/>
            <a:ext cx="20192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line balancing reduces overtime costs and smooths material flow.</a:t>
            </a:r>
            <a:endParaRPr lang="en-US" sz="834" dirty="0"/>
          </a:p>
        </p:txBody>
      </p:sp>
      <p:sp>
        <p:nvSpPr>
          <p:cNvPr id="28" name="Text 22"/>
          <p:cNvSpPr/>
          <p:nvPr/>
        </p:nvSpPr>
        <p:spPr>
          <a:xfrm>
            <a:off x="7911703" y="4823817"/>
            <a:ext cx="660797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</a:t>
            </a:r>
            <a:endParaRPr lang="en-US" sz="62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500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64431"/>
            <a:ext cx="80010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PLAN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607219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&amp; Next Steps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571500" y="2050256"/>
            <a:ext cx="8001000" cy="285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5"/>
          <p:cNvSpPr/>
          <p:nvPr/>
        </p:nvSpPr>
        <p:spPr>
          <a:xfrm>
            <a:off x="1157288" y="1878806"/>
            <a:ext cx="400050" cy="400050"/>
          </a:xfrm>
          <a:prstGeom prst="ellipse">
            <a:avLst/>
          </a:prstGeom>
          <a:solidFill>
            <a:srgbClr val="0EA5E9"/>
          </a:solidFill>
          <a:ln w="27432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57288" y="1878806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571500" y="2393156"/>
            <a:ext cx="1571625" cy="129223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500" y="2393156"/>
            <a:ext cx="1557338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742950" y="2564606"/>
            <a:ext cx="122872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742950" y="2727127"/>
            <a:ext cx="1228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Demo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742950" y="2939653"/>
            <a:ext cx="1228725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core logic, constraints, and multi-week batch processing capability.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3300413" y="1878806"/>
            <a:ext cx="400050" cy="400050"/>
          </a:xfrm>
          <a:prstGeom prst="ellipse">
            <a:avLst/>
          </a:prstGeom>
          <a:solidFill>
            <a:srgbClr val="0EA5E9"/>
          </a:solidFill>
          <a:ln w="27432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00413" y="1878806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2714625" y="2393156"/>
            <a:ext cx="1571625" cy="115223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14625" y="2393156"/>
            <a:ext cx="1557338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6"/>
          <p:cNvSpPr/>
          <p:nvPr/>
        </p:nvSpPr>
        <p:spPr>
          <a:xfrm>
            <a:off x="2886075" y="2564606"/>
            <a:ext cx="122872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2886075" y="2727127"/>
            <a:ext cx="1228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Run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2886075" y="2939653"/>
            <a:ext cx="122872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parallel with manual planning for Week 17 to benchmark accuracy.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5443538" y="1878806"/>
            <a:ext cx="400050" cy="400050"/>
          </a:xfrm>
          <a:prstGeom prst="ellipse">
            <a:avLst/>
          </a:prstGeom>
          <a:solidFill>
            <a:srgbClr val="0F172A"/>
          </a:solidFill>
          <a:ln w="27432">
            <a:solidFill>
              <a:srgbClr val="6474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3538" y="1878806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85" dirty="0"/>
          </a:p>
        </p:txBody>
      </p:sp>
      <p:sp>
        <p:nvSpPr>
          <p:cNvPr id="24" name="Shape 21"/>
          <p:cNvSpPr/>
          <p:nvPr/>
        </p:nvSpPr>
        <p:spPr>
          <a:xfrm>
            <a:off x="4857750" y="2393156"/>
            <a:ext cx="1571625" cy="129223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57750" y="2393156"/>
            <a:ext cx="1557338" cy="28575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0" y="2564606"/>
            <a:ext cx="122872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5029200" y="2727127"/>
            <a:ext cx="1228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029200" y="2939653"/>
            <a:ext cx="122872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directly to ERP (SAP/Oracle) for automated data ingestion.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7586663" y="1878806"/>
            <a:ext cx="400050" cy="400050"/>
          </a:xfrm>
          <a:prstGeom prst="ellipse">
            <a:avLst/>
          </a:prstGeom>
          <a:solidFill>
            <a:srgbClr val="0F172A"/>
          </a:solidFill>
          <a:ln w="27432">
            <a:solidFill>
              <a:srgbClr val="64748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86663" y="1878806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7000875" y="2393156"/>
            <a:ext cx="1571625" cy="115223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00875" y="2393156"/>
            <a:ext cx="1557338" cy="28575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30"/>
          <p:cNvSpPr/>
          <p:nvPr/>
        </p:nvSpPr>
        <p:spPr>
          <a:xfrm>
            <a:off x="7172325" y="2564606"/>
            <a:ext cx="122872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2026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7172325" y="2727127"/>
            <a:ext cx="1228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Rollout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7172325" y="2939653"/>
            <a:ext cx="122872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to all 3 production lines and enable user-managed constraints.</a:t>
            </a:r>
            <a:endParaRPr lang="en-US" sz="727" dirty="0"/>
          </a:p>
        </p:txBody>
      </p:sp>
      <p:sp>
        <p:nvSpPr>
          <p:cNvPr id="36" name="Shape 33"/>
          <p:cNvSpPr/>
          <p:nvPr/>
        </p:nvSpPr>
        <p:spPr>
          <a:xfrm>
            <a:off x="571500" y="3990510"/>
            <a:ext cx="8001000" cy="724365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242857"/>
            <a:ext cx="285750" cy="2286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1143000" y="4176247"/>
            <a:ext cx="367724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Session</a:t>
            </a:r>
            <a:endParaRPr lang="en-US" sz="1193" dirty="0"/>
          </a:p>
        </p:txBody>
      </p:sp>
      <p:sp>
        <p:nvSpPr>
          <p:cNvPr id="39" name="Text 35"/>
          <p:cNvSpPr/>
          <p:nvPr/>
        </p:nvSpPr>
        <p:spPr>
          <a:xfrm>
            <a:off x="1143000" y="4383416"/>
            <a:ext cx="367724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floor for discussion on constraints, scalability, and integration.</a:t>
            </a:r>
            <a:endParaRPr lang="en-US" sz="834" dirty="0"/>
          </a:p>
        </p:txBody>
      </p:sp>
      <p:sp>
        <p:nvSpPr>
          <p:cNvPr id="40" name="Text 36"/>
          <p:cNvSpPr/>
          <p:nvPr/>
        </p:nvSpPr>
        <p:spPr>
          <a:xfrm>
            <a:off x="7197328" y="4299114"/>
            <a:ext cx="1203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PILOT KICKOFF</a:t>
            </a:r>
            <a:endParaRPr lang="en-US" sz="683" dirty="0"/>
          </a:p>
        </p:txBody>
      </p:sp>
      <p:sp>
        <p:nvSpPr>
          <p:cNvPr id="41" name="Text 37"/>
          <p:cNvSpPr/>
          <p:nvPr/>
        </p:nvSpPr>
        <p:spPr>
          <a:xfrm>
            <a:off x="7802761" y="4823817"/>
            <a:ext cx="76973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Roadmap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2026-03-05T14:21:21Z</dcterms:created>
  <dcterms:modified xsi:type="dcterms:W3CDTF">2026-03-05T14:21:21Z</dcterms:modified>
</cp:coreProperties>
</file>