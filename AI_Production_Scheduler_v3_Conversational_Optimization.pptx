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6707" y="1313920"/>
            <a:ext cx="1830586" cy="250031"/>
          </a:xfrm>
          <a:prstGeom prst="roundRect">
            <a:avLst/>
          </a:prstGeom>
          <a:solidFill>
            <a:srgbClr val="0EA5E9">
              <a:alpha val="10000"/>
            </a:srgbClr>
          </a:solidFill>
          <a:ln w="9144">
            <a:solidFill>
              <a:srgbClr val="0EA5E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6707" y="1313920"/>
            <a:ext cx="1830586" cy="250031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NEXT-GEN OPTIMIZATION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2842320" y="1728257"/>
            <a:ext cx="3459361" cy="1131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3731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Production</a:t>
            </a:r>
            <a:pPr algn="ctr" indent="0" marL="0">
              <a:lnSpc>
                <a:spcPts val="4500"/>
              </a:lnSpc>
              <a:buNone/>
            </a:pPr>
            <a:r>
              <a:rPr lang="en-US" sz="3731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4500"/>
              </a:lnSpc>
              <a:buNone/>
            </a:pPr>
            <a:r>
              <a:rPr lang="en-US" sz="3731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Scheduler v3</a:t>
            </a:r>
            <a:endParaRPr lang="en-US" sz="3731" dirty="0"/>
          </a:p>
        </p:txBody>
      </p:sp>
      <p:sp>
        <p:nvSpPr>
          <p:cNvPr id="6" name="Text 3"/>
          <p:cNvSpPr/>
          <p:nvPr/>
        </p:nvSpPr>
        <p:spPr>
          <a:xfrm>
            <a:off x="2842320" y="2974116"/>
            <a:ext cx="345936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spc="1" kern="0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Conversational Optimization</a:t>
            </a:r>
            <a:endParaRPr lang="en-US" sz="1704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320" y="3593836"/>
            <a:ext cx="285750" cy="22860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6670" y="3593836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0" y="4559498"/>
            <a:ext cx="9144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spc="1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Democratizing Data through Intelligence</a:t>
            </a:r>
            <a:endParaRPr lang="en-US" sz="94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1657350" cy="205383"/>
          </a:xfrm>
          <a:prstGeom prst="rect">
            <a:avLst/>
          </a:prstGeom>
          <a:solidFill>
            <a:srgbClr val="0EA5E9">
              <a:alpha val="10000"/>
            </a:srgbClr>
          </a:solidFill>
          <a:ln w="9144">
            <a:solidFill>
              <a:srgbClr val="0EA5E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71500" y="571500"/>
            <a:ext cx="1657350" cy="205383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CONVERSATIONAL INTERFACE</a:t>
            </a:r>
            <a:endParaRPr lang="en-US" sz="584" dirty="0"/>
          </a:p>
        </p:txBody>
      </p:sp>
      <p:sp>
        <p:nvSpPr>
          <p:cNvPr id="5" name="Text 2"/>
          <p:cNvSpPr/>
          <p:nvPr/>
        </p:nvSpPr>
        <p:spPr>
          <a:xfrm>
            <a:off x="571500" y="934045"/>
            <a:ext cx="3714750" cy="1234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Assistant: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Scheduling Co-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2339885"/>
            <a:ext cx="371475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 Language Interface removes the technical barrier to optimization.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71500" y="2868523"/>
            <a:ext cx="342900" cy="342900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2982823"/>
            <a:ext cx="142875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8700" y="2868523"/>
            <a:ext cx="32575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Access to Insights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1028700" y="3098909"/>
            <a:ext cx="3257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questions directly from any screen. No more manual data exports or complex spreadsheet analysis.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571500" y="3584684"/>
            <a:ext cx="342900" cy="342900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98984"/>
            <a:ext cx="114300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28700" y="3584684"/>
            <a:ext cx="32575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 Transparency</a:t>
            </a:r>
            <a:endParaRPr lang="en-US" sz="987" dirty="0"/>
          </a:p>
        </p:txBody>
      </p:sp>
      <p:sp>
        <p:nvSpPr>
          <p:cNvPr id="14" name="Text 9"/>
          <p:cNvSpPr/>
          <p:nvPr/>
        </p:nvSpPr>
        <p:spPr>
          <a:xfrm>
            <a:off x="1028700" y="3815069"/>
            <a:ext cx="3257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the "Why" behind every decision. The AI explains CP-SAT logic in plain business language.</a:t>
            </a:r>
            <a:endParaRPr lang="en-US" sz="834" dirty="0"/>
          </a:p>
        </p:txBody>
      </p:sp>
      <p:sp>
        <p:nvSpPr>
          <p:cNvPr id="15" name="Shape 10"/>
          <p:cNvSpPr/>
          <p:nvPr/>
        </p:nvSpPr>
        <p:spPr>
          <a:xfrm>
            <a:off x="571500" y="4300844"/>
            <a:ext cx="342900" cy="342900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944" y="4415144"/>
            <a:ext cx="100013" cy="1143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28700" y="4300844"/>
            <a:ext cx="32575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Empowerment</a:t>
            </a:r>
            <a:endParaRPr lang="en-US" sz="987" dirty="0"/>
          </a:p>
        </p:txBody>
      </p:sp>
      <p:sp>
        <p:nvSpPr>
          <p:cNvPr id="18" name="Text 12"/>
          <p:cNvSpPr/>
          <p:nvPr/>
        </p:nvSpPr>
        <p:spPr>
          <a:xfrm>
            <a:off x="1028700" y="4531230"/>
            <a:ext cx="3257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Directly interact with the model without needing a technical analyst or data scientist in the room.</a:t>
            </a:r>
            <a:endParaRPr lang="en-US" sz="834" dirty="0"/>
          </a:p>
        </p:txBody>
      </p:sp>
      <p:sp>
        <p:nvSpPr>
          <p:cNvPr id="19" name="Shape 13"/>
          <p:cNvSpPr/>
          <p:nvPr/>
        </p:nvSpPr>
        <p:spPr>
          <a:xfrm>
            <a:off x="4929188" y="571500"/>
            <a:ext cx="3571875" cy="323790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929188" y="571500"/>
            <a:ext cx="3571875" cy="366117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0638" y="697409"/>
            <a:ext cx="142875" cy="1143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29238" y="685800"/>
            <a:ext cx="132695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Scheduling Assistant</a:t>
            </a:r>
            <a:endParaRPr lang="en-US" sz="784" dirty="0"/>
          </a:p>
        </p:txBody>
      </p:sp>
      <p:sp>
        <p:nvSpPr>
          <p:cNvPr id="23" name="Shape 16"/>
          <p:cNvSpPr/>
          <p:nvPr/>
        </p:nvSpPr>
        <p:spPr>
          <a:xfrm>
            <a:off x="5584989" y="1109067"/>
            <a:ext cx="2744623" cy="29289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4" name="Text 17"/>
          <p:cNvSpPr/>
          <p:nvPr/>
        </p:nvSpPr>
        <p:spPr>
          <a:xfrm>
            <a:off x="5584989" y="1109067"/>
            <a:ext cx="2744623" cy="292894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models are loaded for Week 16?</a:t>
            </a:r>
            <a:endParaRPr lang="en-US" sz="727" dirty="0"/>
          </a:p>
        </p:txBody>
      </p:sp>
      <p:sp>
        <p:nvSpPr>
          <p:cNvPr id="25" name="Shape 18"/>
          <p:cNvSpPr/>
          <p:nvPr/>
        </p:nvSpPr>
        <p:spPr>
          <a:xfrm>
            <a:off x="5100638" y="1573411"/>
            <a:ext cx="2744623" cy="62150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Text 19"/>
          <p:cNvSpPr/>
          <p:nvPr/>
        </p:nvSpPr>
        <p:spPr>
          <a:xfrm>
            <a:off x="5100638" y="1573411"/>
            <a:ext cx="2744623" cy="621506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16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I've loaded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 units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across 14 models.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primary models are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Rear Loader 2512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(3 units)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PKRRLSB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(1 unit).</a:t>
            </a:r>
            <a:endParaRPr lang="en-US" sz="727" dirty="0"/>
          </a:p>
        </p:txBody>
      </p:sp>
      <p:sp>
        <p:nvSpPr>
          <p:cNvPr id="27" name="Shape 20"/>
          <p:cNvSpPr/>
          <p:nvPr/>
        </p:nvSpPr>
        <p:spPr>
          <a:xfrm>
            <a:off x="5584989" y="2366367"/>
            <a:ext cx="2744623" cy="29289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8" name="Text 21"/>
          <p:cNvSpPr/>
          <p:nvPr/>
        </p:nvSpPr>
        <p:spPr>
          <a:xfrm>
            <a:off x="5584989" y="2366367"/>
            <a:ext cx="2744623" cy="292894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is Line 1 busier on Friday?</a:t>
            </a:r>
            <a:endParaRPr lang="en-US" sz="727" dirty="0"/>
          </a:p>
        </p:txBody>
      </p:sp>
      <p:sp>
        <p:nvSpPr>
          <p:cNvPr id="29" name="Shape 22"/>
          <p:cNvSpPr/>
          <p:nvPr/>
        </p:nvSpPr>
        <p:spPr>
          <a:xfrm>
            <a:off x="5100638" y="2830711"/>
            <a:ext cx="2744623" cy="62150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0" name="Text 23"/>
          <p:cNvSpPr/>
          <p:nvPr/>
        </p:nvSpPr>
        <p:spPr>
          <a:xfrm>
            <a:off x="5100638" y="2830711"/>
            <a:ext cx="2744623" cy="621506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 1 has a peak on Friday due to the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DC Refuse Stock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constraint, which prioritizes Friday scheduling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that specific model.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1130498" cy="20538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71500" y="428625"/>
            <a:ext cx="1130498" cy="205383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INTEGRATION</a:t>
            </a:r>
            <a:endParaRPr lang="en-US" sz="584" dirty="0"/>
          </a:p>
        </p:txBody>
      </p:sp>
      <p:sp>
        <p:nvSpPr>
          <p:cNvPr id="5" name="Text 2"/>
          <p:cNvSpPr/>
          <p:nvPr/>
        </p:nvSpPr>
        <p:spPr>
          <a:xfrm>
            <a:off x="571500" y="734020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Context-Aware Intelligence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262658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"sees" exactly what the solver sees, in real-time.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71500" y="1898452"/>
            <a:ext cx="2286000" cy="191809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484" y="2134195"/>
            <a:ext cx="250031" cy="285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0100" y="2591395"/>
            <a:ext cx="18288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Ingestion</a:t>
            </a:r>
            <a:endParaRPr lang="en-US" sz="1090" dirty="0"/>
          </a:p>
        </p:txBody>
      </p:sp>
      <p:sp>
        <p:nvSpPr>
          <p:cNvPr id="10" name="Text 6"/>
          <p:cNvSpPr/>
          <p:nvPr/>
        </p:nvSpPr>
        <p:spPr>
          <a:xfrm>
            <a:off x="800100" y="2895005"/>
            <a:ext cx="1828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demand rows, model types, and production line capacities are fed directly into the AI context.</a:t>
            </a:r>
            <a:endParaRPr lang="en-US" sz="78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813" y="2654796"/>
            <a:ext cx="142875" cy="228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429000" y="1898452"/>
            <a:ext cx="2286000" cy="1746647"/>
          </a:xfrm>
          <a:prstGeom prst="rect">
            <a:avLst/>
          </a:prstGeom>
          <a:solidFill>
            <a:srgbClr val="0EA5E9">
              <a:alpha val="5000"/>
            </a:srgbClr>
          </a:solidFill>
          <a:ln w="9144">
            <a:solidFill>
              <a:srgbClr val="0EA5E9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25" y="2134195"/>
            <a:ext cx="285750" cy="285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657600" y="2591395"/>
            <a:ext cx="18288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Solver Sync</a:t>
            </a:r>
            <a:endParaRPr lang="en-US" sz="1090" dirty="0"/>
          </a:p>
        </p:txBody>
      </p:sp>
      <p:sp>
        <p:nvSpPr>
          <p:cNvPr id="15" name="Text 9"/>
          <p:cNvSpPr/>
          <p:nvPr/>
        </p:nvSpPr>
        <p:spPr>
          <a:xfrm>
            <a:off x="3657600" y="2895005"/>
            <a:ext cx="1828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Assistant monitors solver status, objective scores, and daily production distribution.</a:t>
            </a:r>
            <a:endParaRPr lang="en-US" sz="78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9313" y="2654796"/>
            <a:ext cx="142875" cy="22860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286500" y="1898452"/>
            <a:ext cx="2286000" cy="174664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2344" y="2127052"/>
            <a:ext cx="214313" cy="28575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515100" y="2584252"/>
            <a:ext cx="18288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 Generation</a:t>
            </a:r>
            <a:endParaRPr lang="en-US" sz="1090" dirty="0"/>
          </a:p>
        </p:txBody>
      </p:sp>
      <p:sp>
        <p:nvSpPr>
          <p:cNvPr id="20" name="Text 12"/>
          <p:cNvSpPr/>
          <p:nvPr/>
        </p:nvSpPr>
        <p:spPr>
          <a:xfrm>
            <a:off x="6515100" y="2887861"/>
            <a:ext cx="1828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 language summaries, root cause analysis, and constraint compliance reporting.</a:t>
            </a:r>
            <a:endParaRPr lang="en-US" sz="78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065687"/>
            <a:ext cx="142875" cy="14287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828675" y="4059436"/>
            <a:ext cx="153769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Demand Sync</a:t>
            </a:r>
            <a:endParaRPr lang="en-US" sz="885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3731" y="4065687"/>
            <a:ext cx="142875" cy="142875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590906" y="4059436"/>
            <a:ext cx="15501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Constraint Rule Mapping</a:t>
            </a:r>
            <a:endParaRPr lang="en-US" sz="885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5991" y="4065687"/>
            <a:ext cx="142875" cy="142875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6353166" y="4059436"/>
            <a:ext cx="15555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Solver Result Awareness</a:t>
            </a:r>
            <a:endParaRPr lang="en-US" sz="88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1139428" cy="205383"/>
          </a:xfrm>
          <a:prstGeom prst="rect">
            <a:avLst/>
          </a:prstGeom>
          <a:solidFill>
            <a:srgbClr val="0EA5E9">
              <a:alpha val="10000"/>
            </a:srgbClr>
          </a:solidFill>
          <a:ln w="9144">
            <a:solidFill>
              <a:srgbClr val="0EA5E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71500" y="571500"/>
            <a:ext cx="1139428" cy="205383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CORPORATE READY</a:t>
            </a:r>
            <a:endParaRPr lang="en-US" sz="584" dirty="0"/>
          </a:p>
        </p:txBody>
      </p:sp>
      <p:sp>
        <p:nvSpPr>
          <p:cNvPr id="5" name="Text 2"/>
          <p:cNvSpPr/>
          <p:nvPr/>
        </p:nvSpPr>
        <p:spPr>
          <a:xfrm>
            <a:off x="571500" y="934045"/>
            <a:ext cx="371475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Enterprise-Grade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&amp; Control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928422"/>
            <a:ext cx="371475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AI integration with strict cost management.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71500" y="2628509"/>
            <a:ext cx="342900" cy="342900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42809"/>
            <a:ext cx="114300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7275" y="2628509"/>
            <a:ext cx="322897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OpenAI Powered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1057275" y="2858895"/>
            <a:ext cx="32289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Leverages your corporate Azure infrastructure for data privacy. Your production data never leaves your secure environment.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571500" y="3601845"/>
            <a:ext cx="342900" cy="342900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44" y="3716145"/>
            <a:ext cx="100013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7275" y="3601845"/>
            <a:ext cx="322897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Sovereignty</a:t>
            </a:r>
            <a:endParaRPr lang="en-US" sz="987" dirty="0"/>
          </a:p>
        </p:txBody>
      </p:sp>
      <p:sp>
        <p:nvSpPr>
          <p:cNvPr id="14" name="Text 9"/>
          <p:cNvSpPr/>
          <p:nvPr/>
        </p:nvSpPr>
        <p:spPr>
          <a:xfrm>
            <a:off x="1057275" y="3832231"/>
            <a:ext cx="3228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 context isolation. The AI Assistant only accesses data relevant to the current scheduling session.</a:t>
            </a:r>
            <a:endParaRPr lang="en-US" sz="834" dirty="0"/>
          </a:p>
        </p:txBody>
      </p:sp>
      <p:sp>
        <p:nvSpPr>
          <p:cNvPr id="15" name="Shape 10"/>
          <p:cNvSpPr/>
          <p:nvPr/>
        </p:nvSpPr>
        <p:spPr>
          <a:xfrm>
            <a:off x="4857750" y="714375"/>
            <a:ext cx="3714750" cy="211097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143500" y="1000125"/>
            <a:ext cx="134659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Token Budget</a:t>
            </a:r>
            <a:endParaRPr lang="en-US" sz="987" dirty="0"/>
          </a:p>
        </p:txBody>
      </p:sp>
      <p:sp>
        <p:nvSpPr>
          <p:cNvPr id="17" name="Text 12"/>
          <p:cNvSpPr/>
          <p:nvPr/>
        </p:nvSpPr>
        <p:spPr>
          <a:xfrm>
            <a:off x="7184827" y="1009055"/>
            <a:ext cx="110192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65,000 / 100,000</a:t>
            </a:r>
            <a:endParaRPr lang="en-US" sz="885" dirty="0"/>
          </a:p>
        </p:txBody>
      </p:sp>
      <p:sp>
        <p:nvSpPr>
          <p:cNvPr id="18" name="Shape 13"/>
          <p:cNvSpPr/>
          <p:nvPr/>
        </p:nvSpPr>
        <p:spPr>
          <a:xfrm>
            <a:off x="5143500" y="1344811"/>
            <a:ext cx="3143250" cy="85725"/>
          </a:xfrm>
          <a:prstGeom prst="roundRect">
            <a:avLst/>
          </a:prstGeom>
          <a:solidFill>
            <a:srgbClr val="334155"/>
          </a:solidFill>
          <a:ln/>
        </p:spPr>
      </p:sp>
      <p:sp>
        <p:nvSpPr>
          <p:cNvPr id="19" name="Text 14"/>
          <p:cNvSpPr/>
          <p:nvPr/>
        </p:nvSpPr>
        <p:spPr>
          <a:xfrm>
            <a:off x="5143500" y="1544836"/>
            <a:ext cx="43398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Tokens</a:t>
            </a:r>
            <a:endParaRPr lang="en-US" sz="727" dirty="0"/>
          </a:p>
        </p:txBody>
      </p:sp>
      <p:sp>
        <p:nvSpPr>
          <p:cNvPr id="20" name="Text 15"/>
          <p:cNvSpPr/>
          <p:nvPr/>
        </p:nvSpPr>
        <p:spPr>
          <a:xfrm>
            <a:off x="7356277" y="1544836"/>
            <a:ext cx="93047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Limit Reached</a:t>
            </a:r>
            <a:endParaRPr lang="en-US" sz="727" dirty="0"/>
          </a:p>
        </p:txBody>
      </p:sp>
      <p:sp>
        <p:nvSpPr>
          <p:cNvPr id="21" name="Shape 16"/>
          <p:cNvSpPr/>
          <p:nvPr/>
        </p:nvSpPr>
        <p:spPr>
          <a:xfrm>
            <a:off x="5143500" y="1894880"/>
            <a:ext cx="1500188" cy="630436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5286375" y="2037755"/>
            <a:ext cx="12144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124</a:t>
            </a:r>
            <a:endParaRPr lang="en-US" sz="1193" dirty="0"/>
          </a:p>
        </p:txBody>
      </p:sp>
      <p:sp>
        <p:nvSpPr>
          <p:cNvPr id="23" name="Text 18"/>
          <p:cNvSpPr/>
          <p:nvPr/>
        </p:nvSpPr>
        <p:spPr>
          <a:xfrm>
            <a:off x="5466755" y="2271713"/>
            <a:ext cx="853678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REQUESTS</a:t>
            </a:r>
            <a:endParaRPr lang="en-US" sz="621" dirty="0"/>
          </a:p>
        </p:txBody>
      </p:sp>
      <p:sp>
        <p:nvSpPr>
          <p:cNvPr id="24" name="Shape 19"/>
          <p:cNvSpPr/>
          <p:nvPr/>
        </p:nvSpPr>
        <p:spPr>
          <a:xfrm>
            <a:off x="6786563" y="1894880"/>
            <a:ext cx="1500188" cy="630436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25" name="Text 20"/>
          <p:cNvSpPr/>
          <p:nvPr/>
        </p:nvSpPr>
        <p:spPr>
          <a:xfrm>
            <a:off x="6929438" y="2037755"/>
            <a:ext cx="12144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850</a:t>
            </a:r>
            <a:endParaRPr lang="en-US" sz="1193" dirty="0"/>
          </a:p>
        </p:txBody>
      </p:sp>
      <p:sp>
        <p:nvSpPr>
          <p:cNvPr id="26" name="Text 21"/>
          <p:cNvSpPr/>
          <p:nvPr/>
        </p:nvSpPr>
        <p:spPr>
          <a:xfrm>
            <a:off x="7041952" y="2271713"/>
            <a:ext cx="989409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TOKENS/REPLY</a:t>
            </a:r>
            <a:endParaRPr lang="en-US" sz="621" dirty="0"/>
          </a:p>
        </p:txBody>
      </p:sp>
      <p:sp>
        <p:nvSpPr>
          <p:cNvPr id="27" name="Shape 22"/>
          <p:cNvSpPr/>
          <p:nvPr/>
        </p:nvSpPr>
        <p:spPr>
          <a:xfrm>
            <a:off x="4857750" y="3096816"/>
            <a:ext cx="342900" cy="342900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3211116"/>
            <a:ext cx="114300" cy="1143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43525" y="3096816"/>
            <a:ext cx="322897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Cost Tracking</a:t>
            </a:r>
            <a:endParaRPr lang="en-US" sz="987" dirty="0"/>
          </a:p>
        </p:txBody>
      </p:sp>
      <p:sp>
        <p:nvSpPr>
          <p:cNvPr id="30" name="Text 24"/>
          <p:cNvSpPr/>
          <p:nvPr/>
        </p:nvSpPr>
        <p:spPr>
          <a:xfrm>
            <a:off x="5343525" y="3327202"/>
            <a:ext cx="3228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daily consumption with visual progress bars. Automatic blocking prevents budget overruns.</a:t>
            </a:r>
            <a:endParaRPr lang="en-US" sz="8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1530548" cy="205383"/>
          </a:xfrm>
          <a:prstGeom prst="rect">
            <a:avLst/>
          </a:prstGeom>
          <a:solidFill>
            <a:srgbClr val="F97316">
              <a:alpha val="10000"/>
            </a:srgbClr>
          </a:solidFill>
          <a:ln w="9144">
            <a:solidFill>
              <a:srgbClr val="F9731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71500" y="428625"/>
            <a:ext cx="1530548" cy="205383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EXCELLENCE</a:t>
            </a:r>
            <a:endParaRPr lang="en-US" sz="584" dirty="0"/>
          </a:p>
        </p:txBody>
      </p:sp>
      <p:sp>
        <p:nvSpPr>
          <p:cNvPr id="5" name="Text 2"/>
          <p:cNvSpPr/>
          <p:nvPr/>
        </p:nvSpPr>
        <p:spPr>
          <a:xfrm>
            <a:off x="571500" y="734020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Constraint Engine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262658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Hard-coded business rules for specialized production requirements.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71500" y="1755577"/>
            <a:ext cx="3886200" cy="150911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0100" y="1984177"/>
            <a:ext cx="457200" cy="457200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8" y="2112764"/>
            <a:ext cx="200025" cy="2000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28750" y="1984177"/>
            <a:ext cx="28003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Rear Loader 2512 Spacing</a:t>
            </a:r>
            <a:endParaRPr lang="en-US" sz="1090" dirty="0"/>
          </a:p>
        </p:txBody>
      </p:sp>
      <p:sp>
        <p:nvSpPr>
          <p:cNvPr id="11" name="Text 7"/>
          <p:cNvSpPr/>
          <p:nvPr/>
        </p:nvSpPr>
        <p:spPr>
          <a:xfrm>
            <a:off x="1428750" y="2259211"/>
            <a:ext cx="2800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Enforces a maximum of 1 unit per day. Automatically spaces production across the week (e.g., Mon/Wed/Fri) to prevent line congestion.</a:t>
            </a:r>
            <a:endParaRPr lang="en-US" sz="834" dirty="0"/>
          </a:p>
        </p:txBody>
      </p:sp>
      <p:sp>
        <p:nvSpPr>
          <p:cNvPr id="12" name="Shape 8"/>
          <p:cNvSpPr/>
          <p:nvPr/>
        </p:nvSpPr>
        <p:spPr>
          <a:xfrm>
            <a:off x="1428750" y="2859286"/>
            <a:ext cx="959048" cy="16252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1428750" y="2859286"/>
            <a:ext cx="959048" cy="16252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CONSTRAINT</a:t>
            </a:r>
            <a:endParaRPr lang="en-US" sz="584" dirty="0"/>
          </a:p>
        </p:txBody>
      </p:sp>
      <p:sp>
        <p:nvSpPr>
          <p:cNvPr id="14" name="Shape 10"/>
          <p:cNvSpPr/>
          <p:nvPr/>
        </p:nvSpPr>
        <p:spPr>
          <a:xfrm>
            <a:off x="4686300" y="1755577"/>
            <a:ext cx="3886200" cy="150911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914900" y="1984177"/>
            <a:ext cx="457200" cy="457200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5989" y="2112764"/>
            <a:ext cx="175022" cy="2000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43550" y="1984177"/>
            <a:ext cx="28003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PKRRLSB Preference</a:t>
            </a:r>
            <a:endParaRPr lang="en-US" sz="1090" dirty="0"/>
          </a:p>
        </p:txBody>
      </p:sp>
      <p:sp>
        <p:nvSpPr>
          <p:cNvPr id="18" name="Text 13"/>
          <p:cNvSpPr/>
          <p:nvPr/>
        </p:nvSpPr>
        <p:spPr>
          <a:xfrm>
            <a:off x="5543550" y="2259211"/>
            <a:ext cx="2800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Prioritizes scheduling on Tuesdays and Thursdays. Optimizes for specific labor availability or tooling setups required for this model.</a:t>
            </a:r>
            <a:endParaRPr lang="en-US" sz="834" dirty="0"/>
          </a:p>
        </p:txBody>
      </p:sp>
      <p:sp>
        <p:nvSpPr>
          <p:cNvPr id="19" name="Shape 14"/>
          <p:cNvSpPr/>
          <p:nvPr/>
        </p:nvSpPr>
        <p:spPr>
          <a:xfrm>
            <a:off x="5543550" y="2859286"/>
            <a:ext cx="919758" cy="16252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5543550" y="2859286"/>
            <a:ext cx="919758" cy="16252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 PREFERENCE</a:t>
            </a:r>
            <a:endParaRPr lang="en-US" sz="584" dirty="0"/>
          </a:p>
        </p:txBody>
      </p:sp>
      <p:sp>
        <p:nvSpPr>
          <p:cNvPr id="21" name="Shape 16"/>
          <p:cNvSpPr/>
          <p:nvPr/>
        </p:nvSpPr>
        <p:spPr>
          <a:xfrm>
            <a:off x="571500" y="3479006"/>
            <a:ext cx="3886200" cy="150911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00100" y="3707606"/>
            <a:ext cx="457200" cy="457200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189" y="3836194"/>
            <a:ext cx="175022" cy="20002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28750" y="3707606"/>
            <a:ext cx="28003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PKRML Preference</a:t>
            </a:r>
            <a:endParaRPr lang="en-US" sz="1090" dirty="0"/>
          </a:p>
        </p:txBody>
      </p:sp>
      <p:sp>
        <p:nvSpPr>
          <p:cNvPr id="25" name="Text 19"/>
          <p:cNvSpPr/>
          <p:nvPr/>
        </p:nvSpPr>
        <p:spPr>
          <a:xfrm>
            <a:off x="1428750" y="3982641"/>
            <a:ext cx="2800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Aligns Manual Side Loader production with Tuesday and Thursday slots, ensuring consistent workflow for manual assembly teams.</a:t>
            </a:r>
            <a:endParaRPr lang="en-US" sz="834" dirty="0"/>
          </a:p>
        </p:txBody>
      </p:sp>
      <p:sp>
        <p:nvSpPr>
          <p:cNvPr id="26" name="Shape 20"/>
          <p:cNvSpPr/>
          <p:nvPr/>
        </p:nvSpPr>
        <p:spPr>
          <a:xfrm>
            <a:off x="1428750" y="4582716"/>
            <a:ext cx="919758" cy="16252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1428750" y="4582716"/>
            <a:ext cx="919758" cy="16252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 PREFERENCE</a:t>
            </a:r>
            <a:endParaRPr lang="en-US" sz="584" dirty="0"/>
          </a:p>
        </p:txBody>
      </p:sp>
      <p:sp>
        <p:nvSpPr>
          <p:cNvPr id="28" name="Shape 22"/>
          <p:cNvSpPr/>
          <p:nvPr/>
        </p:nvSpPr>
        <p:spPr>
          <a:xfrm>
            <a:off x="4686300" y="3479006"/>
            <a:ext cx="3886200" cy="150911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914900" y="3707606"/>
            <a:ext cx="457200" cy="457200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8484" y="3836194"/>
            <a:ext cx="250031" cy="20002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543550" y="3707606"/>
            <a:ext cx="28003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DC Refuse Stock Priority</a:t>
            </a:r>
            <a:endParaRPr lang="en-US" sz="1090" dirty="0"/>
          </a:p>
        </p:txBody>
      </p:sp>
      <p:sp>
        <p:nvSpPr>
          <p:cNvPr id="32" name="Text 25"/>
          <p:cNvSpPr/>
          <p:nvPr/>
        </p:nvSpPr>
        <p:spPr>
          <a:xfrm>
            <a:off x="5543550" y="3982641"/>
            <a:ext cx="2800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Preferentially schedules units on Fridays. Ensures stock is ready for weekend distribution or early Monday dispatch.</a:t>
            </a:r>
            <a:endParaRPr lang="en-US" sz="834" dirty="0"/>
          </a:p>
        </p:txBody>
      </p:sp>
      <p:sp>
        <p:nvSpPr>
          <p:cNvPr id="33" name="Shape 26"/>
          <p:cNvSpPr/>
          <p:nvPr/>
        </p:nvSpPr>
        <p:spPr>
          <a:xfrm>
            <a:off x="5543550" y="4582716"/>
            <a:ext cx="919758" cy="16252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34" name="Text 27"/>
          <p:cNvSpPr/>
          <p:nvPr/>
        </p:nvSpPr>
        <p:spPr>
          <a:xfrm>
            <a:off x="5543550" y="4582716"/>
            <a:ext cx="919758" cy="16252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 PREFERENCE</a:t>
            </a:r>
            <a:endParaRPr lang="en-US" sz="58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1482328" cy="205383"/>
          </a:xfrm>
          <a:prstGeom prst="rect">
            <a:avLst/>
          </a:prstGeom>
          <a:solidFill>
            <a:srgbClr val="0EA5E9">
              <a:alpha val="10000"/>
            </a:srgbClr>
          </a:solidFill>
          <a:ln w="9144">
            <a:solidFill>
              <a:srgbClr val="0EA5E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71500" y="428625"/>
            <a:ext cx="1482328" cy="205383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ARCHITECTURE</a:t>
            </a:r>
            <a:endParaRPr lang="en-US" sz="584" dirty="0"/>
          </a:p>
        </p:txBody>
      </p:sp>
      <p:sp>
        <p:nvSpPr>
          <p:cNvPr id="5" name="Text 2"/>
          <p:cNvSpPr/>
          <p:nvPr/>
        </p:nvSpPr>
        <p:spPr>
          <a:xfrm>
            <a:off x="571500" y="734020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Multi-Week Strategic Planning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262658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batch processing for long-term production visibility.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1428750" y="2041327"/>
            <a:ext cx="571500" cy="571500"/>
          </a:xfrm>
          <a:prstGeom prst="ellipse">
            <a:avLst/>
          </a:prstGeom>
          <a:solidFill>
            <a:srgbClr val="1E293B"/>
          </a:solidFill>
          <a:ln w="18288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28750" y="2041327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W14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71500" y="2784277"/>
            <a:ext cx="22860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14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571500" y="3059311"/>
            <a:ext cx="2286000" cy="342900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Units Scheduled</a:t>
            </a:r>
            <a:pPr algn="ctr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Production Phase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4286250" y="2041327"/>
            <a:ext cx="571500" cy="571500"/>
          </a:xfrm>
          <a:prstGeom prst="ellipse">
            <a:avLst/>
          </a:prstGeom>
          <a:solidFill>
            <a:srgbClr val="0EA5E9">
              <a:alpha val="10000"/>
            </a:srgbClr>
          </a:solidFill>
          <a:ln w="18288">
            <a:solidFill>
              <a:srgbClr val="0EA5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86250" y="2041327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W15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3429000" y="2784277"/>
            <a:ext cx="22860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15</a:t>
            </a:r>
            <a:endParaRPr lang="en-US" sz="1090" dirty="0"/>
          </a:p>
        </p:txBody>
      </p:sp>
      <p:sp>
        <p:nvSpPr>
          <p:cNvPr id="14" name="Text 11"/>
          <p:cNvSpPr/>
          <p:nvPr/>
        </p:nvSpPr>
        <p:spPr>
          <a:xfrm>
            <a:off x="3429000" y="3059311"/>
            <a:ext cx="2286000" cy="342900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Units Scheduled</a:t>
            </a:r>
            <a:pPr algn="ctr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DC Refuse Stock Focus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7143750" y="2041327"/>
            <a:ext cx="571500" cy="571500"/>
          </a:xfrm>
          <a:prstGeom prst="ellipse">
            <a:avLst/>
          </a:prstGeom>
          <a:solidFill>
            <a:srgbClr val="1E293B"/>
          </a:solidFill>
          <a:ln w="18288">
            <a:solidFill>
              <a:srgbClr val="33415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43750" y="2041327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W16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6286500" y="2784277"/>
            <a:ext cx="22860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16</a:t>
            </a:r>
            <a:endParaRPr lang="en-US" sz="1090" dirty="0"/>
          </a:p>
        </p:txBody>
      </p:sp>
      <p:sp>
        <p:nvSpPr>
          <p:cNvPr id="18" name="Text 15"/>
          <p:cNvSpPr/>
          <p:nvPr/>
        </p:nvSpPr>
        <p:spPr>
          <a:xfrm>
            <a:off x="6286500" y="3059311"/>
            <a:ext cx="2286000" cy="342900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 Units Scheduled</a:t>
            </a:r>
            <a:pPr algn="ctr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Model Diversity</a:t>
            </a:r>
            <a:endParaRPr lang="en-US" sz="78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145161"/>
            <a:ext cx="171450" cy="17145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85825" y="4116586"/>
            <a:ext cx="21621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Grouping</a:t>
            </a:r>
            <a:endParaRPr lang="en-US" sz="885" dirty="0"/>
          </a:p>
        </p:txBody>
      </p:sp>
      <p:sp>
        <p:nvSpPr>
          <p:cNvPr id="21" name="Text 17"/>
          <p:cNvSpPr/>
          <p:nvPr/>
        </p:nvSpPr>
        <p:spPr>
          <a:xfrm>
            <a:off x="885825" y="4329113"/>
            <a:ext cx="216215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 are instantly categorized by Exit Factory Year &amp; Week for batch processing.</a:t>
            </a:r>
            <a:endParaRPr lang="en-US" sz="727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31" y="4145161"/>
            <a:ext cx="171450" cy="17145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648056" y="4116586"/>
            <a:ext cx="216218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Switching</a:t>
            </a:r>
            <a:endParaRPr lang="en-US" sz="885" dirty="0"/>
          </a:p>
        </p:txBody>
      </p:sp>
      <p:sp>
        <p:nvSpPr>
          <p:cNvPr id="24" name="Text 19"/>
          <p:cNvSpPr/>
          <p:nvPr/>
        </p:nvSpPr>
        <p:spPr>
          <a:xfrm>
            <a:off x="3648056" y="4329113"/>
            <a:ext cx="216218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different production weeks with a single click in the dashboard.</a:t>
            </a:r>
            <a:endParaRPr lang="en-US" sz="727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1" y="4145161"/>
            <a:ext cx="171450" cy="17145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410316" y="4116586"/>
            <a:ext cx="21621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Consistency</a:t>
            </a:r>
            <a:endParaRPr lang="en-US" sz="885" dirty="0"/>
          </a:p>
        </p:txBody>
      </p:sp>
      <p:sp>
        <p:nvSpPr>
          <p:cNvPr id="27" name="Text 21"/>
          <p:cNvSpPr/>
          <p:nvPr/>
        </p:nvSpPr>
        <p:spPr>
          <a:xfrm>
            <a:off x="6410316" y="4329113"/>
            <a:ext cx="216215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 identical scheduling logic and constraints across all production cycles.</a:t>
            </a:r>
            <a:endParaRPr lang="en-US" sz="72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1201936" cy="205383"/>
          </a:xfrm>
          <a:prstGeom prst="rect">
            <a:avLst/>
          </a:prstGeom>
          <a:solidFill>
            <a:srgbClr val="0EA5E9">
              <a:alpha val="10000"/>
            </a:srgbClr>
          </a:solidFill>
          <a:ln w="9144">
            <a:solidFill>
              <a:srgbClr val="0EA5E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71500" y="428625"/>
            <a:ext cx="1201936" cy="205383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PROPOSITION</a:t>
            </a:r>
            <a:endParaRPr lang="en-US" sz="584" dirty="0"/>
          </a:p>
        </p:txBody>
      </p:sp>
      <p:sp>
        <p:nvSpPr>
          <p:cNvPr id="5" name="Text 2"/>
          <p:cNvSpPr/>
          <p:nvPr/>
        </p:nvSpPr>
        <p:spPr>
          <a:xfrm>
            <a:off x="571500" y="734020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Business Case for v3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262658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Speed, Transparency, and Cost-Efficiency in one platform.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71500" y="1898452"/>
            <a:ext cx="2476509" cy="307460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381" y="2184202"/>
            <a:ext cx="257175" cy="342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7250" y="2698552"/>
            <a:ext cx="189546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Unmatched Speed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857250" y="3020020"/>
            <a:ext cx="1895466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95% Faster</a:t>
            </a:r>
            <a:endParaRPr lang="en-US" sz="2016" dirty="0"/>
          </a:p>
        </p:txBody>
      </p:sp>
      <p:sp>
        <p:nvSpPr>
          <p:cNvPr id="11" name="Text 7"/>
          <p:cNvSpPr/>
          <p:nvPr/>
        </p:nvSpPr>
        <p:spPr>
          <a:xfrm>
            <a:off x="857250" y="3480792"/>
            <a:ext cx="1895466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answers to complex scheduling questions instantly via AI chat, eliminating hours of manual data analysis.</a:t>
            </a:r>
            <a:endParaRPr lang="en-US" sz="834" dirty="0"/>
          </a:p>
        </p:txBody>
      </p:sp>
      <p:sp>
        <p:nvSpPr>
          <p:cNvPr id="12" name="Shape 8"/>
          <p:cNvSpPr/>
          <p:nvPr/>
        </p:nvSpPr>
        <p:spPr>
          <a:xfrm>
            <a:off x="3324216" y="1898452"/>
            <a:ext cx="2481253" cy="3074603"/>
          </a:xfrm>
          <a:prstGeom prst="rect">
            <a:avLst/>
          </a:prstGeom>
          <a:solidFill>
            <a:srgbClr val="0EA5E9">
              <a:alpha val="5000"/>
            </a:srgbClr>
          </a:solidFill>
          <a:ln w="9144">
            <a:solidFill>
              <a:srgbClr val="0EA5E9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975" y="2184202"/>
            <a:ext cx="385763" cy="3429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14738" y="2698552"/>
            <a:ext cx="19002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Transparency</a:t>
            </a:r>
            <a:endParaRPr lang="en-US" sz="1193" dirty="0"/>
          </a:p>
        </p:txBody>
      </p:sp>
      <p:sp>
        <p:nvSpPr>
          <p:cNvPr id="15" name="Text 10"/>
          <p:cNvSpPr/>
          <p:nvPr/>
        </p:nvSpPr>
        <p:spPr>
          <a:xfrm>
            <a:off x="3614738" y="3020020"/>
            <a:ext cx="1900238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016" dirty="0"/>
          </a:p>
        </p:txBody>
      </p:sp>
      <p:sp>
        <p:nvSpPr>
          <p:cNvPr id="16" name="Text 11"/>
          <p:cNvSpPr/>
          <p:nvPr/>
        </p:nvSpPr>
        <p:spPr>
          <a:xfrm>
            <a:off x="3614738" y="3480792"/>
            <a:ext cx="1900238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Explainable</a:t>
            </a:r>
            <a:endParaRPr lang="en-US" sz="2016" dirty="0"/>
          </a:p>
        </p:txBody>
      </p:sp>
      <p:sp>
        <p:nvSpPr>
          <p:cNvPr id="17" name="Text 12"/>
          <p:cNvSpPr/>
          <p:nvPr/>
        </p:nvSpPr>
        <p:spPr>
          <a:xfrm>
            <a:off x="3614738" y="3941564"/>
            <a:ext cx="1900238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solver decision is explainable by the AI Assistant, building trust in automated optimization results.</a:t>
            </a:r>
            <a:endParaRPr lang="en-US" sz="834" dirty="0"/>
          </a:p>
        </p:txBody>
      </p:sp>
      <p:sp>
        <p:nvSpPr>
          <p:cNvPr id="18" name="Shape 13"/>
          <p:cNvSpPr/>
          <p:nvPr/>
        </p:nvSpPr>
        <p:spPr>
          <a:xfrm>
            <a:off x="6086475" y="1898452"/>
            <a:ext cx="2486025" cy="3060316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809" y="2184202"/>
            <a:ext cx="342900" cy="3429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81769" y="2698552"/>
            <a:ext cx="190500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 ROI</a:t>
            </a:r>
            <a:endParaRPr lang="en-US" sz="1193" dirty="0"/>
          </a:p>
        </p:txBody>
      </p:sp>
      <p:sp>
        <p:nvSpPr>
          <p:cNvPr id="21" name="Text 15"/>
          <p:cNvSpPr/>
          <p:nvPr/>
        </p:nvSpPr>
        <p:spPr>
          <a:xfrm>
            <a:off x="6381769" y="3020020"/>
            <a:ext cx="1905009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Budget-Safe</a:t>
            </a:r>
            <a:endParaRPr lang="en-US" sz="2016" dirty="0"/>
          </a:p>
        </p:txBody>
      </p:sp>
      <p:sp>
        <p:nvSpPr>
          <p:cNvPr id="22" name="Text 16"/>
          <p:cNvSpPr/>
          <p:nvPr/>
        </p:nvSpPr>
        <p:spPr>
          <a:xfrm>
            <a:off x="6381769" y="3480792"/>
            <a:ext cx="1905009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AI costs with granular token budgeting while maximizing operational efficiency and labor utilization.</a:t>
            </a:r>
            <a:endParaRPr lang="en-US" sz="834" dirty="0"/>
          </a:p>
        </p:txBody>
      </p:sp>
      <p:sp>
        <p:nvSpPr>
          <p:cNvPr id="23" name="Text 17"/>
          <p:cNvSpPr/>
          <p:nvPr/>
        </p:nvSpPr>
        <p:spPr>
          <a:xfrm>
            <a:off x="0" y="4559498"/>
            <a:ext cx="9144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Transforming production scheduling from a technical task into a strategic conversation.</a:t>
            </a:r>
            <a:endParaRPr lang="en-US" sz="94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1210866" cy="20538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71500" y="571500"/>
            <a:ext cx="1210866" cy="205383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 READY</a:t>
            </a:r>
            <a:endParaRPr lang="en-US" sz="584" dirty="0"/>
          </a:p>
        </p:txBody>
      </p:sp>
      <p:sp>
        <p:nvSpPr>
          <p:cNvPr id="5" name="Text 2"/>
          <p:cNvSpPr/>
          <p:nvPr/>
        </p:nvSpPr>
        <p:spPr>
          <a:xfrm>
            <a:off x="571500" y="934045"/>
            <a:ext cx="462915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 &amp;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2099872"/>
            <a:ext cx="342900" cy="3429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2099872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1085850" y="2099872"/>
            <a:ext cx="41148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OpenAI Setup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1085850" y="2364191"/>
            <a:ext cx="41148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your corporate API Key, Endpoint, and Deployment Name into the secure settings panel.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571500" y="3092853"/>
            <a:ext cx="342900" cy="3429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8"/>
          <p:cNvSpPr/>
          <p:nvPr/>
        </p:nvSpPr>
        <p:spPr>
          <a:xfrm>
            <a:off x="571500" y="3092853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1085850" y="3092853"/>
            <a:ext cx="41148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Budgeting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1085850" y="3357172"/>
            <a:ext cx="41148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daily consumption limits and per-reply caps to ensure predictable operational costs.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571500" y="4085834"/>
            <a:ext cx="342900" cy="3429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" y="4085834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1085850" y="4085834"/>
            <a:ext cx="41148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Deployment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1085850" y="4350153"/>
            <a:ext cx="41148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Begin conversational optimization with real-time data sync and executive-level insights.</a:t>
            </a:r>
            <a:endParaRPr lang="en-US" sz="942" dirty="0"/>
          </a:p>
        </p:txBody>
      </p:sp>
      <p:sp>
        <p:nvSpPr>
          <p:cNvPr id="18" name="Shape 15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0EA5E9">
              <a:alpha val="2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5772150" y="1827014"/>
            <a:ext cx="2800350" cy="206097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7900" y="2119908"/>
            <a:ext cx="222885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Questions?</a:t>
            </a:r>
            <a:endParaRPr lang="en-US" sz="1602" dirty="0"/>
          </a:p>
        </p:txBody>
      </p:sp>
      <p:sp>
        <p:nvSpPr>
          <p:cNvPr id="21" name="Text 18"/>
          <p:cNvSpPr/>
          <p:nvPr/>
        </p:nvSpPr>
        <p:spPr>
          <a:xfrm>
            <a:off x="6057900" y="2511028"/>
            <a:ext cx="2228850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Let's discuss how AI-powered scheduling can transform your operations.</a:t>
            </a:r>
            <a:endParaRPr lang="en-US" sz="942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130" y="3217366"/>
            <a:ext cx="114300" cy="1143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381155" y="3205758"/>
            <a:ext cx="178236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ops-optimization@company.com</a:t>
            </a:r>
            <a:endParaRPr lang="en-US" sz="834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170" y="3469184"/>
            <a:ext cx="114300" cy="1143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706195" y="3457575"/>
            <a:ext cx="113228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internal.scheduler.v3</a:t>
            </a:r>
            <a:endParaRPr lang="en-US" sz="83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2026-03-05T16:21:53Z</dcterms:created>
  <dcterms:modified xsi:type="dcterms:W3CDTF">2026-03-05T16:21:53Z</dcterms:modified>
</cp:coreProperties>
</file>